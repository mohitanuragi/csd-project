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7" r:id="rId7"/>
    <p:sldId id="263" r:id="rId8"/>
    <p:sldId id="264" r:id="rId9"/>
    <p:sldId id="265" r:id="rId10"/>
    <p:sldId id="261" r:id="rId11"/>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BEA3D72-4A7E-C485-8D7C-18657173AF0E}">
          <p14:sldIdLst>
            <p14:sldId id="256"/>
            <p14:sldId id="257"/>
          </p14:sldIdLst>
        </p14:section>
        <p14:section name="Literature" id="{5E62331F-6465-14DC-D6FC-488AFA0BF65B}">
          <p14:sldIdLst>
            <p14:sldId id="258"/>
          </p14:sldIdLst>
        </p14:section>
        <p14:section name="Design and Implementation" id="{25B324DA-F775-83CF-CDDC-DBFF3DCB35CD}">
          <p14:sldIdLst>
            <p14:sldId id="259"/>
            <p14:sldId id="260"/>
          </p14:sldIdLst>
        </p14:section>
        <p14:section name="Results and Discussion" id="{04ADA38B-0DB1-A8F4-53A4-4C8033AE1EFF}">
          <p14:sldIdLst>
            <p14:sldId id="267"/>
            <p14:sldId id="263"/>
          </p14:sldIdLst>
        </p14:section>
        <p14:section name="Conclusion" id="{9F43CE80-011C-34E0-AB2C-04477B03C431}">
          <p14:sldIdLst>
            <p14:sldId id="264"/>
            <p14:sldId id="265"/>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5" d="100"/>
          <a:sy n="55" d="100"/>
        </p:scale>
        <p:origin x="65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5039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Q-EVM as a forkless post-quantum security layer for Ethereum. The project does not change Ethereum consensus: it moves the expensive ML-DSA verification off-chain and keeps on-chain validation compact. Mention that this semester the gas-cost part of the design was implemented and measured.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the engineering problem, not blockchain basics. ML-DSA gives quantum resistance, but native EVM verification is too expensive. Q-EVM uses ERC-4337 and a zero-knowledge receipt to avoid a hard fork. State the objective for this semester clearly: implement the gas-cost path and measure it instead of projecting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references briefly: [1] gives the threat, [2] the standard, [3] timing benchmarks of post-quantum signatures on blockchains, [4] the mechanism we build on, [5] the survey view, [6] the hard-fork alternative, [7] the zkVM building block, [8] a reminder that post-quantum implementations are still maturing. Do not read every cell; use the limitation column to lead into the research gap. The gap has two parts: nobody had combined ERC-4337 with a ZK receipt for ML-DSA without a hard fork, and the costs reported so far were projections rather than measurements. If asked how Q-EVM compares: native ML-DSA is about 2.8M gas, a Falcon precompile about 50k but needs a hard fork, zk-ECDSA about 300k but is not post-quantum, and Q-EVM about 240k measured with no fork.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architecture slide. Ethereum still sees a normal ERC-4337 transaction path, but the smart wallet checks a proof that ML-DSA verification succeeded. Walk the flow left to right: the wallet signs, the bundler simulates and batches, the prover produces the receipt, and the wallet verifies it on-chain. The operation hash is a public input of the proof, which is what prevents replay.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new work since the paper. Earlier we had a design and projected figures. This semester we implemented the gas-cost part of the design (Section IV-A, Figure 1 of the paper), so the on-chain cost is measured by running it. Go through the six items in order: off-chain ML-DSA verification, the Groth16 receipt, on-chain verification on revm, the native baseline, batching, and the dashboard and CLI.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screenshots of our running dashboard. Left: without Q-EVM one ML-DSA check is about 2.8 million gas, with Q-EVM it is 240,384 gas, a 91.4% reduction. Right: our node against the paper's Table II, and the batching result. The Q-EVM figure is measured on a local EVM; the native baseline is an estimate built from the actual verification steps. With a batch of 8, one proof is shared and the cost falls to about 30,000 gas per operation. The 55.7 ms prove time is only for the small receipt proof. The 12.4 s proving latency for ML-DSA inside a zkVM is still the projection from the paper. Q-EVM does not beat ECDSA, which has a native precompile at about 3,000 gas.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sound honest. The most important limitation today is the first row: the ML-DSA check runs natively in the bundler and the Groth16 receipt records its result, so the proof does not yet cover the signature check itself. Q-EVM is also not suited to instant retail payments because single-proof latency is high. Its stronger use cases are batched settlement, exchanges, rollups and high-value wallets.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contribution: architecture plus quantified trade-offs, now supported by measurement. Say: Q-EVM shows that post-quantum Ethereum wallets do not necessarily need to wait for a hard fork. By combining ERC-4337 with an off-chain ML-DSA check and a Groth16 receipt, we reduce on-chain gas by 91.4 percent compared to native ML-DSA verification, and this figure is measured on an EVM. Remaining work: run ML-DSA inside a real zkVM, build a custom circuit, add recursive aggregation, and deploy on a testnet.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are listed in IEEE format and were checked against their sources. The in-slide citation numbers [1] to [8] in the literature review point here. Note that [3] reports timing benchmarks, not EVM gas; the 2.8M gas figure is our own estimate from the native gas meter.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that the project is implementation-oriented. Every UserOperation goes down two paths. On the Q-EVM path the bundler verifies the ML-DSA signature, produces a Groth16 proof and the verifier contract is executed on revm, which gives the measured gas. On the baseline path the same key and signature are walked through FIPS 204 verification and each step is priced with EVM opcode costs. Be clear in the viva that the ML-DSA check currently runs natively in the bundler; the proof records its result.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1431950"/>
            <a:ext cx="18288000" cy="68580"/>
          </a:xfrm>
          <a:prstGeom prst="rect">
            <a:avLst/>
          </a:prstGeom>
          <a:solidFill>
            <a:schemeClr val="accent1"/>
          </a:solidFill>
          <a:ln w="12700">
            <a:solidFill>
              <a:schemeClr val="accent1"/>
            </a:solidFill>
            <a:prstDash val="solid"/>
          </a:ln>
        </p:spPr>
      </p:sp>
      <p:sp>
        <p:nvSpPr>
          <p:cNvPr id="3" name="Shape 1"/>
          <p:cNvSpPr/>
          <p:nvPr/>
        </p:nvSpPr>
        <p:spPr>
          <a:xfrm>
            <a:off x="0" y="10199218"/>
            <a:ext cx="18288000" cy="87782"/>
          </a:xfrm>
          <a:prstGeom prst="rect">
            <a:avLst/>
          </a:prstGeom>
          <a:solidFill>
            <a:schemeClr val="accent1"/>
          </a:solidFill>
          <a:ln w="12700">
            <a:solidFill>
              <a:schemeClr val="accent1"/>
            </a:solidFill>
            <a:prstDash val="solid"/>
          </a:ln>
        </p:spPr>
      </p:sp>
      <p:pic>
        <p:nvPicPr>
          <p:cNvPr id="4" name="Image 0" descr="C:\Users\hp\AppData\Local\Temp\claude\d--CSD-Project-csd-Project\ea499ad6-a49e-4693-8b77-23fde2c1e233\scratchpad\build\logo.png"/>
          <p:cNvPicPr>
            <a:picLocks noChangeAspect="1"/>
          </p:cNvPicPr>
          <p:nvPr/>
        </p:nvPicPr>
        <p:blipFill>
          <a:blip r:embed="rId2"/>
          <a:stretch>
            <a:fillRect/>
          </a:stretch>
        </p:blipFill>
        <p:spPr>
          <a:xfrm>
            <a:off x="749808" y="150876"/>
            <a:ext cx="1139342" cy="1139342"/>
          </a:xfrm>
          <a:prstGeom prst="rect">
            <a:avLst/>
          </a:prstGeom>
        </p:spPr>
      </p:pic>
      <p:pic>
        <p:nvPicPr>
          <p:cNvPr id="5" name="Image 1" descr="C:\Users\hp\AppData\Local\Temp\claude\d--CSD-Project-csd-Project\ea499ad6-a49e-4693-8b77-23fde2c1e233\scratchpad\build\logo.png"/>
          <p:cNvPicPr>
            <a:picLocks noChangeAspect="1"/>
          </p:cNvPicPr>
          <p:nvPr/>
        </p:nvPicPr>
        <p:blipFill>
          <a:blip r:embed="rId2"/>
          <a:stretch>
            <a:fillRect/>
          </a:stretch>
        </p:blipFill>
        <p:spPr>
          <a:xfrm>
            <a:off x="16334842" y="150876"/>
            <a:ext cx="1139342" cy="1139342"/>
          </a:xfrm>
          <a:prstGeom prst="rect">
            <a:avLst/>
          </a:prstGeom>
        </p:spPr>
      </p:pic>
      <p:sp>
        <p:nvSpPr>
          <p:cNvPr id="6" name="Text 2"/>
          <p:cNvSpPr/>
          <p:nvPr/>
        </p:nvSpPr>
        <p:spPr>
          <a:xfrm>
            <a:off x="2011680" y="274320"/>
            <a:ext cx="14264640" cy="914400"/>
          </a:xfrm>
          <a:prstGeom prst="rect">
            <a:avLst/>
          </a:prstGeom>
          <a:noFill/>
          <a:ln/>
        </p:spPr>
        <p:txBody>
          <a:bodyPr wrap="square" lIns="0" tIns="0" rIns="0" bIns="0" rtlCol="0" anchor="ctr"/>
          <a:lstStyle/>
          <a:p>
            <a:pPr marL="0" indent="0" algn="ctr">
              <a:buNone/>
            </a:pPr>
            <a:r>
              <a:rPr lang="en-US" sz="3200" b="1" dirty="0">
                <a:solidFill>
                  <a:schemeClr val="tx2"/>
                </a:solidFill>
              </a:rPr>
              <a:t>INDIAN INSTITUTE OF INFORMATION TECHNOLOGY KOTA</a:t>
            </a:r>
            <a:endParaRPr lang="en-US" sz="3200" dirty="0"/>
          </a:p>
        </p:txBody>
      </p:sp>
      <p:sp>
        <p:nvSpPr>
          <p:cNvPr id="7" name="Text 3"/>
          <p:cNvSpPr>
            <a:spLocks noGrp="1"/>
          </p:cNvSpPr>
          <p:nvPr>
            <p:ph type="title" idx="105" hasCustomPrompt="1"/>
          </p:nvPr>
        </p:nvSpPr>
        <p:spPr>
          <a:xfrm>
            <a:off x="1371600" y="2834640"/>
            <a:ext cx="15544800" cy="1280160"/>
          </a:xfrm>
          <a:prstGeom prst="rect">
            <a:avLst/>
          </a:prstGeom>
          <a:noFill/>
          <a:ln/>
        </p:spPr>
        <p:txBody>
          <a:bodyPr wrap="square" rtlCol="0"/>
          <a:lstStyle>
            <a:lvl1pPr marL="0" indent="0" algn="ctr">
              <a:buNone/>
              <a:defRPr lang="en-US" sz="3600" b="1" dirty="0">
                <a:solidFill>
                  <a:schemeClr val="tx1"/>
                </a:solidFill>
              </a:defRPr>
            </a:lvl1pPr>
          </a:lstStyle>
          <a:p>
            <a:pPr marL="0" indent="0" algn="ctr">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1431950"/>
            <a:ext cx="18288000" cy="68580"/>
          </a:xfrm>
          <a:prstGeom prst="rect">
            <a:avLst/>
          </a:prstGeom>
          <a:solidFill>
            <a:schemeClr val="accent1"/>
          </a:solidFill>
          <a:ln w="12700">
            <a:solidFill>
              <a:schemeClr val="accent1"/>
            </a:solidFill>
            <a:prstDash val="solid"/>
          </a:ln>
        </p:spPr>
      </p:sp>
      <p:sp>
        <p:nvSpPr>
          <p:cNvPr id="3" name="Shape 1"/>
          <p:cNvSpPr/>
          <p:nvPr/>
        </p:nvSpPr>
        <p:spPr>
          <a:xfrm>
            <a:off x="0" y="10199218"/>
            <a:ext cx="18288000" cy="87782"/>
          </a:xfrm>
          <a:prstGeom prst="rect">
            <a:avLst/>
          </a:prstGeom>
          <a:solidFill>
            <a:schemeClr val="accent1"/>
          </a:solidFill>
          <a:ln w="12700">
            <a:solidFill>
              <a:schemeClr val="accent1"/>
            </a:solidFill>
            <a:prstDash val="solid"/>
          </a:ln>
        </p:spPr>
      </p:sp>
      <p:pic>
        <p:nvPicPr>
          <p:cNvPr id="4" name="Image 0" descr="C:\Users\hp\AppData\Local\Temp\claude\d--CSD-Project-csd-Project\ea499ad6-a49e-4693-8b77-23fde2c1e233\scratchpad\build\logo.png"/>
          <p:cNvPicPr>
            <a:picLocks noChangeAspect="1"/>
          </p:cNvPicPr>
          <p:nvPr/>
        </p:nvPicPr>
        <p:blipFill>
          <a:blip r:embed="rId2"/>
          <a:stretch>
            <a:fillRect/>
          </a:stretch>
        </p:blipFill>
        <p:spPr>
          <a:xfrm>
            <a:off x="16334842" y="150876"/>
            <a:ext cx="1139342" cy="1139342"/>
          </a:xfrm>
          <a:prstGeom prst="rect">
            <a:avLst/>
          </a:prstGeom>
        </p:spPr>
      </p:pic>
      <p:sp>
        <p:nvSpPr>
          <p:cNvPr id="5" name="Text 2"/>
          <p:cNvSpPr>
            <a:spLocks noGrp="1"/>
          </p:cNvSpPr>
          <p:nvPr>
            <p:ph type="title" idx="103" hasCustomPrompt="1"/>
          </p:nvPr>
        </p:nvSpPr>
        <p:spPr>
          <a:xfrm>
            <a:off x="1234440" y="274320"/>
            <a:ext cx="14630400" cy="91440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6367760" y="9601200"/>
            <a:ext cx="1097280" cy="411480"/>
          </a:xfrm>
          <a:prstGeom prst="rect">
            <a:avLst/>
          </a:prstGeom>
          <a:extLst>
            <a:ext uri="{C572A759-6A51-4108-AA02-DFA0A04FC94B}">
              <ma14:wrappingTextBoxFlag xmlns:ma14="http://schemas.microsoft.com/office/mac/drawingml/2011/main" xmlns="" val="0"/>
            </a:ext>
          </a:extLst>
        </p:spPr>
        <p:txBody>
          <a:bodyPr/>
          <a:lstStyle>
            <a:lvl1pPr>
              <a:defRPr sz="1800">
                <a:solidFill>
                  <a:schemeClr val="tx1"/>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6367760" y="9601200"/>
            <a:ext cx="1097280" cy="411480"/>
          </a:xfrm>
          <a:prstGeom prst="rect">
            <a:avLst/>
          </a:prstGeom>
          <a:extLst>
            <a:ext uri="{C572A759-6A51-4108-AA02-DFA0A04FC94B}">
              <ma14:wrappingTextBoxFlag xmlns:ma14="http://schemas.microsoft.com/office/mac/drawingml/2011/main" xmlns="" val="0"/>
            </a:ext>
          </a:extLst>
        </p:spPr>
        <p:txBody>
          <a:bodyPr/>
          <a:lstStyle>
            <a:lvl1pPr>
              <a:defRPr sz="1800">
                <a:solidFill>
                  <a:schemeClr val="tx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0" y="1783080"/>
            <a:ext cx="18288000" cy="457200"/>
          </a:xfrm>
          <a:prstGeom prst="rect">
            <a:avLst/>
          </a:prstGeom>
          <a:noFill/>
          <a:ln/>
        </p:spPr>
        <p:txBody>
          <a:bodyPr wrap="square" lIns="0" tIns="0" rIns="0" bIns="0" rtlCol="0" anchor="ctr"/>
          <a:lstStyle/>
          <a:p>
            <a:pPr marL="0" indent="0" algn="ctr">
              <a:buNone/>
            </a:pPr>
            <a:r>
              <a:rPr lang="en-US" sz="2400" dirty="0">
                <a:solidFill>
                  <a:schemeClr val="tx1"/>
                </a:solidFill>
              </a:rPr>
              <a:t>CSD-401 Project Presentation</a:t>
            </a:r>
            <a:endParaRPr lang="en-US" sz="2400" dirty="0"/>
          </a:p>
        </p:txBody>
      </p:sp>
      <p:sp>
        <p:nvSpPr>
          <p:cNvPr id="3" name="Text 1"/>
          <p:cNvSpPr txBox="1"/>
          <p:nvPr/>
        </p:nvSpPr>
        <p:spPr>
          <a:xfrm>
            <a:off x="0" y="2286000"/>
            <a:ext cx="18288000" cy="457200"/>
          </a:xfrm>
          <a:prstGeom prst="rect">
            <a:avLst/>
          </a:prstGeom>
          <a:noFill/>
          <a:ln/>
        </p:spPr>
        <p:txBody>
          <a:bodyPr wrap="square" lIns="0" tIns="0" rIns="0" bIns="0" rtlCol="0" anchor="ctr"/>
          <a:lstStyle/>
          <a:p>
            <a:pPr marL="0" indent="0" algn="ctr">
              <a:buNone/>
            </a:pPr>
            <a:r>
              <a:rPr lang="en-US" sz="2400" dirty="0">
                <a:solidFill>
                  <a:schemeClr val="tx1"/>
                </a:solidFill>
              </a:rPr>
              <a:t>on</a:t>
            </a:r>
            <a:endParaRPr lang="en-US" sz="2400" dirty="0"/>
          </a:p>
        </p:txBody>
      </p:sp>
      <p:sp>
        <p:nvSpPr>
          <p:cNvPr id="4" name="Text 3"/>
          <p:cNvSpPr>
            <a:spLocks noGrp="1"/>
          </p:cNvSpPr>
          <p:nvPr>
            <p:ph type="title" idx="105" hasCustomPrompt="1"/>
          </p:nvPr>
        </p:nvSpPr>
        <p:spPr>
          <a:xfrm>
            <a:off x="1371600" y="2834640"/>
            <a:ext cx="15544800" cy="1280160"/>
          </a:xfrm>
          <a:prstGeom prst="rect">
            <a:avLst/>
          </a:prstGeom>
          <a:noFill/>
          <a:ln/>
        </p:spPr>
        <p:txBody>
          <a:bodyPr wrap="square" lIns="0" tIns="0" rIns="0" bIns="0" rtlCol="0" anchor="ctr"/>
          <a:lstStyle/>
          <a:p>
            <a:pPr marL="0" indent="0" algn="ctr">
              <a:buNone/>
            </a:pPr>
            <a:r>
              <a:rPr lang="en-US" sz="3600" b="1" dirty="0">
                <a:solidFill>
                  <a:schemeClr val="tx1"/>
                </a:solidFill>
              </a:rPr>
              <a:t>Q-EVM: A QUANTUM-RESISTANT</a:t>
            </a:r>
            <a:endParaRPr lang="en-US" sz="3600" dirty="0"/>
          </a:p>
          <a:p>
            <a:pPr marL="0" indent="0" algn="ctr">
              <a:buNone/>
            </a:pPr>
            <a:r>
              <a:rPr lang="en-US" sz="3600" b="1" dirty="0">
                <a:solidFill>
                  <a:schemeClr val="tx1"/>
                </a:solidFill>
              </a:rPr>
              <a:t>ACCOUNT ABSTRACTION LAYER FOR ETHEREUM</a:t>
            </a:r>
            <a:endParaRPr lang="en-US" sz="3600" dirty="0"/>
          </a:p>
        </p:txBody>
      </p:sp>
      <p:sp>
        <p:nvSpPr>
          <p:cNvPr id="5" name="Text 3"/>
          <p:cNvSpPr txBox="1"/>
          <p:nvPr/>
        </p:nvSpPr>
        <p:spPr>
          <a:xfrm>
            <a:off x="0" y="4206240"/>
            <a:ext cx="18288000" cy="457200"/>
          </a:xfrm>
          <a:prstGeom prst="rect">
            <a:avLst/>
          </a:prstGeom>
          <a:noFill/>
          <a:ln/>
        </p:spPr>
        <p:txBody>
          <a:bodyPr wrap="square" lIns="0" tIns="0" rIns="0" bIns="0" rtlCol="0" anchor="ctr"/>
          <a:lstStyle/>
          <a:p>
            <a:pPr marL="0" indent="0" algn="ctr">
              <a:buNone/>
            </a:pPr>
            <a:r>
              <a:rPr lang="en-US" sz="2400" dirty="0">
                <a:solidFill>
                  <a:schemeClr val="tx1"/>
                </a:solidFill>
              </a:rPr>
              <a:t>Blockchain Security | Post-Quantum Cryptography | Zero Knowledge</a:t>
            </a:r>
            <a:endParaRPr lang="en-US" sz="2400" dirty="0"/>
          </a:p>
        </p:txBody>
      </p:sp>
      <p:sp>
        <p:nvSpPr>
          <p:cNvPr id="6" name="Text 4"/>
          <p:cNvSpPr txBox="1"/>
          <p:nvPr/>
        </p:nvSpPr>
        <p:spPr>
          <a:xfrm>
            <a:off x="0" y="4983480"/>
            <a:ext cx="18288000" cy="457200"/>
          </a:xfrm>
          <a:prstGeom prst="rect">
            <a:avLst/>
          </a:prstGeom>
          <a:noFill/>
          <a:ln/>
        </p:spPr>
        <p:txBody>
          <a:bodyPr wrap="square" lIns="0" tIns="0" rIns="0" bIns="0" rtlCol="0" anchor="ctr"/>
          <a:lstStyle/>
          <a:p>
            <a:pPr marL="0" indent="0" algn="ctr">
              <a:buNone/>
            </a:pPr>
            <a:r>
              <a:rPr lang="en-US" sz="2400" dirty="0">
                <a:solidFill>
                  <a:schemeClr val="tx1"/>
                </a:solidFill>
              </a:rPr>
              <a:t>By</a:t>
            </a:r>
            <a:endParaRPr lang="en-US" sz="2400" dirty="0"/>
          </a:p>
        </p:txBody>
      </p:sp>
      <p:sp>
        <p:nvSpPr>
          <p:cNvPr id="7" name="Text 5"/>
          <p:cNvSpPr txBox="1"/>
          <p:nvPr/>
        </p:nvSpPr>
        <p:spPr>
          <a:xfrm>
            <a:off x="0" y="5440680"/>
            <a:ext cx="18288000" cy="914400"/>
          </a:xfrm>
          <a:prstGeom prst="rect">
            <a:avLst/>
          </a:prstGeom>
          <a:noFill/>
          <a:ln/>
        </p:spPr>
        <p:txBody>
          <a:bodyPr wrap="square" lIns="0" tIns="0" rIns="0" bIns="0" rtlCol="0" anchor="ctr"/>
          <a:lstStyle/>
          <a:p>
            <a:pPr marL="0" indent="0" algn="ctr">
              <a:buNone/>
            </a:pPr>
            <a:r>
              <a:rPr lang="en-US" sz="2400" b="1" dirty="0">
                <a:solidFill>
                  <a:schemeClr val="tx1"/>
                </a:solidFill>
              </a:rPr>
              <a:t>Mohit Anuragi (2023KUCP1155)</a:t>
            </a:r>
            <a:endParaRPr lang="en-US" sz="2400" dirty="0"/>
          </a:p>
          <a:p>
            <a:pPr marL="0" indent="0" algn="ctr">
              <a:buNone/>
            </a:pPr>
            <a:r>
              <a:rPr lang="en-US" sz="2400" b="1" dirty="0">
                <a:solidFill>
                  <a:schemeClr val="tx1"/>
                </a:solidFill>
              </a:rPr>
              <a:t>Srikanth Reddy (2023KUCP1151)</a:t>
            </a:r>
            <a:endParaRPr lang="en-US" sz="2400" dirty="0"/>
          </a:p>
        </p:txBody>
      </p:sp>
      <p:sp>
        <p:nvSpPr>
          <p:cNvPr id="8" name="Text 6"/>
          <p:cNvSpPr txBox="1"/>
          <p:nvPr/>
        </p:nvSpPr>
        <p:spPr>
          <a:xfrm>
            <a:off x="0" y="6903720"/>
            <a:ext cx="18288000" cy="457200"/>
          </a:xfrm>
          <a:prstGeom prst="rect">
            <a:avLst/>
          </a:prstGeom>
          <a:noFill/>
          <a:ln/>
        </p:spPr>
        <p:txBody>
          <a:bodyPr wrap="square" lIns="0" tIns="0" rIns="0" bIns="0" rtlCol="0" anchor="ctr"/>
          <a:lstStyle/>
          <a:p>
            <a:pPr marL="0" indent="0" algn="ctr">
              <a:buNone/>
            </a:pPr>
            <a:r>
              <a:rPr lang="en-US" sz="2400" dirty="0">
                <a:solidFill>
                  <a:schemeClr val="tx1"/>
                </a:solidFill>
              </a:rPr>
              <a:t>Under the supervision of</a:t>
            </a:r>
            <a:endParaRPr lang="en-US" sz="2400" dirty="0"/>
          </a:p>
        </p:txBody>
      </p:sp>
      <p:sp>
        <p:nvSpPr>
          <p:cNvPr id="9" name="Text 7"/>
          <p:cNvSpPr txBox="1"/>
          <p:nvPr/>
        </p:nvSpPr>
        <p:spPr>
          <a:xfrm>
            <a:off x="0" y="7360920"/>
            <a:ext cx="18288000" cy="457200"/>
          </a:xfrm>
          <a:prstGeom prst="rect">
            <a:avLst/>
          </a:prstGeom>
          <a:noFill/>
          <a:ln/>
        </p:spPr>
        <p:txBody>
          <a:bodyPr wrap="square" lIns="0" tIns="0" rIns="0" bIns="0" rtlCol="0" anchor="ctr"/>
          <a:lstStyle/>
          <a:p>
            <a:pPr marL="0" indent="0" algn="ctr">
              <a:buNone/>
            </a:pPr>
            <a:r>
              <a:rPr lang="en-US" sz="2400" b="1" dirty="0">
                <a:solidFill>
                  <a:schemeClr val="tx1"/>
                </a:solidFill>
              </a:rPr>
              <a:t>Dr. Isha Pathak Tripathi</a:t>
            </a:r>
            <a:endParaRPr lang="en-US" sz="2400" dirty="0"/>
          </a:p>
        </p:txBody>
      </p:sp>
      <p:sp>
        <p:nvSpPr>
          <p:cNvPr id="10" name="Text 8"/>
          <p:cNvSpPr txBox="1"/>
          <p:nvPr/>
        </p:nvSpPr>
        <p:spPr>
          <a:xfrm>
            <a:off x="3200400" y="8321040"/>
            <a:ext cx="11887200" cy="914400"/>
          </a:xfrm>
          <a:prstGeom prst="rect">
            <a:avLst/>
          </a:prstGeom>
          <a:noFill/>
          <a:ln/>
        </p:spPr>
        <p:txBody>
          <a:bodyPr wrap="square" lIns="0" tIns="0" rIns="0" bIns="0" rtlCol="0" anchor="ctr"/>
          <a:lstStyle/>
          <a:p>
            <a:pPr marL="0" indent="0" algn="ctr">
              <a:buNone/>
            </a:pPr>
            <a:r>
              <a:rPr lang="en-US" sz="2400" b="1" dirty="0">
                <a:solidFill>
                  <a:schemeClr val="tx1"/>
                </a:solidFill>
              </a:rPr>
              <a:t>Department of Computer Science and Engineering</a:t>
            </a:r>
            <a:endParaRPr lang="en-US" sz="2400" dirty="0"/>
          </a:p>
          <a:p>
            <a:pPr marL="0" indent="0" algn="ctr">
              <a:buNone/>
            </a:pPr>
            <a:r>
              <a:rPr lang="en-US" sz="2400" b="1" dirty="0">
                <a:solidFill>
                  <a:schemeClr val="tx1"/>
                </a:solidFill>
              </a:rPr>
              <a:t>Indian Institute of Information Technology Kota</a:t>
            </a:r>
            <a:endParaRPr lang="en-US" sz="2400" dirty="0"/>
          </a:p>
        </p:txBody>
      </p:sp>
      <p:sp>
        <p:nvSpPr>
          <p:cNvPr id="11" name="Text 9"/>
          <p:cNvSpPr txBox="1"/>
          <p:nvPr/>
        </p:nvSpPr>
        <p:spPr>
          <a:xfrm>
            <a:off x="411480" y="9464040"/>
            <a:ext cx="2743200" cy="457200"/>
          </a:xfrm>
          <a:prstGeom prst="rect">
            <a:avLst/>
          </a:prstGeom>
          <a:noFill/>
          <a:ln/>
        </p:spPr>
        <p:txBody>
          <a:bodyPr wrap="square" lIns="0" tIns="0" rIns="0" bIns="0" rtlCol="0" anchor="ctr"/>
          <a:lstStyle/>
          <a:p>
            <a:pPr marL="0" indent="0">
              <a:buNone/>
            </a:pPr>
            <a:r>
              <a:rPr lang="en-US" sz="2400" b="1" dirty="0">
                <a:solidFill>
                  <a:schemeClr val="tx1"/>
                </a:solidFill>
              </a:rPr>
              <a:t>GROUP #52</a:t>
            </a:r>
            <a:endParaRPr lang="en-US" sz="2400" dirty="0"/>
          </a:p>
        </p:txBody>
      </p:sp>
      <p:sp>
        <p:nvSpPr>
          <p:cNvPr id="12" name="Text 10"/>
          <p:cNvSpPr txBox="1"/>
          <p:nvPr/>
        </p:nvSpPr>
        <p:spPr>
          <a:xfrm>
            <a:off x="15133320" y="9464040"/>
            <a:ext cx="2743200" cy="457200"/>
          </a:xfrm>
          <a:prstGeom prst="rect">
            <a:avLst/>
          </a:prstGeom>
          <a:noFill/>
          <a:ln/>
        </p:spPr>
        <p:txBody>
          <a:bodyPr wrap="square" lIns="0" tIns="0" rIns="0" bIns="0" rtlCol="0" anchor="ctr"/>
          <a:lstStyle/>
          <a:p>
            <a:pPr marL="0" indent="0" algn="r">
              <a:buNone/>
            </a:pPr>
            <a:r>
              <a:rPr lang="en-US" sz="2400" b="1" dirty="0">
                <a:solidFill>
                  <a:schemeClr val="tx1"/>
                </a:solidFill>
              </a:rPr>
              <a:t>14 OCT 2026</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1234440" y="274320"/>
            <a:ext cx="14630400" cy="914400"/>
          </a:xfrm>
          <a:prstGeom prst="rect">
            <a:avLst/>
          </a:prstGeom>
          <a:noFill/>
          <a:ln/>
        </p:spPr>
        <p:txBody>
          <a:bodyPr wrap="square" lIns="0" tIns="0" rIns="0" bIns="0" rtlCol="0" anchor="ctr"/>
          <a:lstStyle/>
          <a:p>
            <a:pPr marL="0" indent="0" algn="l">
              <a:buNone/>
            </a:pPr>
            <a:r>
              <a:rPr lang="en-US" sz="3600" b="1" dirty="0">
                <a:solidFill>
                  <a:schemeClr val="tx2"/>
                </a:solidFill>
              </a:rPr>
              <a:t>PROBLEM STATEMENT &amp; OBJECTIVES</a:t>
            </a:r>
            <a:endParaRPr lang="en-US" sz="3600" dirty="0"/>
          </a:p>
        </p:txBody>
      </p:sp>
      <p:sp>
        <p:nvSpPr>
          <p:cNvPr id="4" name="Text 1"/>
          <p:cNvSpPr txBox="1"/>
          <p:nvPr/>
        </p:nvSpPr>
        <p:spPr>
          <a:xfrm>
            <a:off x="1234440" y="2240280"/>
            <a:ext cx="8686800" cy="6949440"/>
          </a:xfrm>
          <a:prstGeom prst="rect">
            <a:avLst/>
          </a:prstGeom>
          <a:noFill/>
          <a:ln/>
        </p:spPr>
        <p:txBody>
          <a:bodyPr wrap="square" lIns="0" tIns="0" rIns="0" bIns="0" rtlCol="0" anchor="t"/>
          <a:lstStyle/>
          <a:p>
            <a:pPr marL="0" indent="0">
              <a:spcAft>
                <a:spcPts val="800"/>
              </a:spcAft>
              <a:buNone/>
            </a:pPr>
            <a:r>
              <a:rPr lang="en-US" sz="2400" b="1" dirty="0">
                <a:solidFill>
                  <a:schemeClr val="tx2"/>
                </a:solidFill>
              </a:rPr>
              <a:t>Problem</a:t>
            </a:r>
            <a:endParaRPr lang="en-US" sz="2400" dirty="0"/>
          </a:p>
          <a:p>
            <a:pPr marL="342900" indent="-342900">
              <a:spcAft>
                <a:spcPts val="800"/>
              </a:spcAft>
              <a:buSzPct val="100000"/>
              <a:buChar char="•"/>
            </a:pPr>
            <a:r>
              <a:rPr lang="en-US" sz="2400" dirty="0">
                <a:solidFill>
                  <a:schemeClr val="tx1"/>
                </a:solidFill>
              </a:rPr>
              <a:t>Ethereum accounts rely on ECDSA, which Shor's algorithm breaks on a large quantum computer [1].</a:t>
            </a:r>
            <a:endParaRPr lang="en-US" sz="2400" dirty="0"/>
          </a:p>
          <a:p>
            <a:pPr marL="342900" indent="-342900">
              <a:spcAft>
                <a:spcPts val="800"/>
              </a:spcAft>
              <a:buSzPct val="100000"/>
              <a:buChar char="•"/>
            </a:pPr>
            <a:r>
              <a:rPr lang="en-US" sz="2400" dirty="0">
                <a:solidFill>
                  <a:schemeClr val="tx1"/>
                </a:solidFill>
              </a:rPr>
              <a:t>ML-DSA (FIPS 204) [2] is quantum-safe, but verifying it directly in the EVM costs about 2.8M gas per signature (our estimate).</a:t>
            </a:r>
            <a:endParaRPr lang="en-US" sz="2400" dirty="0"/>
          </a:p>
          <a:p>
            <a:pPr marL="342900" indent="-342900">
              <a:spcAft>
                <a:spcPts val="800"/>
              </a:spcAft>
              <a:buSzPct val="100000"/>
              <a:buChar char="•"/>
            </a:pPr>
            <a:r>
              <a:rPr lang="en-US" sz="2400" dirty="0">
                <a:solidFill>
                  <a:schemeClr val="tx1"/>
                </a:solidFill>
              </a:rPr>
              <a:t>A precompile such as EIP-8052 lowers the cost but requires a hard fork [6].</a:t>
            </a:r>
            <a:endParaRPr lang="en-US" sz="2400" dirty="0"/>
          </a:p>
          <a:p>
            <a:pPr marL="0" indent="0">
              <a:spcBef>
                <a:spcPts val="1400"/>
              </a:spcBef>
              <a:spcAft>
                <a:spcPts val="800"/>
              </a:spcAft>
              <a:buNone/>
            </a:pPr>
            <a:r>
              <a:rPr lang="en-US" sz="2400" b="1" dirty="0">
                <a:solidFill>
                  <a:schemeClr val="tx2"/>
                </a:solidFill>
              </a:rPr>
              <a:t>Objectives</a:t>
            </a:r>
            <a:endParaRPr lang="en-US" sz="2400" dirty="0"/>
          </a:p>
          <a:p>
            <a:pPr marL="342900" indent="-342900">
              <a:spcAft>
                <a:spcPts val="800"/>
              </a:spcAft>
              <a:buSzPct val="100000"/>
              <a:buChar char="•"/>
            </a:pPr>
            <a:r>
              <a:rPr lang="en-US" sz="2400" dirty="0">
                <a:solidFill>
                  <a:schemeClr val="tx1"/>
                </a:solidFill>
              </a:rPr>
              <a:t>Design a forkless post-quantum wallet layer using ERC-4337 and a zero-knowledge receipt.</a:t>
            </a:r>
            <a:endParaRPr lang="en-US" sz="2400" dirty="0"/>
          </a:p>
          <a:p>
            <a:pPr marL="342900" indent="-342900">
              <a:spcAft>
                <a:spcPts val="800"/>
              </a:spcAft>
              <a:buSzPct val="100000"/>
              <a:buChar char="•"/>
            </a:pPr>
            <a:r>
              <a:rPr lang="en-US" sz="2400" dirty="0">
                <a:solidFill>
                  <a:schemeClr val="tx1"/>
                </a:solidFill>
              </a:rPr>
              <a:t>Implement the gas-cost path and measure the on-chain cost instead of projecting it.</a:t>
            </a:r>
            <a:endParaRPr lang="en-US" sz="2400" dirty="0"/>
          </a:p>
          <a:p>
            <a:pPr marL="342900" indent="-342900">
              <a:spcAft>
                <a:spcPts val="800"/>
              </a:spcAft>
              <a:buSzPct val="100000"/>
              <a:buChar char="•"/>
            </a:pPr>
            <a:r>
              <a:rPr lang="en-US" sz="2400" dirty="0">
                <a:solidFill>
                  <a:schemeClr val="tx1"/>
                </a:solidFill>
              </a:rPr>
              <a:t>Quantify the gas and latency trade-off, including batching.</a:t>
            </a:r>
            <a:endParaRPr lang="en-US" sz="2400" dirty="0"/>
          </a:p>
        </p:txBody>
      </p:sp>
      <p:sp>
        <p:nvSpPr>
          <p:cNvPr id="5" name="Text 2"/>
          <p:cNvSpPr txBox="1"/>
          <p:nvPr/>
        </p:nvSpPr>
        <p:spPr>
          <a:xfrm>
            <a:off x="10744200" y="2240280"/>
            <a:ext cx="6309360" cy="457200"/>
          </a:xfrm>
          <a:prstGeom prst="rect">
            <a:avLst/>
          </a:prstGeom>
          <a:noFill/>
          <a:ln/>
        </p:spPr>
        <p:txBody>
          <a:bodyPr wrap="square" lIns="0" tIns="0" rIns="0" bIns="0" rtlCol="0" anchor="t"/>
          <a:lstStyle/>
          <a:p>
            <a:pPr marL="0" indent="0" algn="ctr">
              <a:buNone/>
            </a:pPr>
            <a:r>
              <a:rPr lang="en-US" sz="2400" b="1" dirty="0">
                <a:solidFill>
                  <a:schemeClr val="tx2"/>
                </a:solidFill>
              </a:rPr>
              <a:t>Design target</a:t>
            </a:r>
            <a:endParaRPr lang="en-US" sz="2400" dirty="0"/>
          </a:p>
        </p:txBody>
      </p:sp>
      <p:sp>
        <p:nvSpPr>
          <p:cNvPr id="6" name="Text 3"/>
          <p:cNvSpPr/>
          <p:nvPr/>
        </p:nvSpPr>
        <p:spPr>
          <a:xfrm>
            <a:off x="10744200" y="3063240"/>
            <a:ext cx="3566160" cy="1188720"/>
          </a:xfrm>
          <a:prstGeom prst="rect">
            <a:avLst/>
          </a:prstGeom>
          <a:solidFill>
            <a:schemeClr val="bg1"/>
          </a:solidFill>
          <a:ln w="15875">
            <a:solidFill>
              <a:schemeClr val="tx1"/>
            </a:solidFill>
            <a:prstDash val="solid"/>
          </a:ln>
        </p:spPr>
        <p:txBody>
          <a:bodyPr wrap="square" lIns="101600" tIns="101600" rIns="101600" bIns="101600" rtlCol="0" anchor="ctr"/>
          <a:lstStyle/>
          <a:p>
            <a:pPr marL="0" indent="0" algn="ctr">
              <a:buNone/>
            </a:pPr>
            <a:r>
              <a:rPr lang="en-US" sz="2000" b="1" dirty="0">
                <a:solidFill>
                  <a:schemeClr val="tx1"/>
                </a:solidFill>
              </a:rPr>
              <a:t>Quantum-safe signatures</a:t>
            </a:r>
            <a:endParaRPr lang="en-US" sz="2000" dirty="0"/>
          </a:p>
          <a:p>
            <a:pPr marL="0" indent="0" algn="ctr">
              <a:buNone/>
            </a:pPr>
            <a:r>
              <a:rPr lang="en-US" sz="1800" dirty="0">
                <a:solidFill>
                  <a:schemeClr val="tx1"/>
                </a:solidFill>
              </a:rPr>
              <a:t>(ML-DSA, FIPS 204)</a:t>
            </a:r>
            <a:endParaRPr lang="en-US" sz="2000" dirty="0"/>
          </a:p>
        </p:txBody>
      </p:sp>
      <p:sp>
        <p:nvSpPr>
          <p:cNvPr id="7" name="Shape 4"/>
          <p:cNvSpPr/>
          <p:nvPr/>
        </p:nvSpPr>
        <p:spPr>
          <a:xfrm>
            <a:off x="14310360" y="3657600"/>
            <a:ext cx="868680" cy="0"/>
          </a:xfrm>
          <a:prstGeom prst="line">
            <a:avLst/>
          </a:prstGeom>
          <a:noFill/>
          <a:ln w="22225">
            <a:solidFill>
              <a:schemeClr val="tx1"/>
            </a:solidFill>
            <a:prstDash val="solid"/>
            <a:tailEnd type="triangle" w="lg" len="lg"/>
          </a:ln>
        </p:spPr>
      </p:sp>
      <p:sp>
        <p:nvSpPr>
          <p:cNvPr id="8" name="Text 5"/>
          <p:cNvSpPr/>
          <p:nvPr/>
        </p:nvSpPr>
        <p:spPr>
          <a:xfrm>
            <a:off x="10744200" y="4800600"/>
            <a:ext cx="3566160" cy="1188720"/>
          </a:xfrm>
          <a:prstGeom prst="rect">
            <a:avLst/>
          </a:prstGeom>
          <a:solidFill>
            <a:schemeClr val="bg1"/>
          </a:solidFill>
          <a:ln w="15875">
            <a:solidFill>
              <a:schemeClr val="tx1"/>
            </a:solidFill>
            <a:prstDash val="solid"/>
          </a:ln>
        </p:spPr>
        <p:txBody>
          <a:bodyPr wrap="square" lIns="101600" tIns="101600" rIns="101600" bIns="101600" rtlCol="0" anchor="ctr"/>
          <a:lstStyle/>
          <a:p>
            <a:pPr marL="0" indent="0" algn="ctr">
              <a:buNone/>
            </a:pPr>
            <a:r>
              <a:rPr lang="en-US" sz="2000" b="1" dirty="0">
                <a:solidFill>
                  <a:schemeClr val="tx1"/>
                </a:solidFill>
              </a:rPr>
              <a:t>Low on-chain gas</a:t>
            </a:r>
            <a:endParaRPr lang="en-US" sz="2000" dirty="0"/>
          </a:p>
          <a:p>
            <a:pPr marL="0" indent="0" algn="ctr">
              <a:buNone/>
            </a:pPr>
            <a:r>
              <a:rPr lang="en-US" sz="1800" dirty="0">
                <a:solidFill>
                  <a:schemeClr val="tx1"/>
                </a:solidFill>
              </a:rPr>
              <a:t>(succinct ZK receipt)</a:t>
            </a:r>
            <a:endParaRPr lang="en-US" sz="2000" dirty="0"/>
          </a:p>
        </p:txBody>
      </p:sp>
      <p:sp>
        <p:nvSpPr>
          <p:cNvPr id="9" name="Shape 6"/>
          <p:cNvSpPr/>
          <p:nvPr/>
        </p:nvSpPr>
        <p:spPr>
          <a:xfrm>
            <a:off x="14310360" y="5394960"/>
            <a:ext cx="868680" cy="0"/>
          </a:xfrm>
          <a:prstGeom prst="line">
            <a:avLst/>
          </a:prstGeom>
          <a:noFill/>
          <a:ln w="22225">
            <a:solidFill>
              <a:schemeClr val="tx1"/>
            </a:solidFill>
            <a:prstDash val="solid"/>
            <a:tailEnd type="triangle" w="lg" len="lg"/>
          </a:ln>
        </p:spPr>
      </p:sp>
      <p:sp>
        <p:nvSpPr>
          <p:cNvPr id="10" name="Text 7"/>
          <p:cNvSpPr/>
          <p:nvPr/>
        </p:nvSpPr>
        <p:spPr>
          <a:xfrm>
            <a:off x="10744200" y="6537960"/>
            <a:ext cx="3566160" cy="1188720"/>
          </a:xfrm>
          <a:prstGeom prst="rect">
            <a:avLst/>
          </a:prstGeom>
          <a:solidFill>
            <a:schemeClr val="bg1"/>
          </a:solidFill>
          <a:ln w="15875">
            <a:solidFill>
              <a:schemeClr val="tx1"/>
            </a:solidFill>
            <a:prstDash val="solid"/>
          </a:ln>
        </p:spPr>
        <p:txBody>
          <a:bodyPr wrap="square" lIns="101600" tIns="101600" rIns="101600" bIns="101600" rtlCol="0" anchor="ctr"/>
          <a:lstStyle/>
          <a:p>
            <a:pPr marL="0" indent="0" algn="ctr">
              <a:buNone/>
            </a:pPr>
            <a:r>
              <a:rPr lang="en-US" sz="2000" b="1" dirty="0">
                <a:solidFill>
                  <a:schemeClr val="tx1"/>
                </a:solidFill>
              </a:rPr>
              <a:t>Forkless deployment</a:t>
            </a:r>
            <a:endParaRPr lang="en-US" sz="2000" dirty="0"/>
          </a:p>
          <a:p>
            <a:pPr marL="0" indent="0" algn="ctr">
              <a:buNone/>
            </a:pPr>
            <a:r>
              <a:rPr lang="en-US" sz="1800" dirty="0">
                <a:solidFill>
                  <a:schemeClr val="tx1"/>
                </a:solidFill>
              </a:rPr>
              <a:t>(ERC-4337, no hard fork)</a:t>
            </a:r>
            <a:endParaRPr lang="en-US" sz="2000" dirty="0"/>
          </a:p>
        </p:txBody>
      </p:sp>
      <p:sp>
        <p:nvSpPr>
          <p:cNvPr id="11" name="Shape 8"/>
          <p:cNvSpPr/>
          <p:nvPr/>
        </p:nvSpPr>
        <p:spPr>
          <a:xfrm>
            <a:off x="14310360" y="7132320"/>
            <a:ext cx="868680" cy="0"/>
          </a:xfrm>
          <a:prstGeom prst="line">
            <a:avLst/>
          </a:prstGeom>
          <a:noFill/>
          <a:ln w="22225">
            <a:solidFill>
              <a:schemeClr val="tx1"/>
            </a:solidFill>
            <a:prstDash val="solid"/>
            <a:tailEnd type="triangle" w="lg" len="lg"/>
          </a:ln>
        </p:spPr>
      </p:sp>
      <p:sp>
        <p:nvSpPr>
          <p:cNvPr id="12" name="Text 9"/>
          <p:cNvSpPr/>
          <p:nvPr/>
        </p:nvSpPr>
        <p:spPr>
          <a:xfrm>
            <a:off x="15179040" y="3063240"/>
            <a:ext cx="1874520" cy="4663440"/>
          </a:xfrm>
          <a:prstGeom prst="rect">
            <a:avLst/>
          </a:prstGeom>
          <a:solidFill>
            <a:schemeClr val="bg2"/>
          </a:solidFill>
          <a:ln w="15875">
            <a:solidFill>
              <a:schemeClr val="tx1"/>
            </a:solidFill>
            <a:prstDash val="solid"/>
          </a:ln>
        </p:spPr>
        <p:txBody>
          <a:bodyPr wrap="square" lIns="101600" tIns="101600" rIns="101600" bIns="101600" rtlCol="0" anchor="ctr"/>
          <a:lstStyle/>
          <a:p>
            <a:pPr marL="0" indent="0" algn="ctr">
              <a:buNone/>
            </a:pPr>
            <a:r>
              <a:rPr lang="en-US" sz="2400" b="1" dirty="0">
                <a:solidFill>
                  <a:schemeClr val="tx1"/>
                </a:solidFill>
              </a:rPr>
              <a:t>Q-EVM</a:t>
            </a:r>
            <a:endParaRPr lang="en-US" sz="2400" dirty="0"/>
          </a:p>
        </p:txBody>
      </p:sp>
      <p:sp>
        <p:nvSpPr>
          <p:cNvPr id="13" name="Text 10"/>
          <p:cNvSpPr txBox="1"/>
          <p:nvPr/>
        </p:nvSpPr>
        <p:spPr>
          <a:xfrm>
            <a:off x="10469880" y="8001000"/>
            <a:ext cx="6858000" cy="731520"/>
          </a:xfrm>
          <a:prstGeom prst="rect">
            <a:avLst/>
          </a:prstGeom>
          <a:noFill/>
          <a:ln/>
        </p:spPr>
        <p:txBody>
          <a:bodyPr wrap="square" lIns="0" tIns="0" rIns="0" bIns="0" rtlCol="0" anchor="t"/>
          <a:lstStyle/>
          <a:p>
            <a:pPr marL="0" indent="0" algn="ctr">
              <a:buNone/>
            </a:pPr>
            <a:r>
              <a:rPr lang="en-US" sz="1800" i="1" dirty="0">
                <a:solidFill>
                  <a:schemeClr val="tx1"/>
                </a:solidFill>
              </a:rPr>
              <a:t>Figure 1: Q-EVM combines post-quantum security, low on-chain gas and forkless deployment.</a:t>
            </a:r>
            <a:endParaRPr lang="en-US" sz="1800" dirty="0"/>
          </a:p>
        </p:txBody>
      </p:sp>
      <p:sp>
        <p:nvSpPr>
          <p:cNvPr id="25" name="Slide Number Placeholder 0"/>
          <p:cNvSpPr>
            <a:spLocks noGrp="1"/>
          </p:cNvSpPr>
          <p:nvPr>
            <p:ph type="sldNum" sz="quarter" idx="4294967295"/>
          </p:nvPr>
        </p:nvSpPr>
        <p:spPr>
          <a:xfrm>
            <a:off x="16367760" y="9601200"/>
            <a:ext cx="1097280" cy="411480"/>
          </a:xfrm>
          <a:prstGeom prst="rect">
            <a:avLst/>
          </a:prstGeom>
          <a:extLst>
            <a:ext uri="{C572A759-6A51-4108-AA02-DFA0A04FC94B}">
              <ma14:wrappingTextBoxFlag xmlns:ma14="http://schemas.microsoft.com/office/mac/drawingml/2011/main" xmlns="" val="0"/>
            </a:ext>
          </a:extLst>
        </p:spPr>
        <p:txBody>
          <a:bodyPr/>
          <a:lstStyle>
            <a:lvl1pPr>
              <a:defRPr sz="1800">
                <a:solidFill>
                  <a:schemeClr val="tx1"/>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1234440" y="274320"/>
            <a:ext cx="14630400" cy="914400"/>
          </a:xfrm>
          <a:prstGeom prst="rect">
            <a:avLst/>
          </a:prstGeom>
          <a:noFill/>
          <a:ln/>
        </p:spPr>
        <p:txBody>
          <a:bodyPr wrap="square" lIns="0" tIns="0" rIns="0" bIns="0" rtlCol="0" anchor="ctr"/>
          <a:lstStyle/>
          <a:p>
            <a:pPr marL="0" indent="0" algn="l">
              <a:buNone/>
            </a:pPr>
            <a:r>
              <a:rPr lang="en-US" sz="3600" b="1" dirty="0">
                <a:solidFill>
                  <a:schemeClr val="tx2"/>
                </a:solidFill>
              </a:rPr>
              <a:t>LITERATURE REVIEW &amp; GAP IDENTIFIED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234440" y="1874520"/>
          <a:ext cx="15819120" cy="5084064"/>
        </p:xfrm>
        <a:graphic>
          <a:graphicData uri="http://schemas.openxmlformats.org/drawingml/2006/table">
            <a:tbl>
              <a:tblPr/>
              <a:tblGrid>
                <a:gridCol w="329184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6126480">
                  <a:extLst>
                    <a:ext uri="{9D8B030D-6E8A-4147-A177-3AD203B41FA5}">
                      <a16:colId xmlns:a16="http://schemas.microsoft.com/office/drawing/2014/main" val="20002"/>
                    </a:ext>
                  </a:extLst>
                </a:gridCol>
              </a:tblGrid>
              <a:tr h="548640">
                <a:tc>
                  <a:txBody>
                    <a:bodyPr/>
                    <a:lstStyle/>
                    <a:p>
                      <a:pPr marL="0" indent="0" algn="l">
                        <a:buNone/>
                      </a:pPr>
                      <a:r>
                        <a:rPr lang="en-US" sz="2000" b="1" dirty="0">
                          <a:solidFill>
                            <a:schemeClr val="bg1"/>
                          </a:solidFill>
                        </a:rPr>
                        <a:t>Reference</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tx2"/>
                    </a:solidFill>
                  </a:tcPr>
                </a:tc>
                <a:tc>
                  <a:txBody>
                    <a:bodyPr/>
                    <a:lstStyle/>
                    <a:p>
                      <a:pPr marL="0" indent="0" algn="l">
                        <a:buNone/>
                      </a:pPr>
                      <a:r>
                        <a:rPr lang="en-US" sz="2000" b="1" dirty="0">
                          <a:solidFill>
                            <a:schemeClr val="bg1"/>
                          </a:solidFill>
                        </a:rPr>
                        <a:t>Key contribution</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tx2"/>
                    </a:solidFill>
                  </a:tcPr>
                </a:tc>
                <a:tc>
                  <a:txBody>
                    <a:bodyPr/>
                    <a:lstStyle/>
                    <a:p>
                      <a:pPr marL="0" indent="0" algn="l">
                        <a:buNone/>
                      </a:pPr>
                      <a:r>
                        <a:rPr lang="en-US" sz="2000" b="1" dirty="0">
                          <a:solidFill>
                            <a:schemeClr val="bg1"/>
                          </a:solidFill>
                        </a:rPr>
                        <a:t>Limitation for our problem</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lgn="l">
                        <a:buNone/>
                      </a:pPr>
                      <a:r>
                        <a:rPr lang="en-US" sz="2000" b="1" dirty="0">
                          <a:solidFill>
                            <a:schemeClr val="tx1"/>
                          </a:solidFill>
                        </a:rPr>
                        <a:t>Shor, 1994 [1]</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Quantum algorithm that breaks ECDSA (discrete log)</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Shows the threat; no migration path for Ethereum</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lgn="l">
                        <a:buNone/>
                      </a:pPr>
                      <a:r>
                        <a:rPr lang="en-US" sz="2000" b="1" dirty="0">
                          <a:solidFill>
                            <a:schemeClr val="tx1"/>
                          </a:solidFill>
                        </a:rPr>
                        <a:t>NIST FIPS 204, 2024 [2]</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Standardises ML-DSA, an integer-only lattice signature</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2,420-byte signature; no native EVM support</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lgn="l">
                        <a:buNone/>
                      </a:pPr>
                      <a:r>
                        <a:rPr lang="en-US" sz="2000" b="1" dirty="0">
                          <a:solidFill>
                            <a:schemeClr val="tx1"/>
                          </a:solidFill>
                        </a:rPr>
                        <a:t>Schemitt et al., 2025 [3]</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Benchmarks PQ signatures; simulates blockchain impact</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Timing only; no EVM gas cost or deployment path</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lgn="l">
                        <a:buNone/>
                      </a:pPr>
                      <a:r>
                        <a:rPr lang="en-US" sz="2000" b="1" dirty="0">
                          <a:solidFill>
                            <a:schemeClr val="tx1"/>
                          </a:solidFill>
                        </a:rPr>
                        <a:t>ERC-4337, 2021 [4]</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Wallets define their own validation, no protocol change</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Bundlers and wallets assume ECDSA</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lgn="l">
                        <a:buNone/>
                      </a:pPr>
                      <a:r>
                        <a:rPr lang="en-US" sz="2000" b="1" dirty="0">
                          <a:solidFill>
                            <a:schemeClr val="tx1"/>
                          </a:solidFill>
                        </a:rPr>
                        <a:t>Raikwar et al., 2019 [5]</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Survey: signature size versus verification cost</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No deployable post-quantum design</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lgn="l">
                        <a:buNone/>
                      </a:pPr>
                      <a:r>
                        <a:rPr lang="en-US" sz="2000" b="1" dirty="0">
                          <a:solidFill>
                            <a:schemeClr val="tx1"/>
                          </a:solidFill>
                        </a:rPr>
                        <a:t>EIP-8052, 2025 [6]</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Falcon verification precompile with low gas</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Needs a hard fork; Falcon is costly to prove in ZK</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6"/>
                  </a:ext>
                </a:extLst>
              </a:tr>
              <a:tr h="566928">
                <a:tc>
                  <a:txBody>
                    <a:bodyPr/>
                    <a:lstStyle/>
                    <a:p>
                      <a:pPr marL="0" indent="0" algn="l">
                        <a:buNone/>
                      </a:pPr>
                      <a:r>
                        <a:rPr lang="en-US" sz="2000" b="1" dirty="0">
                          <a:solidFill>
                            <a:schemeClr val="tx1"/>
                          </a:solidFill>
                        </a:rPr>
                        <a:t>RISC Zero zkVM docs [7]</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Proves Rust execution; succinct on-chain receipt</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Existing zk wallets target ECDSA, not PQ signatures</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7"/>
                  </a:ext>
                </a:extLst>
              </a:tr>
              <a:tr h="566928">
                <a:tc>
                  <a:txBody>
                    <a:bodyPr/>
                    <a:lstStyle/>
                    <a:p>
                      <a:pPr marL="0" indent="0" algn="l">
                        <a:buNone/>
                      </a:pPr>
                      <a:r>
                        <a:rPr lang="en-US" sz="2000" b="1" dirty="0">
                          <a:solidFill>
                            <a:schemeClr val="tx1"/>
                          </a:solidFill>
                        </a:rPr>
                        <a:t>CVE-2026-24850, 2026 [8]</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RustCrypto ml-dsa accepted repeated hint indices</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Implementations still maturing; needs upgradability</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1"/>
          <p:cNvSpPr/>
          <p:nvPr/>
        </p:nvSpPr>
        <p:spPr>
          <a:xfrm>
            <a:off x="1234440" y="7360920"/>
            <a:ext cx="15819120" cy="1783080"/>
          </a:xfrm>
          <a:prstGeom prst="rect">
            <a:avLst/>
          </a:prstGeom>
          <a:solidFill>
            <a:schemeClr val="bg2"/>
          </a:solidFill>
          <a:ln w="9525">
            <a:solidFill>
              <a:srgbClr val="BFBFBF"/>
            </a:solidFill>
          </a:ln>
        </p:spPr>
        <p:txBody>
          <a:bodyPr wrap="square" lIns="203200" tIns="203200" rIns="203200" bIns="203200" rtlCol="0" anchor="ctr"/>
          <a:lstStyle/>
          <a:p>
            <a:pPr marL="0" indent="0" algn="l">
              <a:buNone/>
            </a:pPr>
            <a:r>
              <a:rPr lang="en-US" sz="2400" b="1" dirty="0">
                <a:solidFill>
                  <a:schemeClr val="tx1"/>
                </a:solidFill>
              </a:rPr>
              <a:t>Research gap: </a:t>
            </a:r>
            <a:r>
              <a:rPr lang="en-US" sz="2400" dirty="0">
                <a:solidFill>
                  <a:schemeClr val="tx1"/>
                </a:solidFill>
              </a:rPr>
              <a:t>No existing work combines ERC-4337 with a zero-knowledge receipt to validate ML-DSA signatures without a hard fork, or characterises its gas, proving-latency and batching trade-off. The on-chain costs reported so far are projections, not measurements on a running EVM.</a:t>
            </a:r>
            <a:endParaRPr lang="en-US" sz="2400" dirty="0"/>
          </a:p>
        </p:txBody>
      </p:sp>
      <p:sp>
        <p:nvSpPr>
          <p:cNvPr id="25" name="Slide Number Placeholder 0"/>
          <p:cNvSpPr>
            <a:spLocks noGrp="1"/>
          </p:cNvSpPr>
          <p:nvPr>
            <p:ph type="sldNum" sz="quarter" idx="4294967295"/>
          </p:nvPr>
        </p:nvSpPr>
        <p:spPr>
          <a:xfrm>
            <a:off x="16367760" y="9601200"/>
            <a:ext cx="1097280" cy="411480"/>
          </a:xfrm>
          <a:prstGeom prst="rect">
            <a:avLst/>
          </a:prstGeom>
          <a:extLst>
            <a:ext uri="{C572A759-6A51-4108-AA02-DFA0A04FC94B}">
              <ma14:wrappingTextBoxFlag xmlns:ma14="http://schemas.microsoft.com/office/mac/drawingml/2011/main" xmlns="" val="0"/>
            </a:ext>
          </a:extLst>
        </p:spPr>
        <p:txBody>
          <a:bodyPr/>
          <a:lstStyle>
            <a:lvl1pPr>
              <a:defRPr sz="1800">
                <a:solidFill>
                  <a:schemeClr val="tx1"/>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1234440" y="274320"/>
            <a:ext cx="14630400" cy="914400"/>
          </a:xfrm>
          <a:prstGeom prst="rect">
            <a:avLst/>
          </a:prstGeom>
          <a:noFill/>
          <a:ln/>
        </p:spPr>
        <p:txBody>
          <a:bodyPr wrap="square" lIns="0" tIns="0" rIns="0" bIns="0" rtlCol="0" anchor="ctr"/>
          <a:lstStyle/>
          <a:p>
            <a:pPr marL="0" indent="0" algn="l">
              <a:buNone/>
            </a:pPr>
            <a:r>
              <a:rPr lang="en-US" sz="3600" b="1" dirty="0">
                <a:solidFill>
                  <a:schemeClr val="tx2"/>
                </a:solidFill>
              </a:rPr>
              <a:t>PROPOSED ARCHITECTURE</a:t>
            </a:r>
            <a:endParaRPr lang="en-US" sz="3600" dirty="0"/>
          </a:p>
        </p:txBody>
      </p:sp>
      <p:sp>
        <p:nvSpPr>
          <p:cNvPr id="4" name="Text 1"/>
          <p:cNvSpPr txBox="1"/>
          <p:nvPr/>
        </p:nvSpPr>
        <p:spPr>
          <a:xfrm>
            <a:off x="1234440" y="1783080"/>
            <a:ext cx="15819120" cy="868680"/>
          </a:xfrm>
          <a:prstGeom prst="rect">
            <a:avLst/>
          </a:prstGeom>
          <a:noFill/>
          <a:ln/>
        </p:spPr>
        <p:txBody>
          <a:bodyPr wrap="square" lIns="0" tIns="0" rIns="0" bIns="0" rtlCol="0" anchor="ctr"/>
          <a:lstStyle/>
          <a:p>
            <a:pPr marL="0" indent="0">
              <a:buNone/>
            </a:pPr>
            <a:r>
              <a:rPr lang="en-US" sz="2400" b="1" dirty="0">
                <a:solidFill>
                  <a:schemeClr val="tx2"/>
                </a:solidFill>
              </a:rPr>
              <a:t>Core idea: move the expensive ML-DSA verification off-chain and verify only a compact ZK receipt on-chain.</a:t>
            </a:r>
            <a:endParaRPr lang="en-US" sz="2400" dirty="0"/>
          </a:p>
        </p:txBody>
      </p:sp>
      <p:sp>
        <p:nvSpPr>
          <p:cNvPr id="5" name="Shape 2"/>
          <p:cNvSpPr/>
          <p:nvPr/>
        </p:nvSpPr>
        <p:spPr>
          <a:xfrm>
            <a:off x="5367528" y="3017520"/>
            <a:ext cx="7562088" cy="3246120"/>
          </a:xfrm>
          <a:prstGeom prst="rect">
            <a:avLst/>
          </a:prstGeom>
          <a:ln w="12700">
            <a:solidFill>
              <a:schemeClr val="accent4"/>
            </a:solidFill>
            <a:prstDash val="dash"/>
          </a:ln>
        </p:spPr>
      </p:sp>
      <p:sp>
        <p:nvSpPr>
          <p:cNvPr id="6" name="Text 3"/>
          <p:cNvSpPr txBox="1"/>
          <p:nvPr/>
        </p:nvSpPr>
        <p:spPr>
          <a:xfrm>
            <a:off x="5504688" y="3108960"/>
            <a:ext cx="7287768" cy="365760"/>
          </a:xfrm>
          <a:prstGeom prst="rect">
            <a:avLst/>
          </a:prstGeom>
          <a:noFill/>
          <a:ln/>
        </p:spPr>
        <p:txBody>
          <a:bodyPr wrap="square" lIns="0" tIns="0" rIns="0" bIns="0" rtlCol="0" anchor="t"/>
          <a:lstStyle/>
          <a:p>
            <a:pPr marL="0" indent="0">
              <a:buNone/>
            </a:pPr>
            <a:r>
              <a:rPr lang="en-US" sz="1800" i="1" dirty="0">
                <a:solidFill>
                  <a:schemeClr val="tx1"/>
                </a:solidFill>
              </a:rPr>
              <a:t>Off-chain</a:t>
            </a:r>
            <a:endParaRPr lang="en-US" sz="1800" dirty="0"/>
          </a:p>
        </p:txBody>
      </p:sp>
      <p:sp>
        <p:nvSpPr>
          <p:cNvPr id="7" name="Shape 4"/>
          <p:cNvSpPr/>
          <p:nvPr/>
        </p:nvSpPr>
        <p:spPr>
          <a:xfrm>
            <a:off x="14090904" y="3017520"/>
            <a:ext cx="3200400" cy="3246120"/>
          </a:xfrm>
          <a:prstGeom prst="rect">
            <a:avLst/>
          </a:prstGeom>
          <a:ln w="12700">
            <a:solidFill>
              <a:schemeClr val="accent4"/>
            </a:solidFill>
            <a:prstDash val="dash"/>
          </a:ln>
        </p:spPr>
      </p:sp>
      <p:sp>
        <p:nvSpPr>
          <p:cNvPr id="8" name="Text 5"/>
          <p:cNvSpPr txBox="1"/>
          <p:nvPr/>
        </p:nvSpPr>
        <p:spPr>
          <a:xfrm>
            <a:off x="14228064" y="3108960"/>
            <a:ext cx="2926080" cy="365760"/>
          </a:xfrm>
          <a:prstGeom prst="rect">
            <a:avLst/>
          </a:prstGeom>
          <a:noFill/>
          <a:ln/>
        </p:spPr>
        <p:txBody>
          <a:bodyPr wrap="square" lIns="0" tIns="0" rIns="0" bIns="0" rtlCol="0" anchor="t"/>
          <a:lstStyle/>
          <a:p>
            <a:pPr marL="0" indent="0">
              <a:buNone/>
            </a:pPr>
            <a:r>
              <a:rPr lang="en-US" sz="1800" i="1" dirty="0">
                <a:solidFill>
                  <a:schemeClr val="tx1"/>
                </a:solidFill>
              </a:rPr>
              <a:t>On-chain (EVM)</a:t>
            </a:r>
            <a:endParaRPr lang="en-US" sz="1800" dirty="0"/>
          </a:p>
        </p:txBody>
      </p:sp>
      <p:sp>
        <p:nvSpPr>
          <p:cNvPr id="9" name="Text 6"/>
          <p:cNvSpPr/>
          <p:nvPr/>
        </p:nvSpPr>
        <p:spPr>
          <a:xfrm>
            <a:off x="1234440" y="3840480"/>
            <a:ext cx="2743200" cy="2103120"/>
          </a:xfrm>
          <a:prstGeom prst="rect">
            <a:avLst/>
          </a:prstGeom>
          <a:solidFill>
            <a:schemeClr val="bg1"/>
          </a:solidFill>
          <a:ln w="15875">
            <a:solidFill>
              <a:schemeClr val="tx1"/>
            </a:solidFill>
            <a:prstDash val="solid"/>
          </a:ln>
        </p:spPr>
        <p:txBody>
          <a:bodyPr wrap="square" lIns="101600" tIns="101600" rIns="101600" bIns="101600" rtlCol="0" anchor="ctr"/>
          <a:lstStyle/>
          <a:p>
            <a:pPr marL="0" indent="0" algn="ctr">
              <a:buNone/>
            </a:pPr>
            <a:r>
              <a:rPr lang="en-US" sz="2000" b="1" dirty="0">
                <a:solidFill>
                  <a:schemeClr val="tx1"/>
                </a:solidFill>
              </a:rPr>
              <a:t>User Wallet</a:t>
            </a:r>
            <a:endParaRPr lang="en-US" sz="2000" dirty="0"/>
          </a:p>
          <a:p>
            <a:pPr marL="0" indent="0" algn="ctr">
              <a:buNone/>
            </a:pPr>
            <a:r>
              <a:rPr lang="en-US" sz="1800" dirty="0">
                <a:solidFill>
                  <a:schemeClr val="tx1"/>
                </a:solidFill>
              </a:rPr>
              <a:t>Signs the UserOperation with ML-DSA</a:t>
            </a:r>
            <a:endParaRPr lang="en-US" sz="2000" dirty="0"/>
          </a:p>
        </p:txBody>
      </p:sp>
      <p:sp>
        <p:nvSpPr>
          <p:cNvPr id="10" name="Text 7"/>
          <p:cNvSpPr/>
          <p:nvPr/>
        </p:nvSpPr>
        <p:spPr>
          <a:xfrm>
            <a:off x="5596128" y="3840480"/>
            <a:ext cx="2743200" cy="2103120"/>
          </a:xfrm>
          <a:prstGeom prst="rect">
            <a:avLst/>
          </a:prstGeom>
          <a:solidFill>
            <a:schemeClr val="bg1"/>
          </a:solidFill>
          <a:ln w="15875">
            <a:solidFill>
              <a:schemeClr val="tx1"/>
            </a:solidFill>
            <a:prstDash val="solid"/>
          </a:ln>
        </p:spPr>
        <p:txBody>
          <a:bodyPr wrap="square" lIns="101600" tIns="101600" rIns="101600" bIns="101600" rtlCol="0" anchor="ctr"/>
          <a:lstStyle/>
          <a:p>
            <a:pPr marL="0" indent="0" algn="ctr">
              <a:buNone/>
            </a:pPr>
            <a:r>
              <a:rPr lang="en-US" sz="2000" b="1" dirty="0">
                <a:solidFill>
                  <a:schemeClr val="tx1"/>
                </a:solidFill>
              </a:rPr>
              <a:t>Rust Bundler</a:t>
            </a:r>
            <a:endParaRPr lang="en-US" sz="2000" dirty="0"/>
          </a:p>
          <a:p>
            <a:pPr marL="0" indent="0" algn="ctr">
              <a:buNone/>
            </a:pPr>
            <a:r>
              <a:rPr lang="en-US" sz="1800" dirty="0">
                <a:solidFill>
                  <a:schemeClr val="tx1"/>
                </a:solidFill>
              </a:rPr>
              <a:t>ERC-4337 mempool, simulation and batching</a:t>
            </a:r>
            <a:endParaRPr lang="en-US" sz="2000" dirty="0"/>
          </a:p>
        </p:txBody>
      </p:sp>
      <p:sp>
        <p:nvSpPr>
          <p:cNvPr id="11" name="Text 8"/>
          <p:cNvSpPr/>
          <p:nvPr/>
        </p:nvSpPr>
        <p:spPr>
          <a:xfrm>
            <a:off x="9957816" y="3840480"/>
            <a:ext cx="2743200" cy="2103120"/>
          </a:xfrm>
          <a:prstGeom prst="rect">
            <a:avLst/>
          </a:prstGeom>
          <a:solidFill>
            <a:schemeClr val="bg1"/>
          </a:solidFill>
          <a:ln w="15875">
            <a:solidFill>
              <a:schemeClr val="tx1"/>
            </a:solidFill>
            <a:prstDash val="solid"/>
          </a:ln>
        </p:spPr>
        <p:txBody>
          <a:bodyPr wrap="square" lIns="101600" tIns="101600" rIns="101600" bIns="101600" rtlCol="0" anchor="ctr"/>
          <a:lstStyle/>
          <a:p>
            <a:pPr marL="0" indent="0" algn="ctr">
              <a:buNone/>
            </a:pPr>
            <a:r>
              <a:rPr lang="en-US" sz="2000" b="1" dirty="0">
                <a:solidFill>
                  <a:schemeClr val="tx1"/>
                </a:solidFill>
              </a:rPr>
              <a:t>zkVM Prover</a:t>
            </a:r>
            <a:endParaRPr lang="en-US" sz="2000" dirty="0"/>
          </a:p>
          <a:p>
            <a:pPr marL="0" indent="0" algn="ctr">
              <a:buNone/>
            </a:pPr>
            <a:r>
              <a:rPr lang="en-US" sz="1800" dirty="0">
                <a:solidFill>
                  <a:schemeClr val="tx1"/>
                </a:solidFill>
              </a:rPr>
              <a:t>Runs ML-DSA verification and emits a receipt</a:t>
            </a:r>
            <a:endParaRPr lang="en-US" sz="2000" dirty="0"/>
          </a:p>
        </p:txBody>
      </p:sp>
      <p:sp>
        <p:nvSpPr>
          <p:cNvPr id="12" name="Text 9"/>
          <p:cNvSpPr/>
          <p:nvPr/>
        </p:nvSpPr>
        <p:spPr>
          <a:xfrm>
            <a:off x="14319504" y="3840480"/>
            <a:ext cx="2743200" cy="2103120"/>
          </a:xfrm>
          <a:prstGeom prst="rect">
            <a:avLst/>
          </a:prstGeom>
          <a:solidFill>
            <a:schemeClr val="bg1"/>
          </a:solidFill>
          <a:ln w="15875">
            <a:solidFill>
              <a:schemeClr val="tx1"/>
            </a:solidFill>
            <a:prstDash val="solid"/>
          </a:ln>
        </p:spPr>
        <p:txBody>
          <a:bodyPr wrap="square" lIns="101600" tIns="101600" rIns="101600" bIns="101600" rtlCol="0" anchor="ctr"/>
          <a:lstStyle/>
          <a:p>
            <a:pPr marL="0" indent="0" algn="ctr">
              <a:buNone/>
            </a:pPr>
            <a:r>
              <a:rPr lang="en-US" sz="2000" b="1" dirty="0">
                <a:solidFill>
                  <a:schemeClr val="tx1"/>
                </a:solidFill>
              </a:rPr>
              <a:t>Smart Wallet</a:t>
            </a:r>
            <a:endParaRPr lang="en-US" sz="2000" dirty="0"/>
          </a:p>
          <a:p>
            <a:pPr marL="0" indent="0" algn="ctr">
              <a:buNone/>
            </a:pPr>
            <a:r>
              <a:rPr lang="en-US" sz="1800" dirty="0">
                <a:solidFill>
                  <a:schemeClr val="tx1"/>
                </a:solidFill>
              </a:rPr>
              <a:t>validateUserOp verifies the receipt on-chain</a:t>
            </a:r>
            <a:endParaRPr lang="en-US" sz="2000" dirty="0"/>
          </a:p>
        </p:txBody>
      </p:sp>
      <p:sp>
        <p:nvSpPr>
          <p:cNvPr id="13" name="Shape 10"/>
          <p:cNvSpPr/>
          <p:nvPr/>
        </p:nvSpPr>
        <p:spPr>
          <a:xfrm>
            <a:off x="3977640" y="4892040"/>
            <a:ext cx="1618488" cy="0"/>
          </a:xfrm>
          <a:prstGeom prst="line">
            <a:avLst/>
          </a:prstGeom>
          <a:noFill/>
          <a:ln w="22225">
            <a:solidFill>
              <a:schemeClr val="tx1"/>
            </a:solidFill>
            <a:prstDash val="solid"/>
            <a:tailEnd type="triangle" w="lg" len="lg"/>
          </a:ln>
        </p:spPr>
      </p:sp>
      <p:sp>
        <p:nvSpPr>
          <p:cNvPr id="14" name="Text 11"/>
          <p:cNvSpPr txBox="1"/>
          <p:nvPr/>
        </p:nvSpPr>
        <p:spPr>
          <a:xfrm>
            <a:off x="3977640" y="4434840"/>
            <a:ext cx="1618488" cy="365760"/>
          </a:xfrm>
          <a:prstGeom prst="rect">
            <a:avLst/>
          </a:prstGeom>
          <a:noFill/>
          <a:ln/>
        </p:spPr>
        <p:txBody>
          <a:bodyPr wrap="square" lIns="0" tIns="0" rIns="0" bIns="0" rtlCol="0" anchor="b"/>
          <a:lstStyle/>
          <a:p>
            <a:pPr marL="0" indent="0" algn="ctr">
              <a:buNone/>
            </a:pPr>
            <a:r>
              <a:rPr lang="en-US" sz="1800" dirty="0">
                <a:solidFill>
                  <a:schemeClr val="tx1"/>
                </a:solidFill>
              </a:rPr>
              <a:t>UserOp</a:t>
            </a:r>
            <a:endParaRPr lang="en-US" sz="1800" dirty="0"/>
          </a:p>
        </p:txBody>
      </p:sp>
      <p:sp>
        <p:nvSpPr>
          <p:cNvPr id="15" name="Shape 12"/>
          <p:cNvSpPr/>
          <p:nvPr/>
        </p:nvSpPr>
        <p:spPr>
          <a:xfrm>
            <a:off x="8339328" y="4892040"/>
            <a:ext cx="1618488" cy="0"/>
          </a:xfrm>
          <a:prstGeom prst="line">
            <a:avLst/>
          </a:prstGeom>
          <a:noFill/>
          <a:ln w="22225">
            <a:solidFill>
              <a:schemeClr val="tx1"/>
            </a:solidFill>
            <a:prstDash val="solid"/>
            <a:tailEnd type="triangle" w="lg" len="lg"/>
          </a:ln>
        </p:spPr>
      </p:sp>
      <p:sp>
        <p:nvSpPr>
          <p:cNvPr id="16" name="Text 13"/>
          <p:cNvSpPr txBox="1"/>
          <p:nvPr/>
        </p:nvSpPr>
        <p:spPr>
          <a:xfrm>
            <a:off x="8339328" y="4434840"/>
            <a:ext cx="1618488" cy="365760"/>
          </a:xfrm>
          <a:prstGeom prst="rect">
            <a:avLst/>
          </a:prstGeom>
          <a:noFill/>
          <a:ln/>
        </p:spPr>
        <p:txBody>
          <a:bodyPr wrap="square" lIns="0" tIns="0" rIns="0" bIns="0" rtlCol="0" anchor="b"/>
          <a:lstStyle/>
          <a:p>
            <a:pPr marL="0" indent="0" algn="ctr">
              <a:buNone/>
            </a:pPr>
            <a:r>
              <a:rPr lang="en-US" sz="1800" dirty="0">
                <a:solidFill>
                  <a:schemeClr val="tx1"/>
                </a:solidFill>
              </a:rPr>
              <a:t>hash, pk, sig</a:t>
            </a:r>
            <a:endParaRPr lang="en-US" sz="1800" dirty="0"/>
          </a:p>
        </p:txBody>
      </p:sp>
      <p:sp>
        <p:nvSpPr>
          <p:cNvPr id="17" name="Shape 14"/>
          <p:cNvSpPr/>
          <p:nvPr/>
        </p:nvSpPr>
        <p:spPr>
          <a:xfrm>
            <a:off x="12701016" y="4892040"/>
            <a:ext cx="1618488" cy="0"/>
          </a:xfrm>
          <a:prstGeom prst="line">
            <a:avLst/>
          </a:prstGeom>
          <a:noFill/>
          <a:ln w="22225">
            <a:solidFill>
              <a:schemeClr val="tx1"/>
            </a:solidFill>
            <a:prstDash val="solid"/>
            <a:tailEnd type="triangle" w="lg" len="lg"/>
          </a:ln>
        </p:spPr>
      </p:sp>
      <p:sp>
        <p:nvSpPr>
          <p:cNvPr id="18" name="Text 15"/>
          <p:cNvSpPr txBox="1"/>
          <p:nvPr/>
        </p:nvSpPr>
        <p:spPr>
          <a:xfrm>
            <a:off x="12701016" y="4434840"/>
            <a:ext cx="1618488" cy="365760"/>
          </a:xfrm>
          <a:prstGeom prst="rect">
            <a:avLst/>
          </a:prstGeom>
          <a:noFill/>
          <a:ln/>
        </p:spPr>
        <p:txBody>
          <a:bodyPr wrap="square" lIns="0" tIns="0" rIns="0" bIns="0" rtlCol="0" anchor="b"/>
          <a:lstStyle/>
          <a:p>
            <a:pPr marL="0" indent="0" algn="ctr">
              <a:buNone/>
            </a:pPr>
            <a:r>
              <a:rPr lang="en-US" sz="1800" dirty="0">
                <a:solidFill>
                  <a:schemeClr val="tx1"/>
                </a:solidFill>
              </a:rPr>
              <a:t>receipt</a:t>
            </a:r>
            <a:endParaRPr lang="en-US" sz="1800" dirty="0"/>
          </a:p>
        </p:txBody>
      </p:sp>
      <p:sp>
        <p:nvSpPr>
          <p:cNvPr id="19" name="Text 16"/>
          <p:cNvSpPr txBox="1"/>
          <p:nvPr/>
        </p:nvSpPr>
        <p:spPr>
          <a:xfrm>
            <a:off x="1234440" y="6446520"/>
            <a:ext cx="15819120" cy="365760"/>
          </a:xfrm>
          <a:prstGeom prst="rect">
            <a:avLst/>
          </a:prstGeom>
          <a:noFill/>
          <a:ln/>
        </p:spPr>
        <p:txBody>
          <a:bodyPr wrap="square" lIns="0" tIns="0" rIns="0" bIns="0" rtlCol="0" anchor="t"/>
          <a:lstStyle/>
          <a:p>
            <a:pPr marL="0" indent="0" algn="ctr">
              <a:buNone/>
            </a:pPr>
            <a:r>
              <a:rPr lang="en-US" sz="1800" i="1" dirty="0">
                <a:solidFill>
                  <a:schemeClr val="tx1"/>
                </a:solidFill>
              </a:rPr>
              <a:t>Figure 2: Q-EVM end-to-end flow. The operation hash is a public input of the proof, which prevents replay.</a:t>
            </a:r>
            <a:endParaRPr lang="en-US" sz="1800" dirty="0"/>
          </a:p>
        </p:txBody>
      </p:sp>
      <p:sp>
        <p:nvSpPr>
          <p:cNvPr id="20" name="Text 17"/>
          <p:cNvSpPr txBox="1"/>
          <p:nvPr/>
        </p:nvSpPr>
        <p:spPr>
          <a:xfrm>
            <a:off x="1234440" y="7498080"/>
            <a:ext cx="4937760" cy="1737360"/>
          </a:xfrm>
          <a:prstGeom prst="rect">
            <a:avLst/>
          </a:prstGeom>
          <a:noFill/>
          <a:ln/>
        </p:spPr>
        <p:txBody>
          <a:bodyPr wrap="square" lIns="0" tIns="0" rIns="0" bIns="0" rtlCol="0" anchor="t"/>
          <a:lstStyle/>
          <a:p>
            <a:pPr marL="0" indent="0">
              <a:buNone/>
            </a:pPr>
            <a:r>
              <a:rPr lang="en-US" sz="2400" b="1" dirty="0">
                <a:solidFill>
                  <a:schemeClr val="tx2"/>
                </a:solidFill>
              </a:rPr>
              <a:t>Forkless</a:t>
            </a:r>
            <a:endParaRPr lang="en-US" sz="2400" dirty="0"/>
          </a:p>
          <a:p>
            <a:pPr marL="0" indent="0">
              <a:buNone/>
            </a:pPr>
            <a:r>
              <a:rPr lang="en-US" sz="2400" dirty="0">
                <a:solidFill>
                  <a:schemeClr val="tx1"/>
                </a:solidFill>
              </a:rPr>
              <a:t>No Ethereum hard fork or client change is required.</a:t>
            </a:r>
            <a:endParaRPr lang="en-US" sz="2400" dirty="0"/>
          </a:p>
        </p:txBody>
      </p:sp>
      <p:sp>
        <p:nvSpPr>
          <p:cNvPr id="21" name="Text 18"/>
          <p:cNvSpPr txBox="1"/>
          <p:nvPr/>
        </p:nvSpPr>
        <p:spPr>
          <a:xfrm>
            <a:off x="6675120" y="7498080"/>
            <a:ext cx="4937760" cy="1737360"/>
          </a:xfrm>
          <a:prstGeom prst="rect">
            <a:avLst/>
          </a:prstGeom>
          <a:noFill/>
          <a:ln/>
        </p:spPr>
        <p:txBody>
          <a:bodyPr wrap="square" lIns="0" tIns="0" rIns="0" bIns="0" rtlCol="0" anchor="t"/>
          <a:lstStyle/>
          <a:p>
            <a:pPr marL="0" indent="0">
              <a:buNone/>
            </a:pPr>
            <a:r>
              <a:rPr lang="en-US" sz="2400" b="1" dirty="0">
                <a:solidFill>
                  <a:schemeClr val="tx2"/>
                </a:solidFill>
              </a:rPr>
              <a:t>Heavy work off-chain</a:t>
            </a:r>
            <a:endParaRPr lang="en-US" sz="2400" dirty="0"/>
          </a:p>
          <a:p>
            <a:pPr marL="0" indent="0">
              <a:buNone/>
            </a:pPr>
            <a:r>
              <a:rPr lang="en-US" sz="2400" dirty="0">
                <a:solidFill>
                  <a:schemeClr val="tx1"/>
                </a:solidFill>
              </a:rPr>
              <a:t>ML-DSA verification never runs inside the EVM.</a:t>
            </a:r>
            <a:endParaRPr lang="en-US" sz="2400" dirty="0"/>
          </a:p>
        </p:txBody>
      </p:sp>
      <p:sp>
        <p:nvSpPr>
          <p:cNvPr id="22" name="Text 19"/>
          <p:cNvSpPr txBox="1"/>
          <p:nvPr/>
        </p:nvSpPr>
        <p:spPr>
          <a:xfrm>
            <a:off x="12115800" y="7498080"/>
            <a:ext cx="4937760" cy="1737360"/>
          </a:xfrm>
          <a:prstGeom prst="rect">
            <a:avLst/>
          </a:prstGeom>
          <a:noFill/>
          <a:ln/>
        </p:spPr>
        <p:txBody>
          <a:bodyPr wrap="square" lIns="0" tIns="0" rIns="0" bIns="0" rtlCol="0" anchor="t"/>
          <a:lstStyle/>
          <a:p>
            <a:pPr marL="0" indent="0">
              <a:buNone/>
            </a:pPr>
            <a:r>
              <a:rPr lang="en-US" sz="2400" b="1" dirty="0">
                <a:solidFill>
                  <a:schemeClr val="tx2"/>
                </a:solidFill>
              </a:rPr>
              <a:t>Constant on-chain cost</a:t>
            </a:r>
            <a:endParaRPr lang="en-US" sz="2400" dirty="0"/>
          </a:p>
          <a:p>
            <a:pPr marL="0" indent="0">
              <a:buNone/>
            </a:pPr>
            <a:r>
              <a:rPr lang="en-US" sz="2400" dirty="0">
                <a:solidFill>
                  <a:schemeClr val="tx1"/>
                </a:solidFill>
              </a:rPr>
              <a:t>The wallet verifies one succinct proof per operation or batch.</a:t>
            </a:r>
            <a:endParaRPr lang="en-US" sz="2400" dirty="0"/>
          </a:p>
        </p:txBody>
      </p:sp>
      <p:sp>
        <p:nvSpPr>
          <p:cNvPr id="25" name="Slide Number Placeholder 0"/>
          <p:cNvSpPr>
            <a:spLocks noGrp="1"/>
          </p:cNvSpPr>
          <p:nvPr>
            <p:ph type="sldNum" sz="quarter" idx="4294967295"/>
          </p:nvPr>
        </p:nvSpPr>
        <p:spPr>
          <a:xfrm>
            <a:off x="16367760" y="9601200"/>
            <a:ext cx="1097280" cy="411480"/>
          </a:xfrm>
          <a:prstGeom prst="rect">
            <a:avLst/>
          </a:prstGeom>
          <a:extLst>
            <a:ext uri="{C572A759-6A51-4108-AA02-DFA0A04FC94B}">
              <ma14:wrappingTextBoxFlag xmlns:ma14="http://schemas.microsoft.com/office/mac/drawingml/2011/main" xmlns="" val="0"/>
            </a:ext>
          </a:extLst>
        </p:spPr>
        <p:txBody>
          <a:bodyPr/>
          <a:lstStyle>
            <a:lvl1pPr>
              <a:defRPr sz="1800">
                <a:solidFill>
                  <a:schemeClr val="tx1"/>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1234440" y="274320"/>
            <a:ext cx="14630400" cy="914400"/>
          </a:xfrm>
          <a:prstGeom prst="rect">
            <a:avLst/>
          </a:prstGeom>
          <a:noFill/>
          <a:ln/>
        </p:spPr>
        <p:txBody>
          <a:bodyPr wrap="square" lIns="0" tIns="0" rIns="0" bIns="0" rtlCol="0" anchor="ctr"/>
          <a:lstStyle/>
          <a:p>
            <a:pPr marL="0" indent="0" algn="l">
              <a:buNone/>
            </a:pPr>
            <a:r>
              <a:rPr lang="en-US" sz="3600" b="1" dirty="0">
                <a:solidFill>
                  <a:schemeClr val="tx2"/>
                </a:solidFill>
              </a:rPr>
              <a:t>WORK DONE THIS SEMESTER</a:t>
            </a:r>
            <a:endParaRPr lang="en-US" sz="3600" dirty="0"/>
          </a:p>
        </p:txBody>
      </p:sp>
      <p:sp>
        <p:nvSpPr>
          <p:cNvPr id="4" name="Text 1"/>
          <p:cNvSpPr txBox="1"/>
          <p:nvPr/>
        </p:nvSpPr>
        <p:spPr>
          <a:xfrm>
            <a:off x="1234440" y="1783080"/>
            <a:ext cx="15819120" cy="868680"/>
          </a:xfrm>
          <a:prstGeom prst="rect">
            <a:avLst/>
          </a:prstGeom>
          <a:noFill/>
          <a:ln/>
        </p:spPr>
        <p:txBody>
          <a:bodyPr wrap="square" lIns="0" tIns="0" rIns="0" bIns="0" rtlCol="0" anchor="ctr"/>
          <a:lstStyle/>
          <a:p>
            <a:pPr marL="0" indent="0">
              <a:buNone/>
            </a:pPr>
            <a:r>
              <a:rPr lang="en-US" sz="2400" b="1" dirty="0">
                <a:solidFill>
                  <a:schemeClr val="tx2"/>
                </a:solidFill>
              </a:rPr>
              <a:t>The gas-cost part of the Q-EVM design is now implemented, so the on-chain cost is measured by running it, not projected.</a:t>
            </a:r>
            <a:endParaRPr lang="en-US" sz="2400" dirty="0"/>
          </a:p>
        </p:txBody>
      </p:sp>
      <p:sp>
        <p:nvSpPr>
          <p:cNvPr id="5" name="Text 2"/>
          <p:cNvSpPr/>
          <p:nvPr/>
        </p:nvSpPr>
        <p:spPr>
          <a:xfrm>
            <a:off x="1234440" y="2907792"/>
            <a:ext cx="548640" cy="548640"/>
          </a:xfrm>
          <a:prstGeom prst="rect">
            <a:avLst/>
          </a:prstGeom>
          <a:solidFill>
            <a:schemeClr val="bg1"/>
          </a:solidFill>
          <a:ln w="15875">
            <a:solidFill>
              <a:schemeClr val="tx1"/>
            </a:solidFill>
          </a:ln>
        </p:spPr>
        <p:txBody>
          <a:bodyPr wrap="square" lIns="0" tIns="0" rIns="0" bIns="0" rtlCol="0" anchor="ctr"/>
          <a:lstStyle/>
          <a:p>
            <a:pPr marL="0" indent="0" algn="ctr">
              <a:buNone/>
            </a:pPr>
            <a:r>
              <a:rPr lang="en-US" sz="2400" b="1" dirty="0">
                <a:solidFill>
                  <a:schemeClr val="tx1"/>
                </a:solidFill>
              </a:rPr>
              <a:t>1</a:t>
            </a:r>
            <a:endParaRPr lang="en-US" sz="2400" dirty="0"/>
          </a:p>
        </p:txBody>
      </p:sp>
      <p:sp>
        <p:nvSpPr>
          <p:cNvPr id="6" name="Text 3"/>
          <p:cNvSpPr txBox="1"/>
          <p:nvPr/>
        </p:nvSpPr>
        <p:spPr>
          <a:xfrm>
            <a:off x="2011680" y="2880360"/>
            <a:ext cx="6903720" cy="1645920"/>
          </a:xfrm>
          <a:prstGeom prst="rect">
            <a:avLst/>
          </a:prstGeom>
          <a:noFill/>
          <a:ln/>
        </p:spPr>
        <p:txBody>
          <a:bodyPr wrap="square" lIns="0" tIns="0" rIns="0" bIns="0" rtlCol="0" anchor="t"/>
          <a:lstStyle/>
          <a:p>
            <a:pPr marL="0" indent="0">
              <a:buNone/>
            </a:pPr>
            <a:r>
              <a:rPr lang="en-US" sz="2400" b="1" dirty="0">
                <a:solidFill>
                  <a:schemeClr val="tx2"/>
                </a:solidFill>
              </a:rPr>
              <a:t>Off-chain ML-DSA verification</a:t>
            </a:r>
            <a:endParaRPr lang="en-US" sz="2400" dirty="0"/>
          </a:p>
          <a:p>
            <a:pPr marL="0" indent="0">
              <a:buNone/>
            </a:pPr>
            <a:r>
              <a:rPr lang="en-US" sz="2000" dirty="0">
                <a:solidFill>
                  <a:schemeClr val="tx1"/>
                </a:solidFill>
              </a:rPr>
              <a:t>Following Algorithm 1, the Rust bundler verifies each ML-DSA signature off-chain (Dilithium2, the ML-DSA-44 parameter set).</a:t>
            </a:r>
            <a:endParaRPr lang="en-US" sz="2400" dirty="0"/>
          </a:p>
        </p:txBody>
      </p:sp>
      <p:sp>
        <p:nvSpPr>
          <p:cNvPr id="7" name="Text 4"/>
          <p:cNvSpPr/>
          <p:nvPr/>
        </p:nvSpPr>
        <p:spPr>
          <a:xfrm>
            <a:off x="9372600" y="2907792"/>
            <a:ext cx="548640" cy="548640"/>
          </a:xfrm>
          <a:prstGeom prst="rect">
            <a:avLst/>
          </a:prstGeom>
          <a:solidFill>
            <a:schemeClr val="bg1"/>
          </a:solidFill>
          <a:ln w="15875">
            <a:solidFill>
              <a:schemeClr val="tx1"/>
            </a:solidFill>
          </a:ln>
        </p:spPr>
        <p:txBody>
          <a:bodyPr wrap="square" lIns="0" tIns="0" rIns="0" bIns="0" rtlCol="0" anchor="ctr"/>
          <a:lstStyle/>
          <a:p>
            <a:pPr marL="0" indent="0" algn="ctr">
              <a:buNone/>
            </a:pPr>
            <a:r>
              <a:rPr lang="en-US" sz="2400" b="1" dirty="0">
                <a:solidFill>
                  <a:schemeClr val="tx1"/>
                </a:solidFill>
              </a:rPr>
              <a:t>2</a:t>
            </a:r>
            <a:endParaRPr lang="en-US" sz="2400" dirty="0"/>
          </a:p>
        </p:txBody>
      </p:sp>
      <p:sp>
        <p:nvSpPr>
          <p:cNvPr id="8" name="Text 5"/>
          <p:cNvSpPr txBox="1"/>
          <p:nvPr/>
        </p:nvSpPr>
        <p:spPr>
          <a:xfrm>
            <a:off x="10149840" y="2880360"/>
            <a:ext cx="6903720" cy="1645920"/>
          </a:xfrm>
          <a:prstGeom prst="rect">
            <a:avLst/>
          </a:prstGeom>
          <a:noFill/>
          <a:ln/>
        </p:spPr>
        <p:txBody>
          <a:bodyPr wrap="square" lIns="0" tIns="0" rIns="0" bIns="0" rtlCol="0" anchor="t"/>
          <a:lstStyle/>
          <a:p>
            <a:pPr marL="0" indent="0">
              <a:buNone/>
            </a:pPr>
            <a:r>
              <a:rPr lang="en-US" sz="2400" b="1" dirty="0">
                <a:solidFill>
                  <a:schemeClr val="tx2"/>
                </a:solidFill>
              </a:rPr>
              <a:t>Groth16 receipt</a:t>
            </a:r>
            <a:endParaRPr lang="en-US" sz="2400" dirty="0"/>
          </a:p>
          <a:p>
            <a:pPr marL="0" indent="0">
              <a:buNone/>
            </a:pPr>
            <a:r>
              <a:rPr lang="en-US" sz="2000" dirty="0">
                <a:solidFill>
                  <a:schemeClr val="tx1"/>
                </a:solidFill>
              </a:rPr>
              <a:t>For each valid operation the bundler generates a real Groth16 proof (BN254). The operation hash is a public input, which prevents replay.</a:t>
            </a:r>
            <a:endParaRPr lang="en-US" sz="2400" dirty="0"/>
          </a:p>
        </p:txBody>
      </p:sp>
      <p:sp>
        <p:nvSpPr>
          <p:cNvPr id="9" name="Text 6"/>
          <p:cNvSpPr/>
          <p:nvPr/>
        </p:nvSpPr>
        <p:spPr>
          <a:xfrm>
            <a:off x="1234440" y="4736592"/>
            <a:ext cx="548640" cy="548640"/>
          </a:xfrm>
          <a:prstGeom prst="rect">
            <a:avLst/>
          </a:prstGeom>
          <a:solidFill>
            <a:schemeClr val="bg1"/>
          </a:solidFill>
          <a:ln w="15875">
            <a:solidFill>
              <a:schemeClr val="tx1"/>
            </a:solidFill>
          </a:ln>
        </p:spPr>
        <p:txBody>
          <a:bodyPr wrap="square" lIns="0" tIns="0" rIns="0" bIns="0" rtlCol="0" anchor="ctr"/>
          <a:lstStyle/>
          <a:p>
            <a:pPr marL="0" indent="0" algn="ctr">
              <a:buNone/>
            </a:pPr>
            <a:r>
              <a:rPr lang="en-US" sz="2400" b="1" dirty="0">
                <a:solidFill>
                  <a:schemeClr val="tx1"/>
                </a:solidFill>
              </a:rPr>
              <a:t>3</a:t>
            </a:r>
            <a:endParaRPr lang="en-US" sz="2400" dirty="0"/>
          </a:p>
        </p:txBody>
      </p:sp>
      <p:sp>
        <p:nvSpPr>
          <p:cNvPr id="10" name="Text 7"/>
          <p:cNvSpPr txBox="1"/>
          <p:nvPr/>
        </p:nvSpPr>
        <p:spPr>
          <a:xfrm>
            <a:off x="2011680" y="4709160"/>
            <a:ext cx="6903720" cy="1645920"/>
          </a:xfrm>
          <a:prstGeom prst="rect">
            <a:avLst/>
          </a:prstGeom>
          <a:noFill/>
          <a:ln/>
        </p:spPr>
        <p:txBody>
          <a:bodyPr wrap="square" lIns="0" tIns="0" rIns="0" bIns="0" rtlCol="0" anchor="t"/>
          <a:lstStyle/>
          <a:p>
            <a:pPr marL="0" indent="0">
              <a:buNone/>
            </a:pPr>
            <a:r>
              <a:rPr lang="en-US" sz="2400" b="1" dirty="0">
                <a:solidFill>
                  <a:schemeClr val="tx2"/>
                </a:solidFill>
              </a:rPr>
              <a:t>On-chain verification</a:t>
            </a:r>
            <a:endParaRPr lang="en-US" sz="2400" dirty="0"/>
          </a:p>
          <a:p>
            <a:pPr marL="0" indent="0">
              <a:buNone/>
            </a:pPr>
            <a:r>
              <a:rPr lang="en-US" sz="2000" dirty="0">
                <a:solidFill>
                  <a:schemeClr val="tx1"/>
                </a:solidFill>
              </a:rPr>
              <a:t>A Groth16 verifier contract runs on a local EVM (revm); the gas is taken directly from the EVM execution result.</a:t>
            </a:r>
            <a:endParaRPr lang="en-US" sz="2400" dirty="0"/>
          </a:p>
        </p:txBody>
      </p:sp>
      <p:sp>
        <p:nvSpPr>
          <p:cNvPr id="11" name="Text 8"/>
          <p:cNvSpPr/>
          <p:nvPr/>
        </p:nvSpPr>
        <p:spPr>
          <a:xfrm>
            <a:off x="9372600" y="4736592"/>
            <a:ext cx="548640" cy="548640"/>
          </a:xfrm>
          <a:prstGeom prst="rect">
            <a:avLst/>
          </a:prstGeom>
          <a:solidFill>
            <a:schemeClr val="bg1"/>
          </a:solidFill>
          <a:ln w="15875">
            <a:solidFill>
              <a:schemeClr val="tx1"/>
            </a:solidFill>
          </a:ln>
        </p:spPr>
        <p:txBody>
          <a:bodyPr wrap="square" lIns="0" tIns="0" rIns="0" bIns="0" rtlCol="0" anchor="ctr"/>
          <a:lstStyle/>
          <a:p>
            <a:pPr marL="0" indent="0" algn="ctr">
              <a:buNone/>
            </a:pPr>
            <a:r>
              <a:rPr lang="en-US" sz="2400" b="1" dirty="0">
                <a:solidFill>
                  <a:schemeClr val="tx1"/>
                </a:solidFill>
              </a:rPr>
              <a:t>4</a:t>
            </a:r>
            <a:endParaRPr lang="en-US" sz="2400" dirty="0"/>
          </a:p>
        </p:txBody>
      </p:sp>
      <p:sp>
        <p:nvSpPr>
          <p:cNvPr id="12" name="Text 9"/>
          <p:cNvSpPr txBox="1"/>
          <p:nvPr/>
        </p:nvSpPr>
        <p:spPr>
          <a:xfrm>
            <a:off x="10149840" y="4709160"/>
            <a:ext cx="6903720" cy="1645920"/>
          </a:xfrm>
          <a:prstGeom prst="rect">
            <a:avLst/>
          </a:prstGeom>
          <a:noFill/>
          <a:ln/>
        </p:spPr>
        <p:txBody>
          <a:bodyPr wrap="square" lIns="0" tIns="0" rIns="0" bIns="0" rtlCol="0" anchor="t"/>
          <a:lstStyle/>
          <a:p>
            <a:pPr marL="0" indent="0">
              <a:buNone/>
            </a:pPr>
            <a:r>
              <a:rPr lang="en-US" sz="2400" b="1" dirty="0">
                <a:solidFill>
                  <a:schemeClr val="tx2"/>
                </a:solidFill>
              </a:rPr>
              <a:t>Native baseline</a:t>
            </a:r>
            <a:endParaRPr lang="en-US" sz="2400" dirty="0"/>
          </a:p>
          <a:p>
            <a:pPr marL="0" indent="0">
              <a:buNone/>
            </a:pPr>
            <a:r>
              <a:rPr lang="en-US" sz="2000" dirty="0">
                <a:solidFill>
                  <a:schemeClr val="tx1"/>
                </a:solidFill>
              </a:rPr>
              <a:t>The cost of verifying the same signature directly on-chain is estimated from the actual ML-DSA verification steps, priced with EVM opcode costs.</a:t>
            </a:r>
            <a:endParaRPr lang="en-US" sz="2400" dirty="0"/>
          </a:p>
        </p:txBody>
      </p:sp>
      <p:sp>
        <p:nvSpPr>
          <p:cNvPr id="13" name="Text 10"/>
          <p:cNvSpPr/>
          <p:nvPr/>
        </p:nvSpPr>
        <p:spPr>
          <a:xfrm>
            <a:off x="1234440" y="6565392"/>
            <a:ext cx="548640" cy="548640"/>
          </a:xfrm>
          <a:prstGeom prst="rect">
            <a:avLst/>
          </a:prstGeom>
          <a:solidFill>
            <a:schemeClr val="bg1"/>
          </a:solidFill>
          <a:ln w="15875">
            <a:solidFill>
              <a:schemeClr val="tx1"/>
            </a:solidFill>
          </a:ln>
        </p:spPr>
        <p:txBody>
          <a:bodyPr wrap="square" lIns="0" tIns="0" rIns="0" bIns="0" rtlCol="0" anchor="ctr"/>
          <a:lstStyle/>
          <a:p>
            <a:pPr marL="0" indent="0" algn="ctr">
              <a:buNone/>
            </a:pPr>
            <a:r>
              <a:rPr lang="en-US" sz="2400" b="1" dirty="0">
                <a:solidFill>
                  <a:schemeClr val="tx1"/>
                </a:solidFill>
              </a:rPr>
              <a:t>5</a:t>
            </a:r>
            <a:endParaRPr lang="en-US" sz="2400" dirty="0"/>
          </a:p>
        </p:txBody>
      </p:sp>
      <p:sp>
        <p:nvSpPr>
          <p:cNvPr id="14" name="Text 11"/>
          <p:cNvSpPr txBox="1"/>
          <p:nvPr/>
        </p:nvSpPr>
        <p:spPr>
          <a:xfrm>
            <a:off x="2011680" y="6537960"/>
            <a:ext cx="6903720" cy="1645920"/>
          </a:xfrm>
          <a:prstGeom prst="rect">
            <a:avLst/>
          </a:prstGeom>
          <a:noFill/>
          <a:ln/>
        </p:spPr>
        <p:txBody>
          <a:bodyPr wrap="square" lIns="0" tIns="0" rIns="0" bIns="0" rtlCol="0" anchor="t"/>
          <a:lstStyle/>
          <a:p>
            <a:pPr marL="0" indent="0">
              <a:buNone/>
            </a:pPr>
            <a:r>
              <a:rPr lang="en-US" sz="2400" b="1" dirty="0">
                <a:solidFill>
                  <a:schemeClr val="tx2"/>
                </a:solidFill>
              </a:rPr>
              <a:t>Batching</a:t>
            </a:r>
            <a:endParaRPr lang="en-US" sz="2400" dirty="0"/>
          </a:p>
          <a:p>
            <a:pPr marL="0" indent="0">
              <a:buNone/>
            </a:pPr>
            <a:r>
              <a:rPr lang="en-US" sz="2000" dirty="0">
                <a:solidFill>
                  <a:schemeClr val="tx1"/>
                </a:solidFill>
              </a:rPr>
              <a:t>One Groth16 proof covers a whole batch, so the on-chain gas is shared across its operations.</a:t>
            </a:r>
            <a:endParaRPr lang="en-US" sz="2400" dirty="0"/>
          </a:p>
        </p:txBody>
      </p:sp>
      <p:sp>
        <p:nvSpPr>
          <p:cNvPr id="15" name="Text 12"/>
          <p:cNvSpPr/>
          <p:nvPr/>
        </p:nvSpPr>
        <p:spPr>
          <a:xfrm>
            <a:off x="9372600" y="6565392"/>
            <a:ext cx="548640" cy="548640"/>
          </a:xfrm>
          <a:prstGeom prst="rect">
            <a:avLst/>
          </a:prstGeom>
          <a:solidFill>
            <a:schemeClr val="bg1"/>
          </a:solidFill>
          <a:ln w="15875">
            <a:solidFill>
              <a:schemeClr val="tx1"/>
            </a:solidFill>
          </a:ln>
        </p:spPr>
        <p:txBody>
          <a:bodyPr wrap="square" lIns="0" tIns="0" rIns="0" bIns="0" rtlCol="0" anchor="ctr"/>
          <a:lstStyle/>
          <a:p>
            <a:pPr marL="0" indent="0" algn="ctr">
              <a:buNone/>
            </a:pPr>
            <a:r>
              <a:rPr lang="en-US" sz="2400" b="1" dirty="0">
                <a:solidFill>
                  <a:schemeClr val="tx1"/>
                </a:solidFill>
              </a:rPr>
              <a:t>6</a:t>
            </a:r>
            <a:endParaRPr lang="en-US" sz="2400" dirty="0"/>
          </a:p>
        </p:txBody>
      </p:sp>
      <p:sp>
        <p:nvSpPr>
          <p:cNvPr id="16" name="Text 13"/>
          <p:cNvSpPr txBox="1"/>
          <p:nvPr/>
        </p:nvSpPr>
        <p:spPr>
          <a:xfrm>
            <a:off x="10149840" y="6537960"/>
            <a:ext cx="6903720" cy="1645920"/>
          </a:xfrm>
          <a:prstGeom prst="rect">
            <a:avLst/>
          </a:prstGeom>
          <a:noFill/>
          <a:ln/>
        </p:spPr>
        <p:txBody>
          <a:bodyPr wrap="square" lIns="0" tIns="0" rIns="0" bIns="0" rtlCol="0" anchor="t"/>
          <a:lstStyle/>
          <a:p>
            <a:pPr marL="0" indent="0">
              <a:buNone/>
            </a:pPr>
            <a:r>
              <a:rPr lang="en-US" sz="2400" b="1" dirty="0">
                <a:solidFill>
                  <a:schemeClr val="tx2"/>
                </a:solidFill>
              </a:rPr>
              <a:t>Dashboard and CLI</a:t>
            </a:r>
            <a:endParaRPr lang="en-US" sz="2400" dirty="0"/>
          </a:p>
          <a:p>
            <a:pPr marL="0" indent="0">
              <a:buNone/>
            </a:pPr>
            <a:r>
              <a:rPr lang="en-US" sz="2000" dirty="0">
                <a:solidFill>
                  <a:schemeClr val="tx1"/>
                </a:solidFill>
              </a:rPr>
              <a:t>A web dashboard and a command-line demo show these results live for each operation.</a:t>
            </a:r>
            <a:endParaRPr lang="en-US" sz="2400" dirty="0"/>
          </a:p>
        </p:txBody>
      </p:sp>
      <p:sp>
        <p:nvSpPr>
          <p:cNvPr id="17" name="Text 14"/>
          <p:cNvSpPr/>
          <p:nvPr/>
        </p:nvSpPr>
        <p:spPr>
          <a:xfrm>
            <a:off x="1234440" y="8503920"/>
            <a:ext cx="15819120" cy="777240"/>
          </a:xfrm>
          <a:prstGeom prst="rect">
            <a:avLst/>
          </a:prstGeom>
          <a:solidFill>
            <a:schemeClr val="bg2"/>
          </a:solidFill>
          <a:ln w="9525">
            <a:solidFill>
              <a:srgbClr val="BFBFBF"/>
            </a:solidFill>
          </a:ln>
        </p:spPr>
        <p:txBody>
          <a:bodyPr wrap="square" lIns="203200" tIns="203200" rIns="203200" bIns="203200" rtlCol="0" anchor="ctr"/>
          <a:lstStyle/>
          <a:p>
            <a:pPr marL="0" indent="0" algn="l">
              <a:buNone/>
            </a:pPr>
            <a:r>
              <a:rPr lang="en-US" sz="2400" b="1" dirty="0">
                <a:solidFill>
                  <a:schemeClr val="tx1"/>
                </a:solidFill>
              </a:rPr>
              <a:t>Result: </a:t>
            </a:r>
            <a:r>
              <a:rPr lang="en-US" sz="2400" dirty="0">
                <a:solidFill>
                  <a:schemeClr val="tx1"/>
                </a:solidFill>
              </a:rPr>
              <a:t>the measured gas reduction is 91.4%, in agreement with the projection in the paper (Table II).</a:t>
            </a:r>
            <a:endParaRPr lang="en-US" sz="2400" dirty="0"/>
          </a:p>
        </p:txBody>
      </p:sp>
      <p:sp>
        <p:nvSpPr>
          <p:cNvPr id="25" name="Slide Number Placeholder 0"/>
          <p:cNvSpPr>
            <a:spLocks noGrp="1"/>
          </p:cNvSpPr>
          <p:nvPr>
            <p:ph type="sldNum" sz="quarter" idx="4294967295"/>
          </p:nvPr>
        </p:nvSpPr>
        <p:spPr>
          <a:xfrm>
            <a:off x="16367760" y="9601200"/>
            <a:ext cx="1097280" cy="411480"/>
          </a:xfrm>
          <a:prstGeom prst="rect">
            <a:avLst/>
          </a:prstGeom>
          <a:extLst>
            <a:ext uri="{C572A759-6A51-4108-AA02-DFA0A04FC94B}">
              <ma14:wrappingTextBoxFlag xmlns:ma14="http://schemas.microsoft.com/office/mac/drawingml/2011/main" xmlns="" val="0"/>
            </a:ext>
          </a:extLst>
        </p:spPr>
        <p:txBody>
          <a:bodyPr/>
          <a:lstStyle>
            <a:lvl1pPr>
              <a:defRPr sz="1800">
                <a:solidFill>
                  <a:schemeClr val="tx1"/>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1234440" y="274320"/>
            <a:ext cx="14630400" cy="914400"/>
          </a:xfrm>
          <a:prstGeom prst="rect">
            <a:avLst/>
          </a:prstGeom>
          <a:noFill/>
          <a:ln/>
        </p:spPr>
        <p:txBody>
          <a:bodyPr wrap="square" lIns="0" tIns="0" rIns="0" bIns="0" rtlCol="0" anchor="ctr"/>
          <a:lstStyle/>
          <a:p>
            <a:pPr marL="0" indent="0" algn="l">
              <a:buNone/>
            </a:pPr>
            <a:r>
              <a:rPr lang="en-US" sz="3600" b="1" dirty="0">
                <a:solidFill>
                  <a:schemeClr val="tx2"/>
                </a:solidFill>
              </a:rPr>
              <a:t>EXPERIMENTAL RESULTS</a:t>
            </a:r>
            <a:endParaRPr lang="en-US" sz="3600" dirty="0"/>
          </a:p>
        </p:txBody>
      </p:sp>
      <p:sp>
        <p:nvSpPr>
          <p:cNvPr id="4" name="Text 1"/>
          <p:cNvSpPr txBox="1"/>
          <p:nvPr/>
        </p:nvSpPr>
        <p:spPr>
          <a:xfrm>
            <a:off x="1234440" y="1737360"/>
            <a:ext cx="15819120" cy="731520"/>
          </a:xfrm>
          <a:prstGeom prst="rect">
            <a:avLst/>
          </a:prstGeom>
          <a:noFill/>
          <a:ln/>
        </p:spPr>
        <p:txBody>
          <a:bodyPr wrap="square" lIns="0" tIns="0" rIns="0" bIns="0" rtlCol="0" anchor="ctr"/>
          <a:lstStyle/>
          <a:p>
            <a:pPr marL="0" indent="0">
              <a:buNone/>
            </a:pPr>
            <a:r>
              <a:rPr lang="en-US" sz="2400" b="1" dirty="0">
                <a:solidFill>
                  <a:schemeClr val="tx2"/>
                </a:solidFill>
              </a:rPr>
              <a:t>Measured on-chain gas confirms the projection: a 91.4% reduction against native ML-DSA verification.</a:t>
            </a:r>
            <a:endParaRPr lang="en-US" sz="2400" dirty="0"/>
          </a:p>
        </p:txBody>
      </p:sp>
      <p:pic>
        <p:nvPicPr>
          <p:cNvPr id="5" name="Image 0" descr="Figure 3: Dashboard output, gas per operation without and with Q-EVM."/>
          <p:cNvPicPr>
            <a:picLocks noChangeAspect="1"/>
          </p:cNvPicPr>
          <p:nvPr/>
        </p:nvPicPr>
        <p:blipFill>
          <a:blip r:embed="rId3"/>
          <a:stretch>
            <a:fillRect/>
          </a:stretch>
        </p:blipFill>
        <p:spPr>
          <a:xfrm>
            <a:off x="1234439" y="2606039"/>
            <a:ext cx="7957969" cy="4661769"/>
          </a:xfrm>
          <a:prstGeom prst="rect">
            <a:avLst/>
          </a:prstGeom>
        </p:spPr>
      </p:pic>
      <p:sp>
        <p:nvSpPr>
          <p:cNvPr id="6" name="Text 2"/>
          <p:cNvSpPr txBox="1"/>
          <p:nvPr/>
        </p:nvSpPr>
        <p:spPr>
          <a:xfrm>
            <a:off x="1465728" y="7516445"/>
            <a:ext cx="7726680" cy="365760"/>
          </a:xfrm>
          <a:prstGeom prst="rect">
            <a:avLst/>
          </a:prstGeom>
          <a:noFill/>
          <a:ln/>
        </p:spPr>
        <p:txBody>
          <a:bodyPr wrap="square" lIns="0" tIns="0" rIns="0" bIns="0" rtlCol="0" anchor="t"/>
          <a:lstStyle/>
          <a:p>
            <a:pPr marL="0" indent="0" algn="ctr">
              <a:buNone/>
            </a:pPr>
            <a:r>
              <a:rPr lang="en-US" sz="1800" i="1" dirty="0">
                <a:solidFill>
                  <a:schemeClr val="tx1"/>
                </a:solidFill>
              </a:rPr>
              <a:t>Figure 3: Dashboard output, gas per operation without and with Q-EVM.</a:t>
            </a:r>
            <a:endParaRPr lang="en-US" sz="1800" dirty="0"/>
          </a:p>
        </p:txBody>
      </p:sp>
      <p:pic>
        <p:nvPicPr>
          <p:cNvPr id="7" name="Image 1" descr="Figure 4: Our node against the paper (Table II), and batching."/>
          <p:cNvPicPr>
            <a:picLocks noChangeAspect="1"/>
          </p:cNvPicPr>
          <p:nvPr/>
        </p:nvPicPr>
        <p:blipFill>
          <a:blip r:embed="rId4"/>
          <a:stretch>
            <a:fillRect/>
          </a:stretch>
        </p:blipFill>
        <p:spPr>
          <a:xfrm>
            <a:off x="9326879" y="2606040"/>
            <a:ext cx="7726681" cy="4661768"/>
          </a:xfrm>
          <a:prstGeom prst="rect">
            <a:avLst/>
          </a:prstGeom>
        </p:spPr>
      </p:pic>
      <p:sp>
        <p:nvSpPr>
          <p:cNvPr id="8" name="Text 3"/>
          <p:cNvSpPr txBox="1"/>
          <p:nvPr/>
        </p:nvSpPr>
        <p:spPr>
          <a:xfrm>
            <a:off x="9192408" y="7516445"/>
            <a:ext cx="7726680" cy="365760"/>
          </a:xfrm>
          <a:prstGeom prst="rect">
            <a:avLst/>
          </a:prstGeom>
          <a:noFill/>
          <a:ln/>
        </p:spPr>
        <p:txBody>
          <a:bodyPr wrap="square" lIns="0" tIns="0" rIns="0" bIns="0" rtlCol="0" anchor="t"/>
          <a:lstStyle/>
          <a:p>
            <a:pPr marL="0" indent="0" algn="ctr">
              <a:buNone/>
            </a:pPr>
            <a:r>
              <a:rPr lang="en-US" sz="1800" i="1" dirty="0">
                <a:solidFill>
                  <a:schemeClr val="tx1"/>
                </a:solidFill>
              </a:rPr>
              <a:t>Figure 4: Our node against the paper (Table II), and batching.</a:t>
            </a:r>
            <a:endParaRPr lang="en-US" sz="1800" dirty="0"/>
          </a:p>
        </p:txBody>
      </p:sp>
      <p:sp>
        <p:nvSpPr>
          <p:cNvPr id="9" name="Text 4"/>
          <p:cNvSpPr txBox="1"/>
          <p:nvPr/>
        </p:nvSpPr>
        <p:spPr>
          <a:xfrm>
            <a:off x="1282848" y="8263544"/>
            <a:ext cx="15819120" cy="160020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chemeClr val="tx1"/>
                </a:solidFill>
              </a:rPr>
              <a:t>Q-EVM gas is measured on a local EVM (revm); the native baseline is estimated from the ML-DSA verification steps.</a:t>
            </a:r>
            <a:endParaRPr lang="en-US" sz="2400" dirty="0"/>
          </a:p>
          <a:p>
            <a:pPr marL="342900" indent="-342900">
              <a:spcAft>
                <a:spcPts val="800"/>
              </a:spcAft>
              <a:buSzPct val="100000"/>
              <a:buChar char="•"/>
            </a:pPr>
            <a:r>
              <a:rPr lang="en-US" sz="2400" dirty="0">
                <a:solidFill>
                  <a:schemeClr val="tx1"/>
                </a:solidFill>
              </a:rPr>
              <a:t>Batching: one proof covered 8 operations, so the cost falls to about 30,000 gas per operation.</a:t>
            </a:r>
            <a:endParaRPr lang="en-US" sz="2400" dirty="0"/>
          </a:p>
          <a:p>
            <a:pPr marL="342900" indent="-342900">
              <a:spcAft>
                <a:spcPts val="800"/>
              </a:spcAft>
              <a:buSzPct val="100000"/>
              <a:buChar char="•"/>
            </a:pPr>
            <a:r>
              <a:rPr lang="en-US" sz="2400" dirty="0">
                <a:solidFill>
                  <a:schemeClr val="tx1"/>
                </a:solidFill>
              </a:rPr>
              <a:t>The prove time shown (55.7 ms) is for the receipt proof only; ML-DSA proving latency is still projected.</a:t>
            </a:r>
            <a:endParaRPr lang="en-US" sz="2400" dirty="0"/>
          </a:p>
        </p:txBody>
      </p:sp>
      <p:sp>
        <p:nvSpPr>
          <p:cNvPr id="25" name="Slide Number Placeholder 0"/>
          <p:cNvSpPr>
            <a:spLocks noGrp="1"/>
          </p:cNvSpPr>
          <p:nvPr>
            <p:ph type="sldNum" sz="quarter" idx="4294967295"/>
          </p:nvPr>
        </p:nvSpPr>
        <p:spPr>
          <a:xfrm>
            <a:off x="16367760" y="9601200"/>
            <a:ext cx="1097280" cy="411480"/>
          </a:xfrm>
          <a:prstGeom prst="rect">
            <a:avLst/>
          </a:prstGeom>
          <a:extLst>
            <a:ext uri="{C572A759-6A51-4108-AA02-DFA0A04FC94B}">
              <ma14:wrappingTextBoxFlag xmlns:ma14="http://schemas.microsoft.com/office/mac/drawingml/2011/main" xmlns="" val="0"/>
            </a:ext>
          </a:extLst>
        </p:spPr>
        <p:txBody>
          <a:bodyPr/>
          <a:lstStyle>
            <a:lvl1pPr>
              <a:defRPr sz="1800">
                <a:solidFill>
                  <a:schemeClr val="tx1"/>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1234440" y="274320"/>
            <a:ext cx="14630400" cy="914400"/>
          </a:xfrm>
          <a:prstGeom prst="rect">
            <a:avLst/>
          </a:prstGeom>
          <a:noFill/>
          <a:ln/>
        </p:spPr>
        <p:txBody>
          <a:bodyPr wrap="square" lIns="0" tIns="0" rIns="0" bIns="0" rtlCol="0" anchor="ctr"/>
          <a:lstStyle/>
          <a:p>
            <a:pPr marL="0" indent="0" algn="l">
              <a:buNone/>
            </a:pPr>
            <a:r>
              <a:rPr lang="en-US" sz="3600" b="1" dirty="0">
                <a:solidFill>
                  <a:schemeClr val="tx2"/>
                </a:solidFill>
              </a:rPr>
              <a:t>CHALLENGES / LIMITATIONS</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234440" y="1920240"/>
          <a:ext cx="15819120" cy="5303520"/>
        </p:xfrm>
        <a:graphic>
          <a:graphicData uri="http://schemas.openxmlformats.org/drawingml/2006/table">
            <a:tbl>
              <a:tblPr/>
              <a:tblGrid>
                <a:gridCol w="457200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6035040">
                  <a:extLst>
                    <a:ext uri="{9D8B030D-6E8A-4147-A177-3AD203B41FA5}">
                      <a16:colId xmlns:a16="http://schemas.microsoft.com/office/drawing/2014/main" val="20002"/>
                    </a:ext>
                  </a:extLst>
                </a:gridCol>
              </a:tblGrid>
              <a:tr h="548640">
                <a:tc>
                  <a:txBody>
                    <a:bodyPr/>
                    <a:lstStyle/>
                    <a:p>
                      <a:pPr marL="0" indent="0" algn="l">
                        <a:buNone/>
                      </a:pPr>
                      <a:r>
                        <a:rPr lang="en-US" sz="2000" b="1" dirty="0">
                          <a:solidFill>
                            <a:schemeClr val="bg1"/>
                          </a:solidFill>
                        </a:rPr>
                        <a:t>Challenge</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tx2"/>
                    </a:solidFill>
                  </a:tcPr>
                </a:tc>
                <a:tc>
                  <a:txBody>
                    <a:bodyPr/>
                    <a:lstStyle/>
                    <a:p>
                      <a:pPr marL="0" indent="0" algn="l">
                        <a:buNone/>
                      </a:pPr>
                      <a:r>
                        <a:rPr lang="en-US" sz="2000" b="1" dirty="0">
                          <a:solidFill>
                            <a:schemeClr val="bg1"/>
                          </a:solidFill>
                        </a:rPr>
                        <a:t>Root cause</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tx2"/>
                    </a:solidFill>
                  </a:tcPr>
                </a:tc>
                <a:tc>
                  <a:txBody>
                    <a:bodyPr/>
                    <a:lstStyle/>
                    <a:p>
                      <a:pPr marL="0" indent="0" algn="l">
                        <a:buNone/>
                      </a:pPr>
                      <a:r>
                        <a:rPr lang="en-US" sz="2000" b="1" dirty="0">
                          <a:solidFill>
                            <a:schemeClr val="bg1"/>
                          </a:solidFill>
                        </a:rPr>
                        <a:t>Mitigation / future direction</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68680">
                <a:tc>
                  <a:txBody>
                    <a:bodyPr/>
                    <a:lstStyle/>
                    <a:p>
                      <a:pPr marL="0" indent="0" algn="l">
                        <a:buNone/>
                      </a:pPr>
                      <a:r>
                        <a:rPr lang="en-US" sz="2000" b="1" dirty="0">
                          <a:solidFill>
                            <a:schemeClr val="tx1"/>
                          </a:solidFill>
                        </a:rPr>
                        <a:t>Proof does not yet cover the ML-DSA check itself</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The bundler verifies ML-DSA natively; the receipt records the result</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Run the complete ML-DSA verification inside RISC Zero or SP1</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868680">
                <a:tc>
                  <a:txBody>
                    <a:bodyPr/>
                    <a:lstStyle/>
                    <a:p>
                      <a:pPr marL="0" indent="0" algn="l">
                        <a:buNone/>
                      </a:pPr>
                      <a:r>
                        <a:rPr lang="en-US" sz="2000" b="1" dirty="0">
                          <a:solidFill>
                            <a:schemeClr val="tx1"/>
                          </a:solidFill>
                        </a:rPr>
                        <a:t>Single-proof latency of about 12.4 s (projected)</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Overhead of a general-purpose zkVM</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Custom ML-DSA circuit; recursive proof aggregation</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868680">
                <a:tc>
                  <a:txBody>
                    <a:bodyPr/>
                    <a:lstStyle/>
                    <a:p>
                      <a:pPr marL="0" indent="0" algn="l">
                        <a:buNone/>
                      </a:pPr>
                      <a:r>
                        <a:rPr lang="en-US" sz="2000" b="1" dirty="0">
                          <a:solidFill>
                            <a:schemeClr val="tx1"/>
                          </a:solidFill>
                        </a:rPr>
                        <a:t>Gas measured on a local EVM only</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No testnet deployment yet</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Deploy on Sepolia or an L2 and measure real transactions</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868680">
                <a:tc>
                  <a:txBody>
                    <a:bodyPr/>
                    <a:lstStyle/>
                    <a:p>
                      <a:pPr marL="0" indent="0" algn="l">
                        <a:buNone/>
                      </a:pPr>
                      <a:r>
                        <a:rPr lang="en-US" sz="2000" b="1" dirty="0">
                          <a:solidFill>
                            <a:schemeClr val="tx1"/>
                          </a:solidFill>
                        </a:rPr>
                        <a:t>2,420-byte signature</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ML-DSA-44 parameter size</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Signature stays off-chain; only the proof is verified on-chain</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640080">
                <a:tc>
                  <a:txBody>
                    <a:bodyPr/>
                    <a:lstStyle/>
                    <a:p>
                      <a:pPr marL="0" indent="0" algn="l">
                        <a:buNone/>
                      </a:pPr>
                      <a:r>
                        <a:rPr lang="en-US" sz="2000" b="1" dirty="0">
                          <a:solidFill>
                            <a:schemeClr val="tx1"/>
                          </a:solidFill>
                        </a:rPr>
                        <a:t>zkVM maturity</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Fast-evolving prover software</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Audits and upgradable verifier contracts</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r h="640080">
                <a:tc>
                  <a:txBody>
                    <a:bodyPr/>
                    <a:lstStyle/>
                    <a:p>
                      <a:pPr marL="0" indent="0" algn="l">
                        <a:buNone/>
                      </a:pPr>
                      <a:r>
                        <a:rPr lang="en-US" sz="2000" b="1" dirty="0">
                          <a:solidFill>
                            <a:schemeClr val="tx1"/>
                          </a:solidFill>
                        </a:rPr>
                        <a:t>Bundler liveness</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Proving is delegated off-chain</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2000" dirty="0">
                          <a:solidFill>
                            <a:schemeClr val="tx1"/>
                          </a:solidFill>
                        </a:rPr>
                        <a:t>Decentralised proving market</a:t>
                      </a:r>
                      <a:endParaRPr lang="en-US" sz="2000" dirty="0"/>
                    </a:p>
                  </a:txBody>
                  <a:tcPr marL="109728" marR="109728"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1"/>
          <p:cNvSpPr/>
          <p:nvPr/>
        </p:nvSpPr>
        <p:spPr>
          <a:xfrm>
            <a:off x="1234440" y="7726680"/>
            <a:ext cx="15819120" cy="1371600"/>
          </a:xfrm>
          <a:prstGeom prst="rect">
            <a:avLst/>
          </a:prstGeom>
          <a:solidFill>
            <a:schemeClr val="bg2"/>
          </a:solidFill>
          <a:ln w="9525">
            <a:solidFill>
              <a:srgbClr val="BFBFBF"/>
            </a:solidFill>
          </a:ln>
        </p:spPr>
        <p:txBody>
          <a:bodyPr wrap="square" lIns="203200" tIns="203200" rIns="203200" bIns="203200" rtlCol="0" anchor="ctr"/>
          <a:lstStyle/>
          <a:p>
            <a:pPr marL="0" indent="0" algn="l">
              <a:buNone/>
            </a:pPr>
            <a:r>
              <a:rPr lang="en-US" sz="2400" b="1" dirty="0">
                <a:solidFill>
                  <a:schemeClr val="tx1"/>
                </a:solidFill>
              </a:rPr>
              <a:t>Trade-off: </a:t>
            </a:r>
            <a:r>
              <a:rPr lang="en-US" sz="2400" dirty="0">
                <a:solidFill>
                  <a:schemeClr val="tx1"/>
                </a:solidFill>
              </a:rPr>
              <a:t>Q-EVM exchanges on-chain gas for off-chain proving and bundler infrastructure. It suits high-value and batched transactions rather than instant retail payments.</a:t>
            </a:r>
            <a:endParaRPr lang="en-US" sz="2400" dirty="0"/>
          </a:p>
        </p:txBody>
      </p:sp>
      <p:sp>
        <p:nvSpPr>
          <p:cNvPr id="25" name="Slide Number Placeholder 0"/>
          <p:cNvSpPr>
            <a:spLocks noGrp="1"/>
          </p:cNvSpPr>
          <p:nvPr>
            <p:ph type="sldNum" sz="quarter" idx="4294967295"/>
          </p:nvPr>
        </p:nvSpPr>
        <p:spPr>
          <a:xfrm>
            <a:off x="16367760" y="9601200"/>
            <a:ext cx="1097280" cy="411480"/>
          </a:xfrm>
          <a:prstGeom prst="rect">
            <a:avLst/>
          </a:prstGeom>
          <a:extLst>
            <a:ext uri="{C572A759-6A51-4108-AA02-DFA0A04FC94B}">
              <ma14:wrappingTextBoxFlag xmlns:ma14="http://schemas.microsoft.com/office/mac/drawingml/2011/main" xmlns="" val="0"/>
            </a:ext>
          </a:extLst>
        </p:spPr>
        <p:txBody>
          <a:bodyPr/>
          <a:lstStyle>
            <a:lvl1pPr>
              <a:defRPr sz="1800">
                <a:solidFill>
                  <a:schemeClr val="tx1"/>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1234440" y="274320"/>
            <a:ext cx="14630400" cy="914400"/>
          </a:xfrm>
          <a:prstGeom prst="rect">
            <a:avLst/>
          </a:prstGeom>
          <a:noFill/>
          <a:ln/>
        </p:spPr>
        <p:txBody>
          <a:bodyPr wrap="square" lIns="0" tIns="0" rIns="0" bIns="0" rtlCol="0" anchor="ctr"/>
          <a:lstStyle/>
          <a:p>
            <a:pPr marL="0" indent="0" algn="l">
              <a:buNone/>
            </a:pPr>
            <a:r>
              <a:rPr lang="en-US" sz="3600" b="1" dirty="0">
                <a:solidFill>
                  <a:schemeClr val="tx2"/>
                </a:solidFill>
              </a:rPr>
              <a:t>CONCLUSION &amp; FUTURE WORK</a:t>
            </a:r>
            <a:endParaRPr lang="en-US" sz="3600" dirty="0"/>
          </a:p>
        </p:txBody>
      </p:sp>
      <p:sp>
        <p:nvSpPr>
          <p:cNvPr id="4" name="Text 1"/>
          <p:cNvSpPr txBox="1"/>
          <p:nvPr/>
        </p:nvSpPr>
        <p:spPr>
          <a:xfrm>
            <a:off x="1234440" y="1783080"/>
            <a:ext cx="15819120" cy="868680"/>
          </a:xfrm>
          <a:prstGeom prst="rect">
            <a:avLst/>
          </a:prstGeom>
          <a:noFill/>
          <a:ln/>
        </p:spPr>
        <p:txBody>
          <a:bodyPr wrap="square" lIns="0" tIns="0" rIns="0" bIns="0" rtlCol="0" anchor="ctr"/>
          <a:lstStyle/>
          <a:p>
            <a:pPr marL="0" indent="0">
              <a:buNone/>
            </a:pPr>
            <a:r>
              <a:rPr lang="en-US" sz="2400" b="1" dirty="0">
                <a:solidFill>
                  <a:schemeClr val="tx2"/>
                </a:solidFill>
              </a:rPr>
              <a:t>Q-EVM demonstrates a forkless path to post-quantum Ethereum wallets, now backed by measured gas.</a:t>
            </a:r>
            <a:endParaRPr lang="en-US" sz="2400" dirty="0"/>
          </a:p>
        </p:txBody>
      </p:sp>
      <p:sp>
        <p:nvSpPr>
          <p:cNvPr id="5" name="Text 2"/>
          <p:cNvSpPr/>
          <p:nvPr/>
        </p:nvSpPr>
        <p:spPr>
          <a:xfrm>
            <a:off x="1234440" y="2788920"/>
            <a:ext cx="6675120" cy="1874520"/>
          </a:xfrm>
          <a:prstGeom prst="rect">
            <a:avLst/>
          </a:prstGeom>
          <a:solidFill>
            <a:schemeClr val="bg1"/>
          </a:solidFill>
          <a:ln w="15875">
            <a:solidFill>
              <a:schemeClr val="tx1"/>
            </a:solidFill>
            <a:prstDash val="solid"/>
          </a:ln>
        </p:spPr>
        <p:txBody>
          <a:bodyPr wrap="square" lIns="101600" tIns="101600" rIns="101600" bIns="101600" rtlCol="0" anchor="ctr"/>
          <a:lstStyle/>
          <a:p>
            <a:pPr marL="0" indent="0" algn="ctr">
              <a:buNone/>
            </a:pPr>
            <a:r>
              <a:rPr lang="en-US" sz="2400" b="1" dirty="0">
                <a:solidFill>
                  <a:schemeClr val="tx1"/>
                </a:solidFill>
              </a:rPr>
              <a:t>Before</a:t>
            </a:r>
            <a:endParaRPr lang="en-US" sz="2400" dirty="0"/>
          </a:p>
          <a:p>
            <a:pPr marL="0" indent="0" algn="ctr">
              <a:buNone/>
            </a:pPr>
            <a:r>
              <a:rPr lang="en-US" sz="2000" dirty="0">
                <a:solidFill>
                  <a:schemeClr val="tx1"/>
                </a:solidFill>
              </a:rPr>
              <a:t>The EVM verifies ML-DSA directly</a:t>
            </a:r>
            <a:endParaRPr lang="en-US" sz="2400" dirty="0"/>
          </a:p>
          <a:p>
            <a:pPr marL="0" indent="0" algn="ctr">
              <a:buNone/>
            </a:pPr>
            <a:r>
              <a:rPr lang="en-US" sz="2000" dirty="0">
                <a:solidFill>
                  <a:schemeClr val="tx1"/>
                </a:solidFill>
              </a:rPr>
              <a:t>About 2.8M gas per signature</a:t>
            </a:r>
            <a:endParaRPr lang="en-US" sz="2400" dirty="0"/>
          </a:p>
          <a:p>
            <a:pPr marL="0" indent="0" algn="ctr">
              <a:buNone/>
            </a:pPr>
            <a:r>
              <a:rPr lang="en-US" sz="2000" dirty="0">
                <a:solidFill>
                  <a:schemeClr val="tx1"/>
                </a:solidFill>
              </a:rPr>
              <a:t>Impractical for wallet validation</a:t>
            </a:r>
            <a:endParaRPr lang="en-US" sz="2400" dirty="0"/>
          </a:p>
        </p:txBody>
      </p:sp>
      <p:sp>
        <p:nvSpPr>
          <p:cNvPr id="6" name="Text 3"/>
          <p:cNvSpPr/>
          <p:nvPr/>
        </p:nvSpPr>
        <p:spPr>
          <a:xfrm>
            <a:off x="10378440" y="2788920"/>
            <a:ext cx="6675120" cy="1874520"/>
          </a:xfrm>
          <a:prstGeom prst="rect">
            <a:avLst/>
          </a:prstGeom>
          <a:solidFill>
            <a:schemeClr val="bg2"/>
          </a:solidFill>
          <a:ln w="15875">
            <a:solidFill>
              <a:schemeClr val="tx1"/>
            </a:solidFill>
            <a:prstDash val="solid"/>
          </a:ln>
        </p:spPr>
        <p:txBody>
          <a:bodyPr wrap="square" lIns="101600" tIns="101600" rIns="101600" bIns="101600" rtlCol="0" anchor="ctr"/>
          <a:lstStyle/>
          <a:p>
            <a:pPr marL="0" indent="0" algn="ctr">
              <a:buNone/>
            </a:pPr>
            <a:r>
              <a:rPr lang="en-US" sz="2400" b="1" dirty="0">
                <a:solidFill>
                  <a:schemeClr val="tx1"/>
                </a:solidFill>
              </a:rPr>
              <a:t>With Q-EVM</a:t>
            </a:r>
            <a:endParaRPr lang="en-US" sz="2400" dirty="0"/>
          </a:p>
          <a:p>
            <a:pPr marL="0" indent="0" algn="ctr">
              <a:buNone/>
            </a:pPr>
            <a:r>
              <a:rPr lang="en-US" sz="2000" dirty="0">
                <a:solidFill>
                  <a:schemeClr val="tx1"/>
                </a:solidFill>
              </a:rPr>
              <a:t>ML-DSA is verified off-chain</a:t>
            </a:r>
            <a:endParaRPr lang="en-US" sz="2400" dirty="0"/>
          </a:p>
          <a:p>
            <a:pPr marL="0" indent="0" algn="ctr">
              <a:buNone/>
            </a:pPr>
            <a:r>
              <a:rPr lang="en-US" sz="2000" dirty="0">
                <a:solidFill>
                  <a:schemeClr val="tx1"/>
                </a:solidFill>
              </a:rPr>
              <a:t>The wallet verifies a Groth16 receipt</a:t>
            </a:r>
            <a:endParaRPr lang="en-US" sz="2400" dirty="0"/>
          </a:p>
          <a:p>
            <a:pPr marL="0" indent="0" algn="ctr">
              <a:buNone/>
            </a:pPr>
            <a:r>
              <a:rPr lang="en-US" sz="2000" dirty="0">
                <a:solidFill>
                  <a:schemeClr val="tx1"/>
                </a:solidFill>
              </a:rPr>
              <a:t>About 240k gas (measured), no hard fork</a:t>
            </a:r>
            <a:endParaRPr lang="en-US" sz="2400" dirty="0"/>
          </a:p>
        </p:txBody>
      </p:sp>
      <p:sp>
        <p:nvSpPr>
          <p:cNvPr id="7" name="Shape 4"/>
          <p:cNvSpPr/>
          <p:nvPr/>
        </p:nvSpPr>
        <p:spPr>
          <a:xfrm>
            <a:off x="7909560" y="3726180"/>
            <a:ext cx="2468880" cy="0"/>
          </a:xfrm>
          <a:prstGeom prst="line">
            <a:avLst/>
          </a:prstGeom>
          <a:noFill/>
          <a:ln w="22225">
            <a:solidFill>
              <a:schemeClr val="tx1"/>
            </a:solidFill>
            <a:prstDash val="solid"/>
            <a:tailEnd type="triangle" w="lg" len="lg"/>
          </a:ln>
        </p:spPr>
      </p:sp>
      <p:sp>
        <p:nvSpPr>
          <p:cNvPr id="8" name="Text 5"/>
          <p:cNvSpPr txBox="1"/>
          <p:nvPr/>
        </p:nvSpPr>
        <p:spPr>
          <a:xfrm>
            <a:off x="7909560" y="3268980"/>
            <a:ext cx="2468880" cy="365760"/>
          </a:xfrm>
          <a:prstGeom prst="rect">
            <a:avLst/>
          </a:prstGeom>
          <a:noFill/>
          <a:ln/>
        </p:spPr>
        <p:txBody>
          <a:bodyPr wrap="square" lIns="0" tIns="0" rIns="0" bIns="0" rtlCol="0" anchor="b"/>
          <a:lstStyle/>
          <a:p>
            <a:pPr marL="0" indent="0" algn="ctr">
              <a:buNone/>
            </a:pPr>
            <a:r>
              <a:rPr lang="en-US" sz="1800" dirty="0">
                <a:solidFill>
                  <a:schemeClr val="tx1"/>
                </a:solidFill>
              </a:rPr>
              <a:t>91.4% less gas</a:t>
            </a:r>
            <a:endParaRPr lang="en-US" sz="1800" dirty="0"/>
          </a:p>
        </p:txBody>
      </p:sp>
      <p:sp>
        <p:nvSpPr>
          <p:cNvPr id="9" name="Text 6"/>
          <p:cNvSpPr txBox="1"/>
          <p:nvPr/>
        </p:nvSpPr>
        <p:spPr>
          <a:xfrm>
            <a:off x="1234440" y="5120640"/>
            <a:ext cx="15819120" cy="457200"/>
          </a:xfrm>
          <a:prstGeom prst="rect">
            <a:avLst/>
          </a:prstGeom>
          <a:noFill/>
          <a:ln/>
        </p:spPr>
        <p:txBody>
          <a:bodyPr wrap="square" lIns="0" tIns="0" rIns="0" bIns="0" rtlCol="0" anchor="t"/>
          <a:lstStyle/>
          <a:p>
            <a:pPr marL="0" indent="0">
              <a:buNone/>
            </a:pPr>
            <a:r>
              <a:rPr lang="en-US" sz="2400" b="1" dirty="0">
                <a:solidFill>
                  <a:schemeClr val="tx2"/>
                </a:solidFill>
              </a:rPr>
              <a:t>Work remaining</a:t>
            </a:r>
            <a:endParaRPr lang="en-US" sz="2400" dirty="0"/>
          </a:p>
        </p:txBody>
      </p:sp>
      <p:sp>
        <p:nvSpPr>
          <p:cNvPr id="10" name="Text 7"/>
          <p:cNvSpPr/>
          <p:nvPr/>
        </p:nvSpPr>
        <p:spPr>
          <a:xfrm>
            <a:off x="1234440" y="5760720"/>
            <a:ext cx="3383280" cy="2103120"/>
          </a:xfrm>
          <a:prstGeom prst="rect">
            <a:avLst/>
          </a:prstGeom>
          <a:solidFill>
            <a:schemeClr val="bg1"/>
          </a:solidFill>
          <a:ln w="15875">
            <a:solidFill>
              <a:schemeClr val="tx1"/>
            </a:solidFill>
            <a:prstDash val="solid"/>
          </a:ln>
        </p:spPr>
        <p:txBody>
          <a:bodyPr wrap="square" lIns="101600" tIns="101600" rIns="101600" bIns="101600" rtlCol="0" anchor="ctr"/>
          <a:lstStyle/>
          <a:p>
            <a:pPr marL="0" indent="0" algn="ctr">
              <a:buNone/>
            </a:pPr>
            <a:r>
              <a:rPr lang="en-US" sz="2000" b="1" dirty="0">
                <a:solidFill>
                  <a:schemeClr val="tx1"/>
                </a:solidFill>
              </a:rPr>
              <a:t>1. ML-DSA inside a zkVM</a:t>
            </a:r>
            <a:endParaRPr lang="en-US" sz="2000" dirty="0"/>
          </a:p>
          <a:p>
            <a:pPr marL="0" indent="0" algn="ctr">
              <a:buNone/>
            </a:pPr>
            <a:r>
              <a:rPr lang="en-US" sz="1800" dirty="0">
                <a:solidFill>
                  <a:schemeClr val="tx1"/>
                </a:solidFill>
              </a:rPr>
              <a:t>Run the complete verification in RISC Zero or SP1, so the proof covers the signature check</a:t>
            </a:r>
            <a:endParaRPr lang="en-US" sz="2000" dirty="0"/>
          </a:p>
        </p:txBody>
      </p:sp>
      <p:sp>
        <p:nvSpPr>
          <p:cNvPr id="11" name="Shape 8"/>
          <p:cNvSpPr/>
          <p:nvPr/>
        </p:nvSpPr>
        <p:spPr>
          <a:xfrm>
            <a:off x="4617720" y="6812280"/>
            <a:ext cx="762000" cy="0"/>
          </a:xfrm>
          <a:prstGeom prst="line">
            <a:avLst/>
          </a:prstGeom>
          <a:noFill/>
          <a:ln w="22225">
            <a:solidFill>
              <a:schemeClr val="tx1"/>
            </a:solidFill>
            <a:prstDash val="solid"/>
            <a:tailEnd type="triangle" w="lg" len="lg"/>
          </a:ln>
        </p:spPr>
      </p:sp>
      <p:sp>
        <p:nvSpPr>
          <p:cNvPr id="12" name="Text 9"/>
          <p:cNvSpPr/>
          <p:nvPr/>
        </p:nvSpPr>
        <p:spPr>
          <a:xfrm>
            <a:off x="5379720" y="5760720"/>
            <a:ext cx="3383280" cy="2103120"/>
          </a:xfrm>
          <a:prstGeom prst="rect">
            <a:avLst/>
          </a:prstGeom>
          <a:solidFill>
            <a:schemeClr val="bg1"/>
          </a:solidFill>
          <a:ln w="15875">
            <a:solidFill>
              <a:schemeClr val="tx1"/>
            </a:solidFill>
            <a:prstDash val="solid"/>
          </a:ln>
        </p:spPr>
        <p:txBody>
          <a:bodyPr wrap="square" lIns="101600" tIns="101600" rIns="101600" bIns="101600" rtlCol="0" anchor="ctr"/>
          <a:lstStyle/>
          <a:p>
            <a:pPr marL="0" indent="0" algn="ctr">
              <a:buNone/>
            </a:pPr>
            <a:r>
              <a:rPr lang="en-US" sz="2000" b="1" dirty="0">
                <a:solidFill>
                  <a:schemeClr val="tx1"/>
                </a:solidFill>
              </a:rPr>
              <a:t>2. Custom ML-DSA circuit</a:t>
            </a:r>
            <a:endParaRPr lang="en-US" sz="2000" dirty="0"/>
          </a:p>
          <a:p>
            <a:pPr marL="0" indent="0" algn="ctr">
              <a:buNone/>
            </a:pPr>
            <a:r>
              <a:rPr lang="en-US" sz="1800" dirty="0">
                <a:solidFill>
                  <a:schemeClr val="tx1"/>
                </a:solidFill>
              </a:rPr>
              <a:t>Purpose-built arithmetic circuit: proving time from about 12.4 s to under 1 s</a:t>
            </a:r>
            <a:endParaRPr lang="en-US" sz="2000" dirty="0"/>
          </a:p>
        </p:txBody>
      </p:sp>
      <p:sp>
        <p:nvSpPr>
          <p:cNvPr id="13" name="Shape 10"/>
          <p:cNvSpPr/>
          <p:nvPr/>
        </p:nvSpPr>
        <p:spPr>
          <a:xfrm>
            <a:off x="8763000" y="6812280"/>
            <a:ext cx="762000" cy="0"/>
          </a:xfrm>
          <a:prstGeom prst="line">
            <a:avLst/>
          </a:prstGeom>
          <a:noFill/>
          <a:ln w="22225">
            <a:solidFill>
              <a:schemeClr val="tx1"/>
            </a:solidFill>
            <a:prstDash val="solid"/>
            <a:tailEnd type="triangle" w="lg" len="lg"/>
          </a:ln>
        </p:spPr>
      </p:sp>
      <p:sp>
        <p:nvSpPr>
          <p:cNvPr id="14" name="Text 11"/>
          <p:cNvSpPr/>
          <p:nvPr/>
        </p:nvSpPr>
        <p:spPr>
          <a:xfrm>
            <a:off x="9525000" y="5760720"/>
            <a:ext cx="3383280" cy="2103120"/>
          </a:xfrm>
          <a:prstGeom prst="rect">
            <a:avLst/>
          </a:prstGeom>
          <a:solidFill>
            <a:schemeClr val="bg1"/>
          </a:solidFill>
          <a:ln w="15875">
            <a:solidFill>
              <a:schemeClr val="tx1"/>
            </a:solidFill>
            <a:prstDash val="solid"/>
          </a:ln>
        </p:spPr>
        <p:txBody>
          <a:bodyPr wrap="square" lIns="101600" tIns="101600" rIns="101600" bIns="101600" rtlCol="0" anchor="ctr"/>
          <a:lstStyle/>
          <a:p>
            <a:pPr marL="0" indent="0" algn="ctr">
              <a:buNone/>
            </a:pPr>
            <a:r>
              <a:rPr lang="en-US" sz="2000" b="1" dirty="0">
                <a:solidFill>
                  <a:schemeClr val="tx1"/>
                </a:solidFill>
              </a:rPr>
              <a:t>3. Recursive aggregation</a:t>
            </a:r>
            <a:endParaRPr lang="en-US" sz="2000" dirty="0"/>
          </a:p>
          <a:p>
            <a:pPr marL="0" indent="0" algn="ctr">
              <a:buNone/>
            </a:pPr>
            <a:r>
              <a:rPr lang="en-US" sz="1800" dirty="0">
                <a:solidFill>
                  <a:schemeClr val="tx1"/>
                </a:solidFill>
              </a:rPr>
              <a:t>Combine batch proofs to reach about 20,000 gas per batch</a:t>
            </a:r>
            <a:endParaRPr lang="en-US" sz="2000" dirty="0"/>
          </a:p>
        </p:txBody>
      </p:sp>
      <p:sp>
        <p:nvSpPr>
          <p:cNvPr id="15" name="Shape 12"/>
          <p:cNvSpPr/>
          <p:nvPr/>
        </p:nvSpPr>
        <p:spPr>
          <a:xfrm>
            <a:off x="12908280" y="6812280"/>
            <a:ext cx="762000" cy="0"/>
          </a:xfrm>
          <a:prstGeom prst="line">
            <a:avLst/>
          </a:prstGeom>
          <a:noFill/>
          <a:ln w="22225">
            <a:solidFill>
              <a:schemeClr val="tx1"/>
            </a:solidFill>
            <a:prstDash val="solid"/>
            <a:tailEnd type="triangle" w="lg" len="lg"/>
          </a:ln>
        </p:spPr>
      </p:sp>
      <p:sp>
        <p:nvSpPr>
          <p:cNvPr id="16" name="Text 13"/>
          <p:cNvSpPr/>
          <p:nvPr/>
        </p:nvSpPr>
        <p:spPr>
          <a:xfrm>
            <a:off x="13670280" y="5760720"/>
            <a:ext cx="3383280" cy="2103120"/>
          </a:xfrm>
          <a:prstGeom prst="rect">
            <a:avLst/>
          </a:prstGeom>
          <a:solidFill>
            <a:schemeClr val="bg1"/>
          </a:solidFill>
          <a:ln w="15875">
            <a:solidFill>
              <a:schemeClr val="tx1"/>
            </a:solidFill>
            <a:prstDash val="solid"/>
          </a:ln>
        </p:spPr>
        <p:txBody>
          <a:bodyPr wrap="square" lIns="101600" tIns="101600" rIns="101600" bIns="101600" rtlCol="0" anchor="ctr"/>
          <a:lstStyle/>
          <a:p>
            <a:pPr marL="0" indent="0" algn="ctr">
              <a:buNone/>
            </a:pPr>
            <a:r>
              <a:rPr lang="en-US" sz="2000" b="1" dirty="0">
                <a:solidFill>
                  <a:schemeClr val="tx1"/>
                </a:solidFill>
              </a:rPr>
              <a:t>4. Testnet deployment</a:t>
            </a:r>
            <a:endParaRPr lang="en-US" sz="2000" dirty="0"/>
          </a:p>
          <a:p>
            <a:pPr marL="0" indent="0" algn="ctr">
              <a:buNone/>
            </a:pPr>
            <a:r>
              <a:rPr lang="en-US" sz="1800" dirty="0">
                <a:solidFill>
                  <a:schemeClr val="tx1"/>
                </a:solidFill>
              </a:rPr>
              <a:t>Solidity smart wallet on Sepolia or an L2, with real transactions</a:t>
            </a:r>
            <a:endParaRPr lang="en-US" sz="2000" dirty="0"/>
          </a:p>
        </p:txBody>
      </p:sp>
      <p:sp>
        <p:nvSpPr>
          <p:cNvPr id="17" name="Text 14"/>
          <p:cNvSpPr/>
          <p:nvPr/>
        </p:nvSpPr>
        <p:spPr>
          <a:xfrm>
            <a:off x="1234440" y="8275320"/>
            <a:ext cx="15819120" cy="1143000"/>
          </a:xfrm>
          <a:prstGeom prst="rect">
            <a:avLst/>
          </a:prstGeom>
          <a:solidFill>
            <a:schemeClr val="bg2"/>
          </a:solidFill>
          <a:ln w="9525">
            <a:solidFill>
              <a:srgbClr val="BFBFBF"/>
            </a:solidFill>
          </a:ln>
        </p:spPr>
        <p:txBody>
          <a:bodyPr wrap="square" lIns="203200" tIns="203200" rIns="203200" bIns="203200" rtlCol="0" anchor="ctr"/>
          <a:lstStyle/>
          <a:p>
            <a:pPr marL="0" indent="0" algn="l">
              <a:buNone/>
            </a:pPr>
            <a:r>
              <a:rPr lang="en-US" sz="2400" b="1" dirty="0">
                <a:solidFill>
                  <a:schemeClr val="tx1"/>
                </a:solidFill>
              </a:rPr>
              <a:t>Conclusion: </a:t>
            </a:r>
            <a:r>
              <a:rPr lang="en-US" sz="2400" dirty="0">
                <a:solidFill>
                  <a:schemeClr val="tx1"/>
                </a:solidFill>
              </a:rPr>
              <a:t>Q-EVM turns post-quantum verification from an EVM gas bottleneck into a proof-verification workflow for high-value and batched Ethereum transactions.</a:t>
            </a:r>
            <a:endParaRPr lang="en-US" sz="2400" dirty="0"/>
          </a:p>
        </p:txBody>
      </p:sp>
      <p:sp>
        <p:nvSpPr>
          <p:cNvPr id="25" name="Slide Number Placeholder 0"/>
          <p:cNvSpPr>
            <a:spLocks noGrp="1"/>
          </p:cNvSpPr>
          <p:nvPr>
            <p:ph type="sldNum" sz="quarter" idx="4294967295"/>
          </p:nvPr>
        </p:nvSpPr>
        <p:spPr>
          <a:xfrm>
            <a:off x="16367760" y="9601200"/>
            <a:ext cx="1097280" cy="411480"/>
          </a:xfrm>
          <a:prstGeom prst="rect">
            <a:avLst/>
          </a:prstGeom>
          <a:extLst>
            <a:ext uri="{C572A759-6A51-4108-AA02-DFA0A04FC94B}">
              <ma14:wrappingTextBoxFlag xmlns:ma14="http://schemas.microsoft.com/office/mac/drawingml/2011/main" xmlns="" val="0"/>
            </a:ext>
          </a:extLst>
        </p:spPr>
        <p:txBody>
          <a:bodyPr/>
          <a:lstStyle>
            <a:lvl1pPr>
              <a:defRPr sz="1800">
                <a:solidFill>
                  <a:schemeClr val="tx1"/>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1234440" y="274320"/>
            <a:ext cx="14630400" cy="914400"/>
          </a:xfrm>
          <a:prstGeom prst="rect">
            <a:avLst/>
          </a:prstGeom>
          <a:noFill/>
          <a:ln/>
        </p:spPr>
        <p:txBody>
          <a:bodyPr wrap="square" lIns="0" tIns="0" rIns="0" bIns="0" rtlCol="0" anchor="ctr"/>
          <a:lstStyle/>
          <a:p>
            <a:pPr marL="0" indent="0" algn="l">
              <a:buNone/>
            </a:pPr>
            <a:r>
              <a:rPr lang="en-US" sz="3600" b="1" dirty="0">
                <a:solidFill>
                  <a:schemeClr val="tx2"/>
                </a:solidFill>
              </a:rPr>
              <a:t>REFERENCES</a:t>
            </a:r>
            <a:endParaRPr lang="en-US" sz="3600" dirty="0"/>
          </a:p>
        </p:txBody>
      </p:sp>
      <p:sp>
        <p:nvSpPr>
          <p:cNvPr id="4" name="Text 1"/>
          <p:cNvSpPr txBox="1"/>
          <p:nvPr/>
        </p:nvSpPr>
        <p:spPr>
          <a:xfrm>
            <a:off x="1234440" y="1874520"/>
            <a:ext cx="731520" cy="749808"/>
          </a:xfrm>
          <a:prstGeom prst="rect">
            <a:avLst/>
          </a:prstGeom>
          <a:noFill/>
          <a:ln/>
        </p:spPr>
        <p:txBody>
          <a:bodyPr wrap="square" lIns="0" tIns="0" rIns="0" bIns="0" rtlCol="0" anchor="t"/>
          <a:lstStyle/>
          <a:p>
            <a:pPr marL="0" indent="0">
              <a:buNone/>
            </a:pPr>
            <a:r>
              <a:rPr lang="en-US" sz="2000" dirty="0">
                <a:solidFill>
                  <a:schemeClr val="tx1"/>
                </a:solidFill>
              </a:rPr>
              <a:t>[1]</a:t>
            </a:r>
            <a:endParaRPr lang="en-US" sz="2000" dirty="0"/>
          </a:p>
        </p:txBody>
      </p:sp>
      <p:sp>
        <p:nvSpPr>
          <p:cNvPr id="5" name="Text 2"/>
          <p:cNvSpPr txBox="1"/>
          <p:nvPr/>
        </p:nvSpPr>
        <p:spPr>
          <a:xfrm>
            <a:off x="1965960" y="1874520"/>
            <a:ext cx="15087600" cy="749808"/>
          </a:xfrm>
          <a:prstGeom prst="rect">
            <a:avLst/>
          </a:prstGeom>
          <a:noFill/>
          <a:ln/>
        </p:spPr>
        <p:txBody>
          <a:bodyPr wrap="square" lIns="0" tIns="0" rIns="0" bIns="0" rtlCol="0" anchor="t"/>
          <a:lstStyle/>
          <a:p>
            <a:pPr marL="0" indent="0">
              <a:buNone/>
            </a:pPr>
            <a:r>
              <a:rPr lang="en-US" sz="2000" dirty="0">
                <a:solidFill>
                  <a:schemeClr val="tx1"/>
                </a:solidFill>
              </a:rPr>
              <a:t>P. W. Shor, “Algorithms for quantum computation: Discrete logarithms and factoring,” in </a:t>
            </a:r>
            <a:r>
              <a:rPr lang="en-US" sz="2000" i="1" dirty="0">
                <a:solidFill>
                  <a:schemeClr val="tx1"/>
                </a:solidFill>
              </a:rPr>
              <a:t>Proc. 35th Annu. Symp. Found. Comput. Sci.</a:t>
            </a:r>
            <a:r>
              <a:rPr lang="en-US" sz="2000" dirty="0">
                <a:solidFill>
                  <a:schemeClr val="tx1"/>
                </a:solidFill>
              </a:rPr>
              <a:t>, Santa Fe, NM, USA, Nov. 1994, pp. 124–134.</a:t>
            </a:r>
            <a:endParaRPr lang="en-US" sz="2000" dirty="0"/>
          </a:p>
        </p:txBody>
      </p:sp>
      <p:sp>
        <p:nvSpPr>
          <p:cNvPr id="6" name="Text 3"/>
          <p:cNvSpPr txBox="1"/>
          <p:nvPr/>
        </p:nvSpPr>
        <p:spPr>
          <a:xfrm>
            <a:off x="1234440" y="2825496"/>
            <a:ext cx="731520" cy="749808"/>
          </a:xfrm>
          <a:prstGeom prst="rect">
            <a:avLst/>
          </a:prstGeom>
          <a:noFill/>
          <a:ln/>
        </p:spPr>
        <p:txBody>
          <a:bodyPr wrap="square" lIns="0" tIns="0" rIns="0" bIns="0" rtlCol="0" anchor="t"/>
          <a:lstStyle/>
          <a:p>
            <a:pPr marL="0" indent="0">
              <a:buNone/>
            </a:pPr>
            <a:r>
              <a:rPr lang="en-US" sz="2000" dirty="0">
                <a:solidFill>
                  <a:schemeClr val="tx1"/>
                </a:solidFill>
              </a:rPr>
              <a:t>[2]</a:t>
            </a:r>
            <a:endParaRPr lang="en-US" sz="2000" dirty="0"/>
          </a:p>
        </p:txBody>
      </p:sp>
      <p:sp>
        <p:nvSpPr>
          <p:cNvPr id="7" name="Text 4"/>
          <p:cNvSpPr txBox="1"/>
          <p:nvPr/>
        </p:nvSpPr>
        <p:spPr>
          <a:xfrm>
            <a:off x="1965960" y="2825496"/>
            <a:ext cx="15087600" cy="749808"/>
          </a:xfrm>
          <a:prstGeom prst="rect">
            <a:avLst/>
          </a:prstGeom>
          <a:noFill/>
          <a:ln/>
        </p:spPr>
        <p:txBody>
          <a:bodyPr wrap="square" lIns="0" tIns="0" rIns="0" bIns="0" rtlCol="0" anchor="t"/>
          <a:lstStyle/>
          <a:p>
            <a:pPr marL="0" indent="0">
              <a:buNone/>
            </a:pPr>
            <a:r>
              <a:rPr lang="en-US" sz="2000" i="1" dirty="0">
                <a:solidFill>
                  <a:schemeClr val="tx1"/>
                </a:solidFill>
              </a:rPr>
              <a:t>Module-Lattice-Based Digital Signature Standard</a:t>
            </a:r>
            <a:r>
              <a:rPr lang="en-US" sz="2000" dirty="0">
                <a:solidFill>
                  <a:schemeClr val="tx1"/>
                </a:solidFill>
              </a:rPr>
              <a:t>, FIPS 204, National Institute of Standards and Technology, Gaithersburg, MD, USA, Aug. 2024, doi: 10.6028/NIST.FIPS.204.</a:t>
            </a:r>
            <a:endParaRPr lang="en-US" sz="2000" dirty="0"/>
          </a:p>
        </p:txBody>
      </p:sp>
      <p:sp>
        <p:nvSpPr>
          <p:cNvPr id="8" name="Text 5"/>
          <p:cNvSpPr txBox="1"/>
          <p:nvPr/>
        </p:nvSpPr>
        <p:spPr>
          <a:xfrm>
            <a:off x="1234440" y="3776472"/>
            <a:ext cx="731520" cy="1078992"/>
          </a:xfrm>
          <a:prstGeom prst="rect">
            <a:avLst/>
          </a:prstGeom>
          <a:noFill/>
          <a:ln/>
        </p:spPr>
        <p:txBody>
          <a:bodyPr wrap="square" lIns="0" tIns="0" rIns="0" bIns="0" rtlCol="0" anchor="t"/>
          <a:lstStyle/>
          <a:p>
            <a:pPr marL="0" indent="0">
              <a:buNone/>
            </a:pPr>
            <a:r>
              <a:rPr lang="en-US" sz="2000" dirty="0">
                <a:solidFill>
                  <a:schemeClr val="tx1"/>
                </a:solidFill>
              </a:rPr>
              <a:t>[3]</a:t>
            </a:r>
            <a:endParaRPr lang="en-US" sz="2000" dirty="0"/>
          </a:p>
        </p:txBody>
      </p:sp>
      <p:sp>
        <p:nvSpPr>
          <p:cNvPr id="9" name="Text 6"/>
          <p:cNvSpPr txBox="1"/>
          <p:nvPr/>
        </p:nvSpPr>
        <p:spPr>
          <a:xfrm>
            <a:off x="1965960" y="3776472"/>
            <a:ext cx="15087600" cy="1078992"/>
          </a:xfrm>
          <a:prstGeom prst="rect">
            <a:avLst/>
          </a:prstGeom>
          <a:noFill/>
          <a:ln/>
        </p:spPr>
        <p:txBody>
          <a:bodyPr wrap="square" lIns="0" tIns="0" rIns="0" bIns="0" rtlCol="0" anchor="t"/>
          <a:lstStyle/>
          <a:p>
            <a:pPr marL="0" indent="0">
              <a:buNone/>
            </a:pPr>
            <a:r>
              <a:rPr lang="en-US" sz="2000" dirty="0">
                <a:solidFill>
                  <a:schemeClr val="tx1"/>
                </a:solidFill>
              </a:rPr>
              <a:t>A. G. Schemitt, H. F. da Silva, R. C. Lunardi, D. Kreutz, R. B. Mansilha, and A. F. Zorzo, “Assessing the impact of post-quantum digital signature algorithms on blockchains,” in </a:t>
            </a:r>
            <a:r>
              <a:rPr lang="en-US" sz="2000" i="1" dirty="0">
                <a:solidFill>
                  <a:schemeClr val="tx1"/>
                </a:solidFill>
              </a:rPr>
              <a:t>Proc. IEEE 24th Int. Conf. Trust, Secur. Privacy Comput. Commun. (TrustCom)</a:t>
            </a:r>
            <a:r>
              <a:rPr lang="en-US" sz="2000" dirty="0">
                <a:solidFill>
                  <a:schemeClr val="tx1"/>
                </a:solidFill>
              </a:rPr>
              <a:t>, Guiyang, China, Nov. 2025, pp. 2373–2380.</a:t>
            </a:r>
            <a:endParaRPr lang="en-US" sz="2000" dirty="0"/>
          </a:p>
        </p:txBody>
      </p:sp>
      <p:sp>
        <p:nvSpPr>
          <p:cNvPr id="10" name="Text 7"/>
          <p:cNvSpPr txBox="1"/>
          <p:nvPr/>
        </p:nvSpPr>
        <p:spPr>
          <a:xfrm>
            <a:off x="1234440" y="5056632"/>
            <a:ext cx="731520" cy="749808"/>
          </a:xfrm>
          <a:prstGeom prst="rect">
            <a:avLst/>
          </a:prstGeom>
          <a:noFill/>
          <a:ln/>
        </p:spPr>
        <p:txBody>
          <a:bodyPr wrap="square" lIns="0" tIns="0" rIns="0" bIns="0" rtlCol="0" anchor="t"/>
          <a:lstStyle/>
          <a:p>
            <a:pPr marL="0" indent="0">
              <a:buNone/>
            </a:pPr>
            <a:r>
              <a:rPr lang="en-US" sz="2000" dirty="0">
                <a:solidFill>
                  <a:schemeClr val="tx1"/>
                </a:solidFill>
              </a:rPr>
              <a:t>[4]</a:t>
            </a:r>
            <a:endParaRPr lang="en-US" sz="2000" dirty="0"/>
          </a:p>
        </p:txBody>
      </p:sp>
      <p:sp>
        <p:nvSpPr>
          <p:cNvPr id="11" name="Text 8"/>
          <p:cNvSpPr txBox="1"/>
          <p:nvPr/>
        </p:nvSpPr>
        <p:spPr>
          <a:xfrm>
            <a:off x="1965960" y="5056632"/>
            <a:ext cx="15087600" cy="749808"/>
          </a:xfrm>
          <a:prstGeom prst="rect">
            <a:avLst/>
          </a:prstGeom>
          <a:noFill/>
          <a:ln/>
        </p:spPr>
        <p:txBody>
          <a:bodyPr wrap="square" lIns="0" tIns="0" rIns="0" bIns="0" rtlCol="0" anchor="t"/>
          <a:lstStyle/>
          <a:p>
            <a:pPr marL="0" indent="0">
              <a:buNone/>
            </a:pPr>
            <a:r>
              <a:rPr lang="en-US" sz="2000" dirty="0">
                <a:solidFill>
                  <a:schemeClr val="tx1"/>
                </a:solidFill>
              </a:rPr>
              <a:t>V. Buterin </a:t>
            </a:r>
            <a:r>
              <a:rPr lang="en-US" sz="2000" i="1" dirty="0">
                <a:solidFill>
                  <a:schemeClr val="tx1"/>
                </a:solidFill>
              </a:rPr>
              <a:t>et al.</a:t>
            </a:r>
            <a:r>
              <a:rPr lang="en-US" sz="2000" dirty="0">
                <a:solidFill>
                  <a:schemeClr val="tx1"/>
                </a:solidFill>
              </a:rPr>
              <a:t>, “ERC-4337: Account abstraction using alt mempool,” </a:t>
            </a:r>
            <a:r>
              <a:rPr lang="en-US" sz="2000" i="1" dirty="0">
                <a:solidFill>
                  <a:schemeClr val="tx1"/>
                </a:solidFill>
              </a:rPr>
              <a:t>Ethereum Improvement Proposals</a:t>
            </a:r>
            <a:r>
              <a:rPr lang="en-US" sz="2000" dirty="0">
                <a:solidFill>
                  <a:schemeClr val="tx1"/>
                </a:solidFill>
              </a:rPr>
              <a:t>, no. 4337, Sep. 2021. [Online]. Available: https://eips.ethereum.org/EIPS/eip-4337</a:t>
            </a:r>
            <a:endParaRPr lang="en-US" sz="2000" dirty="0"/>
          </a:p>
        </p:txBody>
      </p:sp>
      <p:sp>
        <p:nvSpPr>
          <p:cNvPr id="12" name="Text 9"/>
          <p:cNvSpPr txBox="1"/>
          <p:nvPr/>
        </p:nvSpPr>
        <p:spPr>
          <a:xfrm>
            <a:off x="1234440" y="6007608"/>
            <a:ext cx="731520" cy="420624"/>
          </a:xfrm>
          <a:prstGeom prst="rect">
            <a:avLst/>
          </a:prstGeom>
          <a:noFill/>
          <a:ln/>
        </p:spPr>
        <p:txBody>
          <a:bodyPr wrap="square" lIns="0" tIns="0" rIns="0" bIns="0" rtlCol="0" anchor="t"/>
          <a:lstStyle/>
          <a:p>
            <a:pPr marL="0" indent="0">
              <a:buNone/>
            </a:pPr>
            <a:r>
              <a:rPr lang="en-US" sz="2000" dirty="0">
                <a:solidFill>
                  <a:schemeClr val="tx1"/>
                </a:solidFill>
              </a:rPr>
              <a:t>[5]</a:t>
            </a:r>
            <a:endParaRPr lang="en-US" sz="2000" dirty="0"/>
          </a:p>
        </p:txBody>
      </p:sp>
      <p:sp>
        <p:nvSpPr>
          <p:cNvPr id="13" name="Text 10"/>
          <p:cNvSpPr txBox="1"/>
          <p:nvPr/>
        </p:nvSpPr>
        <p:spPr>
          <a:xfrm>
            <a:off x="1965960" y="6007608"/>
            <a:ext cx="15087600" cy="420624"/>
          </a:xfrm>
          <a:prstGeom prst="rect">
            <a:avLst/>
          </a:prstGeom>
          <a:noFill/>
          <a:ln/>
        </p:spPr>
        <p:txBody>
          <a:bodyPr wrap="square" lIns="0" tIns="0" rIns="0" bIns="0" rtlCol="0" anchor="t"/>
          <a:lstStyle/>
          <a:p>
            <a:pPr marL="0" indent="0">
              <a:buNone/>
            </a:pPr>
            <a:r>
              <a:rPr lang="en-US" sz="2000" dirty="0">
                <a:solidFill>
                  <a:schemeClr val="tx1"/>
                </a:solidFill>
              </a:rPr>
              <a:t>M. Raikwar, D. Gligoroski, and K. Kralevska, “SoK of used cryptography in blockchain,” </a:t>
            </a:r>
            <a:r>
              <a:rPr lang="en-US" sz="2000" i="1" dirty="0">
                <a:solidFill>
                  <a:schemeClr val="tx1"/>
                </a:solidFill>
              </a:rPr>
              <a:t>IEEE Access</a:t>
            </a:r>
            <a:r>
              <a:rPr lang="en-US" sz="2000" dirty="0">
                <a:solidFill>
                  <a:schemeClr val="tx1"/>
                </a:solidFill>
              </a:rPr>
              <a:t>, vol. 7, pp. 148550–148575, 2019.</a:t>
            </a:r>
            <a:endParaRPr lang="en-US" sz="2000" dirty="0"/>
          </a:p>
        </p:txBody>
      </p:sp>
      <p:sp>
        <p:nvSpPr>
          <p:cNvPr id="14" name="Text 11"/>
          <p:cNvSpPr txBox="1"/>
          <p:nvPr/>
        </p:nvSpPr>
        <p:spPr>
          <a:xfrm>
            <a:off x="1234440" y="6629400"/>
            <a:ext cx="731520" cy="749808"/>
          </a:xfrm>
          <a:prstGeom prst="rect">
            <a:avLst/>
          </a:prstGeom>
          <a:noFill/>
          <a:ln/>
        </p:spPr>
        <p:txBody>
          <a:bodyPr wrap="square" lIns="0" tIns="0" rIns="0" bIns="0" rtlCol="0" anchor="t"/>
          <a:lstStyle/>
          <a:p>
            <a:pPr marL="0" indent="0">
              <a:buNone/>
            </a:pPr>
            <a:r>
              <a:rPr lang="en-US" sz="2000" dirty="0">
                <a:solidFill>
                  <a:schemeClr val="tx1"/>
                </a:solidFill>
              </a:rPr>
              <a:t>[6]</a:t>
            </a:r>
            <a:endParaRPr lang="en-US" sz="2000" dirty="0"/>
          </a:p>
        </p:txBody>
      </p:sp>
      <p:sp>
        <p:nvSpPr>
          <p:cNvPr id="15" name="Text 12"/>
          <p:cNvSpPr txBox="1"/>
          <p:nvPr/>
        </p:nvSpPr>
        <p:spPr>
          <a:xfrm>
            <a:off x="1965960" y="6629400"/>
            <a:ext cx="15087600" cy="749808"/>
          </a:xfrm>
          <a:prstGeom prst="rect">
            <a:avLst/>
          </a:prstGeom>
          <a:noFill/>
          <a:ln/>
        </p:spPr>
        <p:txBody>
          <a:bodyPr wrap="square" lIns="0" tIns="0" rIns="0" bIns="0" rtlCol="0" anchor="t"/>
          <a:lstStyle/>
          <a:p>
            <a:pPr marL="0" indent="0">
              <a:buNone/>
            </a:pPr>
            <a:r>
              <a:rPr lang="en-US" sz="2000" dirty="0">
                <a:solidFill>
                  <a:schemeClr val="tx1"/>
                </a:solidFill>
              </a:rPr>
              <a:t>R. Dubois </a:t>
            </a:r>
            <a:r>
              <a:rPr lang="en-US" sz="2000" i="1" dirty="0">
                <a:solidFill>
                  <a:schemeClr val="tx1"/>
                </a:solidFill>
              </a:rPr>
              <a:t>et al.</a:t>
            </a:r>
            <a:r>
              <a:rPr lang="en-US" sz="2000" dirty="0">
                <a:solidFill>
                  <a:schemeClr val="tx1"/>
                </a:solidFill>
              </a:rPr>
              <a:t>, “EIP-8052: Precompile for Falcon support,” </a:t>
            </a:r>
            <a:r>
              <a:rPr lang="en-US" sz="2000" i="1" dirty="0">
                <a:solidFill>
                  <a:schemeClr val="tx1"/>
                </a:solidFill>
              </a:rPr>
              <a:t>Ethereum Improvement Proposals</a:t>
            </a:r>
            <a:r>
              <a:rPr lang="en-US" sz="2000" dirty="0">
                <a:solidFill>
                  <a:schemeClr val="tx1"/>
                </a:solidFill>
              </a:rPr>
              <a:t>, no. 8052, Oct. 2025. [Online]. Available: https://eips.ethereum.org/EIPS/eip-8052</a:t>
            </a:r>
            <a:endParaRPr lang="en-US" sz="2000" dirty="0"/>
          </a:p>
        </p:txBody>
      </p:sp>
      <p:sp>
        <p:nvSpPr>
          <p:cNvPr id="16" name="Text 13"/>
          <p:cNvSpPr txBox="1"/>
          <p:nvPr/>
        </p:nvSpPr>
        <p:spPr>
          <a:xfrm>
            <a:off x="1234440" y="7580376"/>
            <a:ext cx="731520" cy="420624"/>
          </a:xfrm>
          <a:prstGeom prst="rect">
            <a:avLst/>
          </a:prstGeom>
          <a:noFill/>
          <a:ln/>
        </p:spPr>
        <p:txBody>
          <a:bodyPr wrap="square" lIns="0" tIns="0" rIns="0" bIns="0" rtlCol="0" anchor="t"/>
          <a:lstStyle/>
          <a:p>
            <a:pPr marL="0" indent="0">
              <a:buNone/>
            </a:pPr>
            <a:r>
              <a:rPr lang="en-US" sz="2000" dirty="0">
                <a:solidFill>
                  <a:schemeClr val="tx1"/>
                </a:solidFill>
              </a:rPr>
              <a:t>[7]</a:t>
            </a:r>
            <a:endParaRPr lang="en-US" sz="2000" dirty="0"/>
          </a:p>
        </p:txBody>
      </p:sp>
      <p:sp>
        <p:nvSpPr>
          <p:cNvPr id="17" name="Text 14"/>
          <p:cNvSpPr txBox="1"/>
          <p:nvPr/>
        </p:nvSpPr>
        <p:spPr>
          <a:xfrm>
            <a:off x="1965960" y="7580376"/>
            <a:ext cx="15087600" cy="420624"/>
          </a:xfrm>
          <a:prstGeom prst="rect">
            <a:avLst/>
          </a:prstGeom>
          <a:noFill/>
          <a:ln/>
        </p:spPr>
        <p:txBody>
          <a:bodyPr wrap="square" lIns="0" tIns="0" rIns="0" bIns="0" rtlCol="0" anchor="t"/>
          <a:lstStyle/>
          <a:p>
            <a:pPr marL="0" indent="0">
              <a:buNone/>
            </a:pPr>
            <a:r>
              <a:rPr lang="en-US" sz="2000" dirty="0">
                <a:solidFill>
                  <a:schemeClr val="tx1"/>
                </a:solidFill>
              </a:rPr>
              <a:t>RISC Zero. “RISC Zero developer docs.” Accessed: Oct. 13, 2026. [Online]. Available: https://dev.risczero.com/api/</a:t>
            </a:r>
            <a:endParaRPr lang="en-US" sz="2000" dirty="0"/>
          </a:p>
        </p:txBody>
      </p:sp>
      <p:sp>
        <p:nvSpPr>
          <p:cNvPr id="18" name="Text 15"/>
          <p:cNvSpPr txBox="1"/>
          <p:nvPr/>
        </p:nvSpPr>
        <p:spPr>
          <a:xfrm>
            <a:off x="1234440" y="8202168"/>
            <a:ext cx="731520" cy="749808"/>
          </a:xfrm>
          <a:prstGeom prst="rect">
            <a:avLst/>
          </a:prstGeom>
          <a:noFill/>
          <a:ln/>
        </p:spPr>
        <p:txBody>
          <a:bodyPr wrap="square" lIns="0" tIns="0" rIns="0" bIns="0" rtlCol="0" anchor="t"/>
          <a:lstStyle/>
          <a:p>
            <a:pPr marL="0" indent="0">
              <a:buNone/>
            </a:pPr>
            <a:r>
              <a:rPr lang="en-US" sz="2000" dirty="0">
                <a:solidFill>
                  <a:schemeClr val="tx1"/>
                </a:solidFill>
              </a:rPr>
              <a:t>[8]</a:t>
            </a:r>
            <a:endParaRPr lang="en-US" sz="2000" dirty="0"/>
          </a:p>
        </p:txBody>
      </p:sp>
      <p:sp>
        <p:nvSpPr>
          <p:cNvPr id="19" name="Text 16"/>
          <p:cNvSpPr txBox="1"/>
          <p:nvPr/>
        </p:nvSpPr>
        <p:spPr>
          <a:xfrm>
            <a:off x="1965960" y="8202168"/>
            <a:ext cx="15087600" cy="749808"/>
          </a:xfrm>
          <a:prstGeom prst="rect">
            <a:avLst/>
          </a:prstGeom>
          <a:noFill/>
          <a:ln/>
        </p:spPr>
        <p:txBody>
          <a:bodyPr wrap="square" lIns="0" tIns="0" rIns="0" bIns="0" rtlCol="0" anchor="t"/>
          <a:lstStyle/>
          <a:p>
            <a:pPr marL="0" indent="0">
              <a:buNone/>
            </a:pPr>
            <a:r>
              <a:rPr lang="en-US" sz="2000" dirty="0">
                <a:solidFill>
                  <a:schemeClr val="tx1"/>
                </a:solidFill>
              </a:rPr>
              <a:t>“CVE-2026-24850: ML-DSA signature verification accepts signatures with repeated hint indices,” </a:t>
            </a:r>
            <a:r>
              <a:rPr lang="en-US" sz="2000" i="1" dirty="0">
                <a:solidFill>
                  <a:schemeClr val="tx1"/>
                </a:solidFill>
              </a:rPr>
              <a:t>CVE Program</a:t>
            </a:r>
            <a:r>
              <a:rPr lang="en-US" sz="2000" dirty="0">
                <a:solidFill>
                  <a:schemeClr val="tx1"/>
                </a:solidFill>
              </a:rPr>
              <a:t>, MITRE Corp., Jan. 2026. [Online]. Available: https://www.cve.org/CVERecord?id=CVE-2026-24850</a:t>
            </a:r>
            <a:endParaRPr lang="en-US" sz="2000" dirty="0"/>
          </a:p>
        </p:txBody>
      </p:sp>
      <p:sp>
        <p:nvSpPr>
          <p:cNvPr id="25" name="Slide Number Placeholder 0"/>
          <p:cNvSpPr>
            <a:spLocks noGrp="1"/>
          </p:cNvSpPr>
          <p:nvPr>
            <p:ph type="sldNum" sz="quarter" idx="4294967295"/>
          </p:nvPr>
        </p:nvSpPr>
        <p:spPr>
          <a:xfrm>
            <a:off x="16367760" y="9601200"/>
            <a:ext cx="1097280" cy="411480"/>
          </a:xfrm>
          <a:prstGeom prst="rect">
            <a:avLst/>
          </a:prstGeom>
          <a:extLst>
            <a:ext uri="{C572A759-6A51-4108-AA02-DFA0A04FC94B}">
              <ma14:wrappingTextBoxFlag xmlns:ma14="http://schemas.microsoft.com/office/mac/drawingml/2011/main" xmlns="" val="0"/>
            </a:ext>
          </a:extLst>
        </p:spPr>
        <p:txBody>
          <a:bodyPr/>
          <a:lstStyle>
            <a:lvl1pPr>
              <a:defRPr sz="1800">
                <a:solidFill>
                  <a:schemeClr val="tx1"/>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6367760" y="9601200"/>
            <a:ext cx="1097280" cy="411480"/>
          </a:xfrm>
          <a:prstGeom prst="rect">
            <a:avLst/>
          </a:prstGeom>
          <a:extLst>
            <a:ext uri="{C572A759-6A51-4108-AA02-DFA0A04FC94B}">
              <ma14:wrappingTextBoxFlag xmlns:ma14="http://schemas.microsoft.com/office/mac/drawingml/2011/main" xmlns="" val="0"/>
            </a:ext>
          </a:extLst>
        </p:spPr>
        <p:txBody>
          <a:bodyPr/>
          <a:lstStyle>
            <a:lvl1pPr>
              <a:defRPr sz="1800">
                <a:solidFill>
                  <a:schemeClr val="tx1"/>
                </a:solidFill>
              </a:defRPr>
            </a:lvl1pPr>
          </a:lstStyle>
          <a:p>
            <a:pPr algn="r"/>
            <a:fld id="{F7021451-1387-4CA6-816F-3879F97B5CBC}" type="slidenum">
              <a:rPr lang="en-US" b="0"/>
              <a:t>10</a:t>
            </a:fld>
            <a:endParaRPr lang="en-US"/>
          </a:p>
        </p:txBody>
      </p:sp>
      <p:sp>
        <p:nvSpPr>
          <p:cNvPr id="22" name="TextBox 21">
            <a:extLst>
              <a:ext uri="{FF2B5EF4-FFF2-40B4-BE49-F238E27FC236}">
                <a16:creationId xmlns:a16="http://schemas.microsoft.com/office/drawing/2014/main" id="{6627354A-32B6-0251-C195-F7EC029C88A1}"/>
              </a:ext>
            </a:extLst>
          </p:cNvPr>
          <p:cNvSpPr txBox="1"/>
          <p:nvPr/>
        </p:nvSpPr>
        <p:spPr>
          <a:xfrm>
            <a:off x="7412181" y="4712613"/>
            <a:ext cx="4100946" cy="861774"/>
          </a:xfrm>
          <a:prstGeom prst="rect">
            <a:avLst/>
          </a:prstGeom>
          <a:noFill/>
        </p:spPr>
        <p:txBody>
          <a:bodyPr wrap="square" rtlCol="0">
            <a:spAutoFit/>
          </a:bodyPr>
          <a:lstStyle/>
          <a:p>
            <a:r>
              <a:rPr lang="en-US" sz="5000" b="1" dirty="0"/>
              <a:t>Thank You !</a:t>
            </a:r>
          </a:p>
        </p:txBody>
      </p:sp>
    </p:spTree>
  </p:cSld>
  <p:clrMapOvr>
    <a:masterClrMapping/>
  </p:clrMapOvr>
</p:sld>
</file>

<file path=ppt/theme/theme1.xml><?xml version="1.0" encoding="utf-8"?>
<a:theme xmlns:a="http://schemas.openxmlformats.org/drawingml/2006/main" name="IIIT Kota Q-EVM">
  <a:themeElements>
    <a:clrScheme name="IIIT Kota Q-EVM">
      <a:dk1>
        <a:srgbClr val="111111"/>
      </a:dk1>
      <a:lt1>
        <a:srgbClr val="FFFFFF"/>
      </a:lt1>
      <a:dk2>
        <a:srgbClr val="1F2A44"/>
      </a:dk2>
      <a:lt2>
        <a:srgbClr val="F2F2F2"/>
      </a:lt2>
      <a:accent1>
        <a:srgbClr val="F37021"/>
      </a:accent1>
      <a:accent2>
        <a:srgbClr val="1F2A44"/>
      </a:accent2>
      <a:accent3>
        <a:srgbClr val="404040"/>
      </a:accent3>
      <a:accent4>
        <a:srgbClr val="7F7F7F"/>
      </a:accent4>
      <a:accent5>
        <a:srgbClr val="A6A6A6"/>
      </a:accent5>
      <a:accent6>
        <a:srgbClr val="D9D9D9"/>
      </a:accent6>
      <a:hlink>
        <a:srgbClr val="1F2A44"/>
      </a:hlink>
      <a:folHlink>
        <a:srgbClr val="404040"/>
      </a:folHlink>
    </a:clrScheme>
    <a:fontScheme name="IIIT Kota Q-EVM">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2447</Words>
  <Application>Microsoft Office PowerPoint</Application>
  <PresentationFormat>Custom</PresentationFormat>
  <Paragraphs>202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Times New Roman</vt:lpstr>
      <vt:lpstr>IIIT Kota Q-EVM</vt:lpstr>
      <vt:lpstr>Q-EVM: A QUANTUM-RESISTANT ACCOUNT ABSTRACTION LAYER FOR ETHEREUM</vt:lpstr>
      <vt:lpstr>PROBLEM STATEMENT &amp; OBJECTIVES</vt:lpstr>
      <vt:lpstr>LITERATURE REVIEW &amp; GAP IDENTIFIED</vt:lpstr>
      <vt:lpstr>PROPOSED ARCHITECTURE</vt:lpstr>
      <vt:lpstr>WORK DONE THIS SEMESTER</vt:lpstr>
      <vt:lpstr>EXPERIMENTAL RESULTS</vt:lpstr>
      <vt:lpstr>CHALLENGES / LIMITATIONS</vt:lpstr>
      <vt:lpstr>CONCLUSION &amp; FUTURE WORK</vt:lpstr>
      <vt:lpstr>REFERENCES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Q-EVM: A Quantum-Resistant Account Abstraction Layer for Ethereum</dc:title>
  <dc:subject>CSD-401 Project Presentation, Group 52</dc:subject>
  <dc:creator>Mohit Anuragi, Srikanth Reddy</dc:creator>
  <cp:lastModifiedBy>Mohit Anuragi</cp:lastModifiedBy>
  <cp:revision>3</cp:revision>
  <dcterms:created xsi:type="dcterms:W3CDTF">2026-10-13T16:37:04Z</dcterms:created>
  <dcterms:modified xsi:type="dcterms:W3CDTF">2026-10-13T17:33:17Z</dcterms:modified>
</cp:coreProperties>
</file>