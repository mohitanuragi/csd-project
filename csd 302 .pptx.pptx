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Bold" charset="1" panose="02020803070505020304"/>
      <p:regular r:id="rId17"/>
    </p:embeddedFont>
    <p:embeddedFont>
      <p:font typeface="Times New Roman" charset="1" panose="02020603050405020304"/>
      <p:regular r:id="rId18"/>
    </p:embeddedFont>
    <p:embeddedFont>
      <p:font typeface="Georgia Bold" charset="1" panose="02040802050405020203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2"/>
    </p:embeddedFont>
    <p:embeddedFont>
      <p:font typeface="Calibri (MS) Italics" charset="1" panose="020F05020202040A0204"/>
      <p:regular r:id="rId25"/>
    </p:embeddedFont>
    <p:embeddedFont>
      <p:font typeface="Consolas" charset="1" panose="020B0609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Q-EVM as a forkless post-quantum security layer for Ethereum. The project does not change Ethereum consensus; it shifts expensive ML-DSA verification into a zkVM and keeps on-chain validation compact. Suggested animation: reveal the four architecture blocks from left to right.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Focus on the engineering problem, not blockchain basics. ML-DSA gives quantum resistance, but native EVM verification is too expensive. Q-EVM uses ERC-4337 and zk proofs to avoid a hard fork. Suggested animation: build the triangle corners first, then reveal Q-EVM in the center.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that Q-EVM is different because it combines account abstraction with zkVM receipts for post-quantum signatures. Avoid spending time on detailed literature; use the table to defend the research gap. Suggested animation: reveal rows one by one and show the research gap band last.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main architecture slide. Ethereum still sees a normal ERC-4337 transaction path, but the smart wallet checks a proof that ML-DSA verification succeeded. Suggested animation: move a highlighted packet from wallet to bundler to zkVM to smart wallet.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 this slide to show that the project is implementation-oriented. The measured result is the RISC-V cycle count. Gas and proving latency values are projected from verifier/prover benchmarks, so say that clearly in viva. Suggested animation: reveal the three implementation columns, then show the cycle-count badge.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Make the comparison carefully. Q-EVM does not beat ECDSA because ECDSA has a native precompile. The important comparison is Q-EVM versus native ML-DSA without a hard fork. Also state that the cycle count is measured, while gas and proving times are projected.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slide should sound honest. Q-EVM is not perfect for instant retail payments because single proof latency is high. Its stronger use cases are batched settlement, exchanges, rollups, and high-value wallets. Suggested animation: reveal each challenge paired with its mitigation.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with the contribution: architecture plus quantified trade-offs. Say: Q-EVM shows that post-quantum Ethereum wallets do not necessarily need to wait for a hard fork. By combining ERC-4337 with zkVM-based ML-DSA verification, we shift expensive cryptography off-chain and reduce projected gas by 91.4 percent compared to native ML-DSA verification. Future work is testnet deployment, recursive proofs, custom circuits, and decentralized proving.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9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5" id="5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27647" y="475117"/>
            <a:ext cx="14001255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1F2A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INDIAN INSTITUTE OF INFORMATION TECHNOLOGY KOTA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352809" y="1866757"/>
            <a:ext cx="35509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CSD-401Project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22141" y="2362057"/>
            <a:ext cx="18300821" cy="320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7206" y="2892414"/>
            <a:ext cx="1496212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E1A12"/>
                </a:solidFill>
                <a:latin typeface="Georgia Bold"/>
                <a:ea typeface="Georgia Bold"/>
                <a:cs typeface="Georgia Bold"/>
                <a:sym typeface="Georgia Bold"/>
              </a:rPr>
              <a:t>Q-EVM: A QUANTUM-RESISTANT</a:t>
            </a:r>
          </a:p>
          <a:p>
            <a:pPr algn="ctr">
              <a:lnSpc>
                <a:spcPts val="3960"/>
              </a:lnSpc>
            </a:pPr>
            <a:r>
              <a:rPr lang="en-US" b="true" sz="3300">
                <a:solidFill>
                  <a:srgbClr val="0E1A12"/>
                </a:solidFill>
                <a:latin typeface="Georgia Bold"/>
                <a:ea typeface="Georgia Bold"/>
                <a:cs typeface="Georgia Bold"/>
                <a:sym typeface="Georgia Bold"/>
              </a:rPr>
              <a:t>ACCOUNT ABSTRACTION LAYER FOR ETHEREUM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136" y="4044939"/>
            <a:ext cx="1830082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E1A12"/>
                </a:solidFill>
                <a:latin typeface="Calibri (MS)"/>
                <a:ea typeface="Calibri (MS)"/>
                <a:cs typeface="Calibri (MS)"/>
                <a:sym typeface="Calibri (MS)"/>
              </a:rPr>
              <a:t>Blockchain Security | Post-Quantum Cryptography | Zero Knowledge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0" y="5035539"/>
            <a:ext cx="18300821" cy="34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043444" y="5535292"/>
            <a:ext cx="22408816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11111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Mohit Anuragi (2023KUCP1155)</a:t>
            </a:r>
          </a:p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11111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Srikanth Reddy (2023KUCP1151)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1904" y="7157640"/>
            <a:ext cx="28727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1111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4" y="7638462"/>
            <a:ext cx="18300821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11111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Isha Pathak Tripathi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2309" y="9397994"/>
            <a:ext cx="18395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11111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#52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74436" y="9397994"/>
            <a:ext cx="219525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1"/>
              </a:lnSpc>
            </a:pPr>
            <a:r>
              <a:rPr lang="en-US" sz="2101" b="true">
                <a:solidFill>
                  <a:srgbClr val="11111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 OCT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38690" y="9091612"/>
            <a:ext cx="656844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Indian Institute of Information Technology Kota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71050" y="8608107"/>
            <a:ext cx="690372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12093"/>
            <a:ext cx="14687598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PROBLEM STATEMENT &amp; OBJECTIVES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895426" y="9735836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9302" y="2109102"/>
            <a:ext cx="9577575" cy="474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733" indent="-305867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Ethereum accounts depend on ECDSA, which is vulnerable to future quantum attacks.</a:t>
            </a:r>
          </a:p>
          <a:p>
            <a:pPr algn="l" marL="611733" indent="-305867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ML-DSA verification inside the EVM is impractical: approx. 2.8M gas.</a:t>
            </a:r>
          </a:p>
          <a:p>
            <a:pPr algn="l" marL="611733" indent="-305867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Hard-fork precompiles can reduce cost but require protocol governance.</a:t>
            </a:r>
          </a:p>
          <a:p>
            <a:pPr algn="l">
              <a:lnSpc>
                <a:spcPts val="3400"/>
              </a:lnSpc>
            </a:pPr>
          </a:p>
          <a:p>
            <a:pPr algn="l" marL="611733" indent="-305867" lvl="1">
              <a:lnSpc>
                <a:spcPts val="3400"/>
              </a:lnSpc>
              <a:buFont typeface="Arial"/>
              <a:buChar char="•"/>
            </a:pPr>
            <a:r>
              <a:rPr lang="en-US" b="true" sz="2833">
                <a:solidFill>
                  <a:srgbClr val="26323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</a:t>
            </a:r>
            <a:r>
              <a:rPr lang="en-US" sz="2833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 a forkless PQ wallet layer using ERC-4337, zkVM, and Solidity.</a:t>
            </a:r>
          </a:p>
          <a:p>
            <a:pPr algn="l" marL="611733" indent="-305867" lvl="1">
              <a:lnSpc>
                <a:spcPts val="3400"/>
              </a:lnSpc>
              <a:buFont typeface="Arial"/>
              <a:buChar char="•"/>
            </a:pPr>
            <a:r>
              <a:rPr lang="en-US" sz="2833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outcome: quantify gas-latency trade-offs for a prototype-ready design.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84830" y="1719741"/>
            <a:ext cx="3018863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Target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069841" y="3150987"/>
            <a:ext cx="1479433" cy="2673658"/>
            <a:chOff x="0" y="0"/>
            <a:chExt cx="1972577" cy="35648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75" y="13208"/>
              <a:ext cx="1966341" cy="3538474"/>
            </a:xfrm>
            <a:custGeom>
              <a:avLst/>
              <a:gdLst/>
              <a:ahLst/>
              <a:cxnLst/>
              <a:rect r="r" b="b" t="t" l="l"/>
              <a:pathLst>
                <a:path h="3538474" w="1966341">
                  <a:moveTo>
                    <a:pt x="44577" y="0"/>
                  </a:moveTo>
                  <a:lnTo>
                    <a:pt x="1966341" y="3514090"/>
                  </a:lnTo>
                  <a:lnTo>
                    <a:pt x="1921764" y="3538474"/>
                  </a:lnTo>
                  <a:lnTo>
                    <a:pt x="0" y="24384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3998" y="6239497"/>
            <a:ext cx="2481491" cy="38129"/>
            <a:chOff x="0" y="0"/>
            <a:chExt cx="3308655" cy="508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0"/>
              <a:ext cx="3257804" cy="50800"/>
            </a:xfrm>
            <a:custGeom>
              <a:avLst/>
              <a:gdLst/>
              <a:ahLst/>
              <a:cxnLst/>
              <a:rect r="r" b="b" t="t" l="l"/>
              <a:pathLst>
                <a:path h="50800" w="3257804">
                  <a:moveTo>
                    <a:pt x="0" y="0"/>
                  </a:moveTo>
                  <a:lnTo>
                    <a:pt x="3257804" y="0"/>
                  </a:lnTo>
                  <a:lnTo>
                    <a:pt x="325780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971703" y="2396016"/>
            <a:ext cx="2165775" cy="1410805"/>
            <a:chOff x="0" y="0"/>
            <a:chExt cx="2887701" cy="18810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2836926" cy="1830324"/>
            </a:xfrm>
            <a:custGeom>
              <a:avLst/>
              <a:gdLst/>
              <a:ahLst/>
              <a:cxnLst/>
              <a:rect r="r" b="b" t="t" l="l"/>
              <a:pathLst>
                <a:path h="1830324" w="2836926">
                  <a:moveTo>
                    <a:pt x="0" y="915162"/>
                  </a:moveTo>
                  <a:cubicBezTo>
                    <a:pt x="0" y="409702"/>
                    <a:pt x="635127" y="0"/>
                    <a:pt x="1418463" y="0"/>
                  </a:cubicBezTo>
                  <a:cubicBezTo>
                    <a:pt x="2201799" y="0"/>
                    <a:pt x="2836926" y="409702"/>
                    <a:pt x="2836926" y="915162"/>
                  </a:cubicBezTo>
                  <a:cubicBezTo>
                    <a:pt x="2836926" y="1420622"/>
                    <a:pt x="2201926" y="1830324"/>
                    <a:pt x="1418463" y="1830324"/>
                  </a:cubicBezTo>
                  <a:cubicBezTo>
                    <a:pt x="635000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87726" cy="1881124"/>
            </a:xfrm>
            <a:custGeom>
              <a:avLst/>
              <a:gdLst/>
              <a:ahLst/>
              <a:cxnLst/>
              <a:rect r="r" b="b" t="t" l="l"/>
              <a:pathLst>
                <a:path h="1881124" w="2887726">
                  <a:moveTo>
                    <a:pt x="0" y="940562"/>
                  </a:moveTo>
                  <a:cubicBezTo>
                    <a:pt x="0" y="412115"/>
                    <a:pt x="657606" y="0"/>
                    <a:pt x="1443863" y="0"/>
                  </a:cubicBezTo>
                  <a:cubicBezTo>
                    <a:pt x="2230120" y="0"/>
                    <a:pt x="2887726" y="412115"/>
                    <a:pt x="2887726" y="940562"/>
                  </a:cubicBezTo>
                  <a:lnTo>
                    <a:pt x="2862326" y="940562"/>
                  </a:lnTo>
                  <a:lnTo>
                    <a:pt x="2887726" y="940562"/>
                  </a:lnTo>
                  <a:cubicBezTo>
                    <a:pt x="2887726" y="1469009"/>
                    <a:pt x="2230120" y="1881124"/>
                    <a:pt x="1443863" y="1881124"/>
                  </a:cubicBezTo>
                  <a:lnTo>
                    <a:pt x="1443863" y="1855724"/>
                  </a:lnTo>
                  <a:lnTo>
                    <a:pt x="1443863" y="1881124"/>
                  </a:lnTo>
                  <a:cubicBezTo>
                    <a:pt x="657606" y="1881124"/>
                    <a:pt x="0" y="1469009"/>
                    <a:pt x="0" y="940562"/>
                  </a:cubicBezTo>
                  <a:lnTo>
                    <a:pt x="25400" y="940562"/>
                  </a:lnTo>
                  <a:lnTo>
                    <a:pt x="50800" y="940562"/>
                  </a:lnTo>
                  <a:lnTo>
                    <a:pt x="25400" y="940562"/>
                  </a:lnTo>
                  <a:lnTo>
                    <a:pt x="0" y="940562"/>
                  </a:lnTo>
                  <a:moveTo>
                    <a:pt x="50800" y="940562"/>
                  </a:moveTo>
                  <a:cubicBezTo>
                    <a:pt x="50800" y="954659"/>
                    <a:pt x="39370" y="965962"/>
                    <a:pt x="25400" y="965962"/>
                  </a:cubicBezTo>
                  <a:cubicBezTo>
                    <a:pt x="11430" y="965962"/>
                    <a:pt x="0" y="954532"/>
                    <a:pt x="0" y="940562"/>
                  </a:cubicBezTo>
                  <a:cubicBezTo>
                    <a:pt x="0" y="926592"/>
                    <a:pt x="11430" y="915162"/>
                    <a:pt x="25400" y="915162"/>
                  </a:cubicBezTo>
                  <a:cubicBezTo>
                    <a:pt x="39370" y="915162"/>
                    <a:pt x="50800" y="926592"/>
                    <a:pt x="50800" y="940562"/>
                  </a:cubicBezTo>
                  <a:cubicBezTo>
                    <a:pt x="50800" y="1422908"/>
                    <a:pt x="663321" y="1830197"/>
                    <a:pt x="1443863" y="1830197"/>
                  </a:cubicBezTo>
                  <a:cubicBezTo>
                    <a:pt x="2224405" y="1830197"/>
                    <a:pt x="2836926" y="1422781"/>
                    <a:pt x="2836926" y="940562"/>
                  </a:cubicBezTo>
                  <a:cubicBezTo>
                    <a:pt x="2836926" y="458343"/>
                    <a:pt x="2224405" y="50800"/>
                    <a:pt x="1443863" y="50800"/>
                  </a:cubicBezTo>
                  <a:lnTo>
                    <a:pt x="1443863" y="25400"/>
                  </a:lnTo>
                  <a:lnTo>
                    <a:pt x="1443863" y="50800"/>
                  </a:lnTo>
                  <a:cubicBezTo>
                    <a:pt x="663321" y="50800"/>
                    <a:pt x="50800" y="458216"/>
                    <a:pt x="50800" y="940562"/>
                  </a:cubicBezTo>
                  <a:close/>
                </a:path>
              </a:pathLst>
            </a:custGeom>
            <a:solidFill>
              <a:srgbClr val="6F42C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073125" y="2747603"/>
            <a:ext cx="196292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6F42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Quantum-safe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6F42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signatures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46047" y="5800242"/>
            <a:ext cx="2165775" cy="1410805"/>
            <a:chOff x="0" y="0"/>
            <a:chExt cx="2887701" cy="18810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2836926" cy="1830324"/>
            </a:xfrm>
            <a:custGeom>
              <a:avLst/>
              <a:gdLst/>
              <a:ahLst/>
              <a:cxnLst/>
              <a:rect r="r" b="b" t="t" l="l"/>
              <a:pathLst>
                <a:path h="1830324" w="2836926">
                  <a:moveTo>
                    <a:pt x="0" y="915162"/>
                  </a:moveTo>
                  <a:cubicBezTo>
                    <a:pt x="0" y="409702"/>
                    <a:pt x="635127" y="0"/>
                    <a:pt x="1418463" y="0"/>
                  </a:cubicBezTo>
                  <a:cubicBezTo>
                    <a:pt x="2201799" y="0"/>
                    <a:pt x="2836926" y="409702"/>
                    <a:pt x="2836926" y="915162"/>
                  </a:cubicBezTo>
                  <a:cubicBezTo>
                    <a:pt x="2836926" y="1420622"/>
                    <a:pt x="2201926" y="1830324"/>
                    <a:pt x="1418463" y="1830324"/>
                  </a:cubicBezTo>
                  <a:cubicBezTo>
                    <a:pt x="635000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87726" cy="1881124"/>
            </a:xfrm>
            <a:custGeom>
              <a:avLst/>
              <a:gdLst/>
              <a:ahLst/>
              <a:cxnLst/>
              <a:rect r="r" b="b" t="t" l="l"/>
              <a:pathLst>
                <a:path h="1881124" w="2887726">
                  <a:moveTo>
                    <a:pt x="0" y="940562"/>
                  </a:moveTo>
                  <a:cubicBezTo>
                    <a:pt x="0" y="412115"/>
                    <a:pt x="657606" y="0"/>
                    <a:pt x="1443863" y="0"/>
                  </a:cubicBezTo>
                  <a:cubicBezTo>
                    <a:pt x="2230120" y="0"/>
                    <a:pt x="2887726" y="412115"/>
                    <a:pt x="2887726" y="940562"/>
                  </a:cubicBezTo>
                  <a:lnTo>
                    <a:pt x="2862326" y="940562"/>
                  </a:lnTo>
                  <a:lnTo>
                    <a:pt x="2887726" y="940562"/>
                  </a:lnTo>
                  <a:cubicBezTo>
                    <a:pt x="2887726" y="1469009"/>
                    <a:pt x="2230120" y="1881124"/>
                    <a:pt x="1443863" y="1881124"/>
                  </a:cubicBezTo>
                  <a:lnTo>
                    <a:pt x="1443863" y="1855724"/>
                  </a:lnTo>
                  <a:lnTo>
                    <a:pt x="1443863" y="1881124"/>
                  </a:lnTo>
                  <a:cubicBezTo>
                    <a:pt x="657606" y="1881124"/>
                    <a:pt x="0" y="1469009"/>
                    <a:pt x="0" y="940562"/>
                  </a:cubicBezTo>
                  <a:lnTo>
                    <a:pt x="25400" y="940562"/>
                  </a:lnTo>
                  <a:lnTo>
                    <a:pt x="50800" y="940562"/>
                  </a:lnTo>
                  <a:lnTo>
                    <a:pt x="25400" y="940562"/>
                  </a:lnTo>
                  <a:lnTo>
                    <a:pt x="0" y="940562"/>
                  </a:lnTo>
                  <a:moveTo>
                    <a:pt x="50800" y="940562"/>
                  </a:moveTo>
                  <a:cubicBezTo>
                    <a:pt x="50800" y="954659"/>
                    <a:pt x="39370" y="965962"/>
                    <a:pt x="25400" y="965962"/>
                  </a:cubicBezTo>
                  <a:cubicBezTo>
                    <a:pt x="11430" y="965962"/>
                    <a:pt x="0" y="954532"/>
                    <a:pt x="0" y="940562"/>
                  </a:cubicBezTo>
                  <a:cubicBezTo>
                    <a:pt x="0" y="926592"/>
                    <a:pt x="11430" y="915162"/>
                    <a:pt x="25400" y="915162"/>
                  </a:cubicBezTo>
                  <a:cubicBezTo>
                    <a:pt x="39370" y="915162"/>
                    <a:pt x="50800" y="926592"/>
                    <a:pt x="50800" y="940562"/>
                  </a:cubicBezTo>
                  <a:cubicBezTo>
                    <a:pt x="50800" y="1422908"/>
                    <a:pt x="663321" y="1830197"/>
                    <a:pt x="1443863" y="1830197"/>
                  </a:cubicBezTo>
                  <a:cubicBezTo>
                    <a:pt x="2224405" y="1830197"/>
                    <a:pt x="2836926" y="1422781"/>
                    <a:pt x="2836926" y="940562"/>
                  </a:cubicBezTo>
                  <a:cubicBezTo>
                    <a:pt x="2836926" y="458343"/>
                    <a:pt x="2224405" y="50800"/>
                    <a:pt x="1443863" y="50800"/>
                  </a:cubicBezTo>
                  <a:lnTo>
                    <a:pt x="1443863" y="25400"/>
                  </a:lnTo>
                  <a:lnTo>
                    <a:pt x="1443863" y="50800"/>
                  </a:lnTo>
                  <a:cubicBezTo>
                    <a:pt x="663321" y="50800"/>
                    <a:pt x="50800" y="458216"/>
                    <a:pt x="50800" y="940562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247478" y="6151828"/>
            <a:ext cx="196292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 on-chain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893448" y="5800242"/>
            <a:ext cx="2165775" cy="1410805"/>
            <a:chOff x="0" y="0"/>
            <a:chExt cx="2887701" cy="18810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25400"/>
              <a:ext cx="2836926" cy="1830324"/>
            </a:xfrm>
            <a:custGeom>
              <a:avLst/>
              <a:gdLst/>
              <a:ahLst/>
              <a:cxnLst/>
              <a:rect r="r" b="b" t="t" l="l"/>
              <a:pathLst>
                <a:path h="1830324" w="2836926">
                  <a:moveTo>
                    <a:pt x="0" y="915162"/>
                  </a:moveTo>
                  <a:cubicBezTo>
                    <a:pt x="0" y="409702"/>
                    <a:pt x="635127" y="0"/>
                    <a:pt x="1418463" y="0"/>
                  </a:cubicBezTo>
                  <a:cubicBezTo>
                    <a:pt x="2201799" y="0"/>
                    <a:pt x="2836926" y="409702"/>
                    <a:pt x="2836926" y="915162"/>
                  </a:cubicBezTo>
                  <a:cubicBezTo>
                    <a:pt x="2836926" y="1420622"/>
                    <a:pt x="2201926" y="1830324"/>
                    <a:pt x="1418463" y="1830324"/>
                  </a:cubicBezTo>
                  <a:cubicBezTo>
                    <a:pt x="635000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87726" cy="1881124"/>
            </a:xfrm>
            <a:custGeom>
              <a:avLst/>
              <a:gdLst/>
              <a:ahLst/>
              <a:cxnLst/>
              <a:rect r="r" b="b" t="t" l="l"/>
              <a:pathLst>
                <a:path h="1881124" w="2887726">
                  <a:moveTo>
                    <a:pt x="0" y="940562"/>
                  </a:moveTo>
                  <a:cubicBezTo>
                    <a:pt x="0" y="412115"/>
                    <a:pt x="657606" y="0"/>
                    <a:pt x="1443863" y="0"/>
                  </a:cubicBezTo>
                  <a:cubicBezTo>
                    <a:pt x="2230120" y="0"/>
                    <a:pt x="2887726" y="412115"/>
                    <a:pt x="2887726" y="940562"/>
                  </a:cubicBezTo>
                  <a:lnTo>
                    <a:pt x="2862326" y="940562"/>
                  </a:lnTo>
                  <a:lnTo>
                    <a:pt x="2887726" y="940562"/>
                  </a:lnTo>
                  <a:cubicBezTo>
                    <a:pt x="2887726" y="1469009"/>
                    <a:pt x="2230120" y="1881124"/>
                    <a:pt x="1443863" y="1881124"/>
                  </a:cubicBezTo>
                  <a:lnTo>
                    <a:pt x="1443863" y="1855724"/>
                  </a:lnTo>
                  <a:lnTo>
                    <a:pt x="1443863" y="1881124"/>
                  </a:lnTo>
                  <a:cubicBezTo>
                    <a:pt x="657606" y="1881124"/>
                    <a:pt x="0" y="1469009"/>
                    <a:pt x="0" y="940562"/>
                  </a:cubicBezTo>
                  <a:lnTo>
                    <a:pt x="25400" y="940562"/>
                  </a:lnTo>
                  <a:lnTo>
                    <a:pt x="50800" y="940562"/>
                  </a:lnTo>
                  <a:lnTo>
                    <a:pt x="25400" y="940562"/>
                  </a:lnTo>
                  <a:lnTo>
                    <a:pt x="0" y="940562"/>
                  </a:lnTo>
                  <a:moveTo>
                    <a:pt x="50800" y="940562"/>
                  </a:moveTo>
                  <a:cubicBezTo>
                    <a:pt x="50800" y="954659"/>
                    <a:pt x="39370" y="965962"/>
                    <a:pt x="25400" y="965962"/>
                  </a:cubicBezTo>
                  <a:cubicBezTo>
                    <a:pt x="11430" y="965962"/>
                    <a:pt x="0" y="954532"/>
                    <a:pt x="0" y="940562"/>
                  </a:cubicBezTo>
                  <a:cubicBezTo>
                    <a:pt x="0" y="926592"/>
                    <a:pt x="11430" y="915162"/>
                    <a:pt x="25400" y="915162"/>
                  </a:cubicBezTo>
                  <a:cubicBezTo>
                    <a:pt x="39370" y="915162"/>
                    <a:pt x="50800" y="926592"/>
                    <a:pt x="50800" y="940562"/>
                  </a:cubicBezTo>
                  <a:cubicBezTo>
                    <a:pt x="50800" y="1422908"/>
                    <a:pt x="663321" y="1830197"/>
                    <a:pt x="1443863" y="1830197"/>
                  </a:cubicBezTo>
                  <a:cubicBezTo>
                    <a:pt x="2224405" y="1830197"/>
                    <a:pt x="2836926" y="1422781"/>
                    <a:pt x="2836926" y="940562"/>
                  </a:cubicBezTo>
                  <a:cubicBezTo>
                    <a:pt x="2836926" y="458343"/>
                    <a:pt x="2224405" y="50800"/>
                    <a:pt x="1443863" y="50800"/>
                  </a:cubicBezTo>
                  <a:lnTo>
                    <a:pt x="1443863" y="25400"/>
                  </a:lnTo>
                  <a:lnTo>
                    <a:pt x="1443863" y="50800"/>
                  </a:lnTo>
                  <a:cubicBezTo>
                    <a:pt x="663321" y="50800"/>
                    <a:pt x="50800" y="458216"/>
                    <a:pt x="50800" y="94056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994870" y="6151828"/>
            <a:ext cx="196292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Forkless Ethereum</a:t>
            </a:r>
          </a:p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049865" y="4093933"/>
            <a:ext cx="1872177" cy="1364285"/>
            <a:chOff x="0" y="0"/>
            <a:chExt cx="2496236" cy="18190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2700" y="12700"/>
              <a:ext cx="2470785" cy="1793748"/>
            </a:xfrm>
            <a:custGeom>
              <a:avLst/>
              <a:gdLst/>
              <a:ahLst/>
              <a:cxnLst/>
              <a:rect r="r" b="b" t="t" l="l"/>
              <a:pathLst>
                <a:path h="1793748" w="2470785">
                  <a:moveTo>
                    <a:pt x="0" y="896874"/>
                  </a:moveTo>
                  <a:lnTo>
                    <a:pt x="450088" y="0"/>
                  </a:lnTo>
                  <a:lnTo>
                    <a:pt x="2020697" y="0"/>
                  </a:lnTo>
                  <a:lnTo>
                    <a:pt x="2470785" y="896874"/>
                  </a:lnTo>
                  <a:lnTo>
                    <a:pt x="2020697" y="1793748"/>
                  </a:lnTo>
                  <a:lnTo>
                    <a:pt x="450088" y="1793748"/>
                  </a:lnTo>
                  <a:close/>
                </a:path>
              </a:pathLst>
            </a:custGeom>
            <a:solidFill>
              <a:srgbClr val="1F2A44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265302" y="4504623"/>
            <a:ext cx="1441304" cy="31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Q-EVM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79700" y="7578807"/>
            <a:ext cx="754969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Q-EVM balances post-quantum security, gas efficiency, and forkless deployment.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21618"/>
            <a:ext cx="14687598" cy="631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LITERATURE REVIEW &amp; GAP IDENTIFIED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474117" y="9809178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367" y="1709899"/>
            <a:ext cx="1523564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276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 work solves parts of the problem, but not forkless post-quantum wallet validation end-to-end.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1880" y="2435733"/>
            <a:ext cx="4081796" cy="619230"/>
            <a:chOff x="0" y="0"/>
            <a:chExt cx="5442394" cy="825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160" y="10160"/>
              <a:ext cx="5422011" cy="805307"/>
            </a:xfrm>
            <a:custGeom>
              <a:avLst/>
              <a:gdLst/>
              <a:ahLst/>
              <a:cxnLst/>
              <a:rect r="r" b="b" t="t" l="l"/>
              <a:pathLst>
                <a:path h="805307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2331" cy="825627"/>
            </a:xfrm>
            <a:custGeom>
              <a:avLst/>
              <a:gdLst/>
              <a:ahLst/>
              <a:cxnLst/>
              <a:rect r="r" b="b" t="t" l="l"/>
              <a:pathLst>
                <a:path h="825627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815467"/>
                  </a:lnTo>
                  <a:cubicBezTo>
                    <a:pt x="5442331" y="821055"/>
                    <a:pt x="5437759" y="825627"/>
                    <a:pt x="5432171" y="825627"/>
                  </a:cubicBezTo>
                  <a:lnTo>
                    <a:pt x="10160" y="825627"/>
                  </a:lnTo>
                  <a:cubicBezTo>
                    <a:pt x="4572" y="825627"/>
                    <a:pt x="0" y="821055"/>
                    <a:pt x="0" y="815467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15467"/>
                  </a:lnTo>
                  <a:lnTo>
                    <a:pt x="10160" y="815467"/>
                  </a:lnTo>
                  <a:lnTo>
                    <a:pt x="10160" y="805307"/>
                  </a:lnTo>
                  <a:lnTo>
                    <a:pt x="5432171" y="805307"/>
                  </a:lnTo>
                  <a:lnTo>
                    <a:pt x="5432171" y="815467"/>
                  </a:lnTo>
                  <a:lnTo>
                    <a:pt x="5422011" y="815467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11863" y="2511990"/>
            <a:ext cx="3901821" cy="494162"/>
            <a:chOff x="0" y="0"/>
            <a:chExt cx="5202428" cy="6588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02429" cy="658877"/>
            </a:xfrm>
            <a:custGeom>
              <a:avLst/>
              <a:gdLst/>
              <a:ahLst/>
              <a:cxnLst/>
              <a:rect r="r" b="b" t="t" l="l"/>
              <a:pathLst>
                <a:path h="658877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51" r="0" b="-1038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02428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Approach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88417" y="2435733"/>
            <a:ext cx="4081796" cy="619230"/>
            <a:chOff x="0" y="0"/>
            <a:chExt cx="5442394" cy="825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0160" y="10160"/>
              <a:ext cx="5422011" cy="805307"/>
            </a:xfrm>
            <a:custGeom>
              <a:avLst/>
              <a:gdLst/>
              <a:ahLst/>
              <a:cxnLst/>
              <a:rect r="r" b="b" t="t" l="l"/>
              <a:pathLst>
                <a:path h="805307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2331" cy="825627"/>
            </a:xfrm>
            <a:custGeom>
              <a:avLst/>
              <a:gdLst/>
              <a:ahLst/>
              <a:cxnLst/>
              <a:rect r="r" b="b" t="t" l="l"/>
              <a:pathLst>
                <a:path h="825627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815467"/>
                  </a:lnTo>
                  <a:cubicBezTo>
                    <a:pt x="5442331" y="821055"/>
                    <a:pt x="5437759" y="825627"/>
                    <a:pt x="5432171" y="825627"/>
                  </a:cubicBezTo>
                  <a:lnTo>
                    <a:pt x="10160" y="825627"/>
                  </a:lnTo>
                  <a:cubicBezTo>
                    <a:pt x="4572" y="825627"/>
                    <a:pt x="0" y="821055"/>
                    <a:pt x="0" y="815467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15467"/>
                  </a:lnTo>
                  <a:lnTo>
                    <a:pt x="10160" y="815467"/>
                  </a:lnTo>
                  <a:lnTo>
                    <a:pt x="10160" y="805307"/>
                  </a:lnTo>
                  <a:lnTo>
                    <a:pt x="5432171" y="805307"/>
                  </a:lnTo>
                  <a:lnTo>
                    <a:pt x="5432171" y="815467"/>
                  </a:lnTo>
                  <a:lnTo>
                    <a:pt x="5422011" y="815467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78409" y="2511990"/>
            <a:ext cx="3901821" cy="494162"/>
            <a:chOff x="0" y="0"/>
            <a:chExt cx="5202428" cy="6588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02429" cy="658877"/>
            </a:xfrm>
            <a:custGeom>
              <a:avLst/>
              <a:gdLst/>
              <a:ahLst/>
              <a:cxnLst/>
              <a:rect r="r" b="b" t="t" l="l"/>
              <a:pathLst>
                <a:path h="658877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51" r="0" b="-1038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02428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54963" y="2435733"/>
            <a:ext cx="4081796" cy="619230"/>
            <a:chOff x="0" y="0"/>
            <a:chExt cx="5442394" cy="825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0160" y="10160"/>
              <a:ext cx="5422011" cy="805307"/>
            </a:xfrm>
            <a:custGeom>
              <a:avLst/>
              <a:gdLst/>
              <a:ahLst/>
              <a:cxnLst/>
              <a:rect r="r" b="b" t="t" l="l"/>
              <a:pathLst>
                <a:path h="805307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2331" cy="825627"/>
            </a:xfrm>
            <a:custGeom>
              <a:avLst/>
              <a:gdLst/>
              <a:ahLst/>
              <a:cxnLst/>
              <a:rect r="r" b="b" t="t" l="l"/>
              <a:pathLst>
                <a:path h="825627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815467"/>
                  </a:lnTo>
                  <a:cubicBezTo>
                    <a:pt x="5442331" y="821055"/>
                    <a:pt x="5437759" y="825627"/>
                    <a:pt x="5432171" y="825627"/>
                  </a:cubicBezTo>
                  <a:lnTo>
                    <a:pt x="10160" y="825627"/>
                  </a:lnTo>
                  <a:cubicBezTo>
                    <a:pt x="4572" y="825627"/>
                    <a:pt x="0" y="821055"/>
                    <a:pt x="0" y="815467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15467"/>
                  </a:lnTo>
                  <a:lnTo>
                    <a:pt x="10160" y="815467"/>
                  </a:lnTo>
                  <a:lnTo>
                    <a:pt x="10160" y="805307"/>
                  </a:lnTo>
                  <a:lnTo>
                    <a:pt x="5432171" y="805307"/>
                  </a:lnTo>
                  <a:lnTo>
                    <a:pt x="5432171" y="815467"/>
                  </a:lnTo>
                  <a:lnTo>
                    <a:pt x="5422011" y="815467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44946" y="2511990"/>
            <a:ext cx="3901821" cy="494162"/>
            <a:chOff x="0" y="0"/>
            <a:chExt cx="5202428" cy="6588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02429" cy="658877"/>
            </a:xfrm>
            <a:custGeom>
              <a:avLst/>
              <a:gdLst/>
              <a:ahLst/>
              <a:cxnLst/>
              <a:rect r="r" b="b" t="t" l="l"/>
              <a:pathLst>
                <a:path h="658877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51" r="0" b="-1038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02428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221500" y="2435733"/>
            <a:ext cx="4081796" cy="619230"/>
            <a:chOff x="0" y="0"/>
            <a:chExt cx="5442394" cy="825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0160" y="10160"/>
              <a:ext cx="5422011" cy="805307"/>
            </a:xfrm>
            <a:custGeom>
              <a:avLst/>
              <a:gdLst/>
              <a:ahLst/>
              <a:cxnLst/>
              <a:rect r="r" b="b" t="t" l="l"/>
              <a:pathLst>
                <a:path h="805307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805307"/>
                  </a:lnTo>
                  <a:lnTo>
                    <a:pt x="0" y="805307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42331" cy="825627"/>
            </a:xfrm>
            <a:custGeom>
              <a:avLst/>
              <a:gdLst/>
              <a:ahLst/>
              <a:cxnLst/>
              <a:rect r="r" b="b" t="t" l="l"/>
              <a:pathLst>
                <a:path h="825627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815467"/>
                  </a:lnTo>
                  <a:cubicBezTo>
                    <a:pt x="5442331" y="821055"/>
                    <a:pt x="5437759" y="825627"/>
                    <a:pt x="5432171" y="825627"/>
                  </a:cubicBezTo>
                  <a:lnTo>
                    <a:pt x="10160" y="825627"/>
                  </a:lnTo>
                  <a:cubicBezTo>
                    <a:pt x="4572" y="825627"/>
                    <a:pt x="0" y="821055"/>
                    <a:pt x="0" y="815467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15467"/>
                  </a:lnTo>
                  <a:lnTo>
                    <a:pt x="10160" y="815467"/>
                  </a:lnTo>
                  <a:lnTo>
                    <a:pt x="10160" y="805307"/>
                  </a:lnTo>
                  <a:lnTo>
                    <a:pt x="5432171" y="805307"/>
                  </a:lnTo>
                  <a:lnTo>
                    <a:pt x="5432171" y="815467"/>
                  </a:lnTo>
                  <a:lnTo>
                    <a:pt x="5422011" y="815467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311492" y="2511990"/>
            <a:ext cx="3901821" cy="494162"/>
            <a:chOff x="0" y="0"/>
            <a:chExt cx="5202428" cy="6588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02429" cy="658877"/>
            </a:xfrm>
            <a:custGeom>
              <a:avLst/>
              <a:gdLst/>
              <a:ahLst/>
              <a:cxnLst/>
              <a:rect r="r" b="b" t="t" l="l"/>
              <a:pathLst>
                <a:path h="658877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658877"/>
                  </a:lnTo>
                  <a:lnTo>
                    <a:pt x="0" y="6588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51" r="0" b="-1038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202428" cy="69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</a:t>
              </a: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 for Q-EVM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1880" y="3039704"/>
            <a:ext cx="4081796" cy="783946"/>
            <a:chOff x="0" y="0"/>
            <a:chExt cx="5442394" cy="10452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11863" y="3115970"/>
            <a:ext cx="3901821" cy="658883"/>
            <a:chOff x="0" y="0"/>
            <a:chExt cx="5202428" cy="8785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Native EVM ML-DSA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88417" y="3039704"/>
            <a:ext cx="4081796" cy="783946"/>
            <a:chOff x="0" y="0"/>
            <a:chExt cx="5442394" cy="104526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178409" y="3115970"/>
            <a:ext cx="3901821" cy="658883"/>
            <a:chOff x="0" y="0"/>
            <a:chExt cx="5202428" cy="8785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Deployable today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54963" y="3039704"/>
            <a:ext cx="4081796" cy="783946"/>
            <a:chOff x="0" y="0"/>
            <a:chExt cx="5442394" cy="10452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44946" y="3115970"/>
            <a:ext cx="3901821" cy="658883"/>
            <a:chOff x="0" y="0"/>
            <a:chExt cx="5202428" cy="87851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approx. 2.8M gas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221500" y="3039704"/>
            <a:ext cx="4081796" cy="783946"/>
            <a:chOff x="0" y="0"/>
            <a:chExt cx="5442394" cy="104526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311492" y="3115970"/>
            <a:ext cx="3901821" cy="658883"/>
            <a:chOff x="0" y="0"/>
            <a:chExt cx="5202428" cy="87851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 expensive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1880" y="3808400"/>
            <a:ext cx="4081796" cy="783946"/>
            <a:chOff x="0" y="0"/>
            <a:chExt cx="5442394" cy="10452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11863" y="3884666"/>
            <a:ext cx="3901821" cy="658883"/>
            <a:chOff x="0" y="0"/>
            <a:chExt cx="5202428" cy="87851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Falcon precompile / EIP-8052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88417" y="3808400"/>
            <a:ext cx="4081796" cy="783946"/>
            <a:chOff x="0" y="0"/>
            <a:chExt cx="5442394" cy="104526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178409" y="3884666"/>
            <a:ext cx="3901821" cy="658883"/>
            <a:chOff x="0" y="0"/>
            <a:chExt cx="5202428" cy="87851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verifier gas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54963" y="3808400"/>
            <a:ext cx="4081796" cy="783946"/>
            <a:chOff x="0" y="0"/>
            <a:chExt cx="5442394" cy="104526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244946" y="3884666"/>
            <a:ext cx="3901821" cy="658883"/>
            <a:chOff x="0" y="0"/>
            <a:chExt cx="5202428" cy="8785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 fork required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221500" y="3808400"/>
            <a:ext cx="4081796" cy="783946"/>
            <a:chOff x="0" y="0"/>
            <a:chExt cx="5442394" cy="104526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311492" y="3884666"/>
            <a:ext cx="3901821" cy="658883"/>
            <a:chOff x="0" y="0"/>
            <a:chExt cx="5202428" cy="87851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immediate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1880" y="4577096"/>
            <a:ext cx="4081796" cy="783946"/>
            <a:chOff x="0" y="0"/>
            <a:chExt cx="5442394" cy="104526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11863" y="4653363"/>
            <a:ext cx="3901821" cy="658883"/>
            <a:chOff x="0" y="0"/>
            <a:chExt cx="5202428" cy="87851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zk-ECDSA wallets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088417" y="4577096"/>
            <a:ext cx="4081796" cy="783946"/>
            <a:chOff x="0" y="0"/>
            <a:chExt cx="5442394" cy="104526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178409" y="4653363"/>
            <a:ext cx="3901821" cy="658883"/>
            <a:chOff x="0" y="0"/>
            <a:chExt cx="5202428" cy="87851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Forkless ZK validation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154963" y="4577096"/>
            <a:ext cx="4081796" cy="783946"/>
            <a:chOff x="0" y="0"/>
            <a:chExt cx="5442394" cy="104526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244946" y="4653363"/>
            <a:ext cx="3901821" cy="658883"/>
            <a:chOff x="0" y="0"/>
            <a:chExt cx="5202428" cy="87851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post-quantum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221500" y="4577096"/>
            <a:ext cx="4081796" cy="783946"/>
            <a:chOff x="0" y="0"/>
            <a:chExt cx="5442394" cy="104526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311492" y="4653363"/>
            <a:ext cx="3901821" cy="658883"/>
            <a:chOff x="0" y="0"/>
            <a:chExt cx="5202428" cy="87851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Keeps ECDSA assumption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21880" y="5345792"/>
            <a:ext cx="4081796" cy="783946"/>
            <a:chOff x="0" y="0"/>
            <a:chExt cx="5442394" cy="104526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11863" y="5422059"/>
            <a:ext cx="3901821" cy="658883"/>
            <a:chOff x="0" y="0"/>
            <a:chExt cx="5202428" cy="87851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Q-EVM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88417" y="5345792"/>
            <a:ext cx="4081796" cy="783946"/>
            <a:chOff x="0" y="0"/>
            <a:chExt cx="5442394" cy="104526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178409" y="5422059"/>
            <a:ext cx="3901821" cy="658883"/>
            <a:chOff x="0" y="0"/>
            <a:chExt cx="5202428" cy="87851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Forkless PQ validation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154963" y="5345792"/>
            <a:ext cx="4081796" cy="783946"/>
            <a:chOff x="0" y="0"/>
            <a:chExt cx="5442394" cy="104526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244946" y="5422059"/>
            <a:ext cx="3901821" cy="658883"/>
            <a:chOff x="0" y="0"/>
            <a:chExt cx="5202428" cy="87851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Prover latency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221500" y="5345792"/>
            <a:ext cx="4081796" cy="783946"/>
            <a:chOff x="0" y="0"/>
            <a:chExt cx="5442394" cy="104526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0160" y="10160"/>
              <a:ext cx="5422011" cy="1024890"/>
            </a:xfrm>
            <a:custGeom>
              <a:avLst/>
              <a:gdLst/>
              <a:ahLst/>
              <a:cxnLst/>
              <a:rect r="r" b="b" t="t" l="l"/>
              <a:pathLst>
                <a:path h="1024890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024890"/>
                  </a:lnTo>
                  <a:lnTo>
                    <a:pt x="0" y="10248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442331" cy="1045210"/>
            </a:xfrm>
            <a:custGeom>
              <a:avLst/>
              <a:gdLst/>
              <a:ahLst/>
              <a:cxnLst/>
              <a:rect r="r" b="b" t="t" l="l"/>
              <a:pathLst>
                <a:path h="1045210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035050"/>
                  </a:lnTo>
                  <a:cubicBezTo>
                    <a:pt x="5442331" y="1040638"/>
                    <a:pt x="5437759" y="1045210"/>
                    <a:pt x="5432171" y="1045210"/>
                  </a:cubicBezTo>
                  <a:lnTo>
                    <a:pt x="10160" y="1045210"/>
                  </a:lnTo>
                  <a:cubicBezTo>
                    <a:pt x="4572" y="1045210"/>
                    <a:pt x="0" y="1040638"/>
                    <a:pt x="0" y="1035050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035050"/>
                  </a:lnTo>
                  <a:lnTo>
                    <a:pt x="10160" y="1035050"/>
                  </a:lnTo>
                  <a:lnTo>
                    <a:pt x="10160" y="1024890"/>
                  </a:lnTo>
                  <a:lnTo>
                    <a:pt x="5432171" y="1024890"/>
                  </a:lnTo>
                  <a:lnTo>
                    <a:pt x="5432171" y="1035050"/>
                  </a:lnTo>
                  <a:lnTo>
                    <a:pt x="5422011" y="1035050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311492" y="5422059"/>
            <a:ext cx="3901821" cy="658883"/>
            <a:chOff x="0" y="0"/>
            <a:chExt cx="5202428" cy="87851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202429" cy="878511"/>
            </a:xfrm>
            <a:custGeom>
              <a:avLst/>
              <a:gdLst/>
              <a:ahLst/>
              <a:cxnLst/>
              <a:rect r="r" b="b" t="t" l="l"/>
              <a:pathLst>
                <a:path h="87851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87" r="0" b="-65387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5202428" cy="926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Batching optimization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45419" y="8706431"/>
            <a:ext cx="15869622" cy="1140847"/>
            <a:chOff x="0" y="0"/>
            <a:chExt cx="21159495" cy="152113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0160" y="10160"/>
              <a:ext cx="21139151" cy="1500886"/>
            </a:xfrm>
            <a:custGeom>
              <a:avLst/>
              <a:gdLst/>
              <a:ahLst/>
              <a:cxnLst/>
              <a:rect r="r" b="b" t="t" l="l"/>
              <a:pathLst>
                <a:path h="1500886" w="21139151">
                  <a:moveTo>
                    <a:pt x="0" y="250190"/>
                  </a:moveTo>
                  <a:cubicBezTo>
                    <a:pt x="0" y="112014"/>
                    <a:pt x="113411" y="0"/>
                    <a:pt x="253238" y="0"/>
                  </a:cubicBezTo>
                  <a:lnTo>
                    <a:pt x="20885912" y="0"/>
                  </a:lnTo>
                  <a:cubicBezTo>
                    <a:pt x="21025739" y="0"/>
                    <a:pt x="21139151" y="112014"/>
                    <a:pt x="21139151" y="250190"/>
                  </a:cubicBezTo>
                  <a:lnTo>
                    <a:pt x="21139151" y="1250696"/>
                  </a:lnTo>
                  <a:cubicBezTo>
                    <a:pt x="21139151" y="1388872"/>
                    <a:pt x="21025739" y="1500886"/>
                    <a:pt x="20885912" y="1500886"/>
                  </a:cubicBezTo>
                  <a:lnTo>
                    <a:pt x="253238" y="1500886"/>
                  </a:lnTo>
                  <a:cubicBezTo>
                    <a:pt x="113411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A6E3F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1159470" cy="1521206"/>
            </a:xfrm>
            <a:custGeom>
              <a:avLst/>
              <a:gdLst/>
              <a:ahLst/>
              <a:cxnLst/>
              <a:rect r="r" b="b" t="t" l="l"/>
              <a:pathLst>
                <a:path h="1521206" w="21159470">
                  <a:moveTo>
                    <a:pt x="0" y="260350"/>
                  </a:moveTo>
                  <a:cubicBezTo>
                    <a:pt x="0" y="116459"/>
                    <a:pt x="118110" y="0"/>
                    <a:pt x="263398" y="0"/>
                  </a:cubicBezTo>
                  <a:lnTo>
                    <a:pt x="20896072" y="0"/>
                  </a:lnTo>
                  <a:lnTo>
                    <a:pt x="20896072" y="10160"/>
                  </a:lnTo>
                  <a:lnTo>
                    <a:pt x="20896072" y="0"/>
                  </a:lnTo>
                  <a:cubicBezTo>
                    <a:pt x="21041486" y="0"/>
                    <a:pt x="21159470" y="116459"/>
                    <a:pt x="21159470" y="260350"/>
                  </a:cubicBezTo>
                  <a:lnTo>
                    <a:pt x="21149311" y="260350"/>
                  </a:lnTo>
                  <a:lnTo>
                    <a:pt x="21159470" y="260350"/>
                  </a:lnTo>
                  <a:lnTo>
                    <a:pt x="21159470" y="1260856"/>
                  </a:lnTo>
                  <a:lnTo>
                    <a:pt x="21149311" y="1260856"/>
                  </a:lnTo>
                  <a:lnTo>
                    <a:pt x="21159470" y="1260856"/>
                  </a:lnTo>
                  <a:cubicBezTo>
                    <a:pt x="21159470" y="1404747"/>
                    <a:pt x="21041361" y="1521206"/>
                    <a:pt x="20896072" y="1521206"/>
                  </a:cubicBezTo>
                  <a:lnTo>
                    <a:pt x="20896072" y="1511046"/>
                  </a:lnTo>
                  <a:lnTo>
                    <a:pt x="20896072" y="1521206"/>
                  </a:lnTo>
                  <a:lnTo>
                    <a:pt x="263398" y="1521206"/>
                  </a:lnTo>
                  <a:lnTo>
                    <a:pt x="263398" y="1511046"/>
                  </a:lnTo>
                  <a:lnTo>
                    <a:pt x="263398" y="1521206"/>
                  </a:lnTo>
                  <a:cubicBezTo>
                    <a:pt x="118110" y="1521079"/>
                    <a:pt x="0" y="1404747"/>
                    <a:pt x="0" y="1260856"/>
                  </a:cubicBezTo>
                  <a:lnTo>
                    <a:pt x="0" y="260350"/>
                  </a:lnTo>
                  <a:lnTo>
                    <a:pt x="10160" y="260350"/>
                  </a:lnTo>
                  <a:lnTo>
                    <a:pt x="0" y="260350"/>
                  </a:lnTo>
                  <a:moveTo>
                    <a:pt x="20320" y="260350"/>
                  </a:moveTo>
                  <a:lnTo>
                    <a:pt x="20320" y="1260856"/>
                  </a:lnTo>
                  <a:lnTo>
                    <a:pt x="10160" y="1260856"/>
                  </a:lnTo>
                  <a:lnTo>
                    <a:pt x="20320" y="1260856"/>
                  </a:lnTo>
                  <a:cubicBezTo>
                    <a:pt x="20320" y="1393317"/>
                    <a:pt x="129032" y="1500886"/>
                    <a:pt x="263398" y="1500886"/>
                  </a:cubicBezTo>
                  <a:lnTo>
                    <a:pt x="20896072" y="1500886"/>
                  </a:lnTo>
                  <a:cubicBezTo>
                    <a:pt x="21030437" y="1500886"/>
                    <a:pt x="21139150" y="1393317"/>
                    <a:pt x="21139150" y="1260856"/>
                  </a:cubicBezTo>
                  <a:lnTo>
                    <a:pt x="21139150" y="260350"/>
                  </a:lnTo>
                  <a:cubicBezTo>
                    <a:pt x="21139150" y="127889"/>
                    <a:pt x="21030437" y="20320"/>
                    <a:pt x="20896072" y="20320"/>
                  </a:cubicBezTo>
                  <a:lnTo>
                    <a:pt x="263398" y="20320"/>
                  </a:lnTo>
                  <a:lnTo>
                    <a:pt x="263398" y="10160"/>
                  </a:lnTo>
                  <a:lnTo>
                    <a:pt x="263398" y="20320"/>
                  </a:lnTo>
                  <a:cubicBezTo>
                    <a:pt x="129032" y="20320"/>
                    <a:pt x="20320" y="127889"/>
                    <a:pt x="20320" y="260350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1301467" y="8867280"/>
            <a:ext cx="204216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Gap: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3422776" y="8895855"/>
            <a:ext cx="1338355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63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systematic ERC-4337 + zkVM framework characterizes ML-DSA gas, proving latency, batching, and forkless deployability together.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12093"/>
            <a:ext cx="14687598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PROPOSED ARCHITECTURE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474117" y="9809178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009" y="2179065"/>
            <a:ext cx="1564745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idea: move expensive ML-DSA verification off-chain, then verify only a compact ZK receipt on-chain.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505976"/>
            <a:ext cx="2829230" cy="1637524"/>
            <a:chOff x="0" y="0"/>
            <a:chExt cx="3772306" cy="2183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160" y="11422"/>
              <a:ext cx="3751961" cy="2160534"/>
            </a:xfrm>
            <a:custGeom>
              <a:avLst/>
              <a:gdLst/>
              <a:ahLst/>
              <a:cxnLst/>
              <a:rect r="r" b="b" t="t" l="l"/>
              <a:pathLst>
                <a:path h="2160534" w="3751961">
                  <a:moveTo>
                    <a:pt x="0" y="360089"/>
                  </a:moveTo>
                  <a:cubicBezTo>
                    <a:pt x="0" y="161198"/>
                    <a:pt x="144145" y="0"/>
                    <a:pt x="321945" y="0"/>
                  </a:cubicBezTo>
                  <a:lnTo>
                    <a:pt x="3430016" y="0"/>
                  </a:lnTo>
                  <a:cubicBezTo>
                    <a:pt x="3607816" y="0"/>
                    <a:pt x="3751961" y="161198"/>
                    <a:pt x="3751961" y="360089"/>
                  </a:cubicBezTo>
                  <a:lnTo>
                    <a:pt x="3751961" y="1800446"/>
                  </a:lnTo>
                  <a:cubicBezTo>
                    <a:pt x="3751961" y="1999337"/>
                    <a:pt x="3607816" y="2160535"/>
                    <a:pt x="3430016" y="2160535"/>
                  </a:cubicBezTo>
                  <a:lnTo>
                    <a:pt x="321945" y="2160535"/>
                  </a:lnTo>
                  <a:cubicBezTo>
                    <a:pt x="144145" y="2160535"/>
                    <a:pt x="0" y="1999337"/>
                    <a:pt x="0" y="18004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2281" cy="2183377"/>
            </a:xfrm>
            <a:custGeom>
              <a:avLst/>
              <a:gdLst/>
              <a:ahLst/>
              <a:cxnLst/>
              <a:rect r="r" b="b" t="t" l="l"/>
              <a:pathLst>
                <a:path h="2183377" w="3772281">
                  <a:moveTo>
                    <a:pt x="0" y="371511"/>
                  </a:moveTo>
                  <a:cubicBezTo>
                    <a:pt x="0" y="166338"/>
                    <a:pt x="148717" y="0"/>
                    <a:pt x="332105" y="0"/>
                  </a:cubicBezTo>
                  <a:lnTo>
                    <a:pt x="3440176" y="0"/>
                  </a:lnTo>
                  <a:lnTo>
                    <a:pt x="3440176" y="11422"/>
                  </a:lnTo>
                  <a:lnTo>
                    <a:pt x="3440176" y="0"/>
                  </a:lnTo>
                  <a:cubicBezTo>
                    <a:pt x="3623564" y="0"/>
                    <a:pt x="3772281" y="166338"/>
                    <a:pt x="3772281" y="371511"/>
                  </a:cubicBezTo>
                  <a:lnTo>
                    <a:pt x="3762121" y="371511"/>
                  </a:lnTo>
                  <a:lnTo>
                    <a:pt x="3772281" y="371511"/>
                  </a:lnTo>
                  <a:lnTo>
                    <a:pt x="3772281" y="1811868"/>
                  </a:lnTo>
                  <a:lnTo>
                    <a:pt x="3762121" y="1811868"/>
                  </a:lnTo>
                  <a:lnTo>
                    <a:pt x="3772281" y="1811868"/>
                  </a:lnTo>
                  <a:cubicBezTo>
                    <a:pt x="3772281" y="2017041"/>
                    <a:pt x="3623564" y="2183377"/>
                    <a:pt x="3440176" y="2183377"/>
                  </a:cubicBezTo>
                  <a:lnTo>
                    <a:pt x="3440176" y="2171957"/>
                  </a:lnTo>
                  <a:lnTo>
                    <a:pt x="3440176" y="2183377"/>
                  </a:lnTo>
                  <a:lnTo>
                    <a:pt x="332105" y="2183377"/>
                  </a:lnTo>
                  <a:lnTo>
                    <a:pt x="332105" y="2171957"/>
                  </a:lnTo>
                  <a:lnTo>
                    <a:pt x="332105" y="2183377"/>
                  </a:lnTo>
                  <a:cubicBezTo>
                    <a:pt x="148717" y="2183377"/>
                    <a:pt x="0" y="2017041"/>
                    <a:pt x="0" y="1811868"/>
                  </a:cubicBezTo>
                  <a:lnTo>
                    <a:pt x="0" y="371511"/>
                  </a:lnTo>
                  <a:lnTo>
                    <a:pt x="10160" y="371511"/>
                  </a:lnTo>
                  <a:lnTo>
                    <a:pt x="0" y="371511"/>
                  </a:lnTo>
                  <a:moveTo>
                    <a:pt x="20320" y="371511"/>
                  </a:moveTo>
                  <a:lnTo>
                    <a:pt x="20320" y="1811868"/>
                  </a:lnTo>
                  <a:lnTo>
                    <a:pt x="10160" y="1811868"/>
                  </a:lnTo>
                  <a:lnTo>
                    <a:pt x="20320" y="1811868"/>
                  </a:lnTo>
                  <a:cubicBezTo>
                    <a:pt x="20320" y="2004334"/>
                    <a:pt x="159893" y="2160534"/>
                    <a:pt x="332105" y="2160534"/>
                  </a:cubicBezTo>
                  <a:lnTo>
                    <a:pt x="3440176" y="2160534"/>
                  </a:lnTo>
                  <a:cubicBezTo>
                    <a:pt x="3612388" y="2160534"/>
                    <a:pt x="3751961" y="2004334"/>
                    <a:pt x="3751961" y="1811868"/>
                  </a:cubicBezTo>
                  <a:lnTo>
                    <a:pt x="3751961" y="371511"/>
                  </a:lnTo>
                  <a:cubicBezTo>
                    <a:pt x="3751961" y="179045"/>
                    <a:pt x="3612388" y="22845"/>
                    <a:pt x="3440176" y="22845"/>
                  </a:cubicBezTo>
                  <a:lnTo>
                    <a:pt x="332105" y="22845"/>
                  </a:lnTo>
                  <a:lnTo>
                    <a:pt x="332105" y="11422"/>
                  </a:lnTo>
                  <a:lnTo>
                    <a:pt x="332105" y="22845"/>
                  </a:lnTo>
                  <a:cubicBezTo>
                    <a:pt x="159893" y="22845"/>
                    <a:pt x="20320" y="179045"/>
                    <a:pt x="20320" y="371511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0418" y="3858032"/>
            <a:ext cx="466706" cy="466706"/>
            <a:chOff x="0" y="0"/>
            <a:chExt cx="622275" cy="622275"/>
          </a:xfrm>
        </p:grpSpPr>
        <p:sp>
          <p:nvSpPr>
            <p:cNvPr name="Freeform 15" id="15" descr="/Users/dhairya/Documents/Codex/2026-05-13/files-mentioned-by-the-user-ppt/outputs/manual-qevm-pptx/presentations/q-evm-ug-project/assets/icons/wallet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695212" y="3630697"/>
            <a:ext cx="20178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Wallet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2849" y="4255413"/>
            <a:ext cx="248453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ML-DSA signed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UserOperation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53379" y="5573728"/>
            <a:ext cx="2142896" cy="399602"/>
            <a:chOff x="0" y="0"/>
            <a:chExt cx="2857195" cy="5328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0160" y="10160"/>
              <a:ext cx="2836799" cy="512572"/>
            </a:xfrm>
            <a:custGeom>
              <a:avLst/>
              <a:gdLst/>
              <a:ahLst/>
              <a:cxnLst/>
              <a:rect r="r" b="b" t="t" l="l"/>
              <a:pathLst>
                <a:path h="512572" w="2836799">
                  <a:moveTo>
                    <a:pt x="0" y="85471"/>
                  </a:moveTo>
                  <a:cubicBezTo>
                    <a:pt x="0" y="38227"/>
                    <a:pt x="39497" y="0"/>
                    <a:pt x="88138" y="0"/>
                  </a:cubicBezTo>
                  <a:lnTo>
                    <a:pt x="2748661" y="0"/>
                  </a:lnTo>
                  <a:cubicBezTo>
                    <a:pt x="2797302" y="0"/>
                    <a:pt x="2836799" y="38227"/>
                    <a:pt x="2836799" y="85471"/>
                  </a:cubicBezTo>
                  <a:lnTo>
                    <a:pt x="2836799" y="427101"/>
                  </a:lnTo>
                  <a:cubicBezTo>
                    <a:pt x="2836799" y="474218"/>
                    <a:pt x="2797302" y="512572"/>
                    <a:pt x="2748661" y="512572"/>
                  </a:cubicBezTo>
                  <a:lnTo>
                    <a:pt x="88138" y="512572"/>
                  </a:lnTo>
                  <a:cubicBezTo>
                    <a:pt x="3949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F7F9F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7119" cy="532892"/>
            </a:xfrm>
            <a:custGeom>
              <a:avLst/>
              <a:gdLst/>
              <a:ahLst/>
              <a:cxnLst/>
              <a:rect r="r" b="b" t="t" l="l"/>
              <a:pathLst>
                <a:path h="532892" w="2857119">
                  <a:moveTo>
                    <a:pt x="0" y="95631"/>
                  </a:moveTo>
                  <a:cubicBezTo>
                    <a:pt x="0" y="42545"/>
                    <a:pt x="44323" y="0"/>
                    <a:pt x="98298" y="0"/>
                  </a:cubicBezTo>
                  <a:lnTo>
                    <a:pt x="2758821" y="0"/>
                  </a:lnTo>
                  <a:lnTo>
                    <a:pt x="2758821" y="10160"/>
                  </a:lnTo>
                  <a:lnTo>
                    <a:pt x="2758821" y="0"/>
                  </a:lnTo>
                  <a:cubicBezTo>
                    <a:pt x="2812796" y="0"/>
                    <a:pt x="2857119" y="42545"/>
                    <a:pt x="2857119" y="95631"/>
                  </a:cubicBezTo>
                  <a:lnTo>
                    <a:pt x="2846959" y="95631"/>
                  </a:lnTo>
                  <a:lnTo>
                    <a:pt x="2857119" y="95631"/>
                  </a:lnTo>
                  <a:lnTo>
                    <a:pt x="2857119" y="437261"/>
                  </a:lnTo>
                  <a:lnTo>
                    <a:pt x="2846959" y="437261"/>
                  </a:lnTo>
                  <a:lnTo>
                    <a:pt x="2857119" y="437261"/>
                  </a:lnTo>
                  <a:cubicBezTo>
                    <a:pt x="2857119" y="490347"/>
                    <a:pt x="2812796" y="532892"/>
                    <a:pt x="2758821" y="532892"/>
                  </a:cubicBezTo>
                  <a:lnTo>
                    <a:pt x="2758821" y="522732"/>
                  </a:lnTo>
                  <a:lnTo>
                    <a:pt x="2758821" y="532892"/>
                  </a:lnTo>
                  <a:lnTo>
                    <a:pt x="98298" y="532892"/>
                  </a:lnTo>
                  <a:lnTo>
                    <a:pt x="98298" y="522732"/>
                  </a:lnTo>
                  <a:lnTo>
                    <a:pt x="98298" y="532892"/>
                  </a:lnTo>
                  <a:cubicBezTo>
                    <a:pt x="44323" y="532765"/>
                    <a:pt x="0" y="490347"/>
                    <a:pt x="0" y="437261"/>
                  </a:cubicBezTo>
                  <a:lnTo>
                    <a:pt x="0" y="95631"/>
                  </a:lnTo>
                  <a:lnTo>
                    <a:pt x="10160" y="95631"/>
                  </a:lnTo>
                  <a:lnTo>
                    <a:pt x="0" y="95631"/>
                  </a:lnTo>
                  <a:moveTo>
                    <a:pt x="20320" y="95631"/>
                  </a:moveTo>
                  <a:lnTo>
                    <a:pt x="20320" y="437261"/>
                  </a:lnTo>
                  <a:lnTo>
                    <a:pt x="10160" y="437261"/>
                  </a:lnTo>
                  <a:lnTo>
                    <a:pt x="20320" y="437261"/>
                  </a:lnTo>
                  <a:cubicBezTo>
                    <a:pt x="20320" y="478536"/>
                    <a:pt x="54991" y="512445"/>
                    <a:pt x="98298" y="512445"/>
                  </a:cubicBezTo>
                  <a:lnTo>
                    <a:pt x="2758821" y="512445"/>
                  </a:lnTo>
                  <a:cubicBezTo>
                    <a:pt x="2802255" y="512445"/>
                    <a:pt x="2836799" y="478409"/>
                    <a:pt x="2836799" y="437261"/>
                  </a:cubicBezTo>
                  <a:lnTo>
                    <a:pt x="2836799" y="95631"/>
                  </a:lnTo>
                  <a:cubicBezTo>
                    <a:pt x="2836799" y="54356"/>
                    <a:pt x="2802128" y="20447"/>
                    <a:pt x="2758821" y="20447"/>
                  </a:cubicBezTo>
                  <a:lnTo>
                    <a:pt x="98298" y="20447"/>
                  </a:lnTo>
                  <a:lnTo>
                    <a:pt x="98298" y="10160"/>
                  </a:lnTo>
                  <a:lnTo>
                    <a:pt x="98298" y="20320"/>
                  </a:lnTo>
                  <a:cubicBezTo>
                    <a:pt x="54991" y="20320"/>
                    <a:pt x="20320" y="54356"/>
                    <a:pt x="20320" y="95631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983165" y="5616085"/>
            <a:ext cx="8833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ML-DSA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877189" y="4226819"/>
            <a:ext cx="687476" cy="28594"/>
            <a:chOff x="0" y="0"/>
            <a:chExt cx="916635" cy="381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0"/>
              <a:ext cx="878586" cy="38100"/>
            </a:xfrm>
            <a:custGeom>
              <a:avLst/>
              <a:gdLst/>
              <a:ahLst/>
              <a:cxnLst/>
              <a:rect r="r" b="b" t="t" l="l"/>
              <a:pathLst>
                <a:path h="38100" w="878586">
                  <a:moveTo>
                    <a:pt x="0" y="0"/>
                  </a:moveTo>
                  <a:lnTo>
                    <a:pt x="878586" y="0"/>
                  </a:lnTo>
                  <a:lnTo>
                    <a:pt x="878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391749" y="3505976"/>
            <a:ext cx="2829230" cy="1456553"/>
            <a:chOff x="0" y="0"/>
            <a:chExt cx="3772306" cy="1942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0160" y="10160"/>
              <a:ext cx="3751961" cy="1921764"/>
            </a:xfrm>
            <a:custGeom>
              <a:avLst/>
              <a:gdLst/>
              <a:ahLst/>
              <a:cxnLst/>
              <a:rect r="r" b="b" t="t" l="l"/>
              <a:pathLst>
                <a:path h="1921764" w="3751961">
                  <a:moveTo>
                    <a:pt x="0" y="320294"/>
                  </a:moveTo>
                  <a:cubicBezTo>
                    <a:pt x="0" y="143383"/>
                    <a:pt x="144145" y="0"/>
                    <a:pt x="321945" y="0"/>
                  </a:cubicBezTo>
                  <a:lnTo>
                    <a:pt x="3430016" y="0"/>
                  </a:lnTo>
                  <a:cubicBezTo>
                    <a:pt x="3607816" y="0"/>
                    <a:pt x="3751961" y="143383"/>
                    <a:pt x="3751961" y="320294"/>
                  </a:cubicBezTo>
                  <a:lnTo>
                    <a:pt x="3751961" y="1601470"/>
                  </a:lnTo>
                  <a:cubicBezTo>
                    <a:pt x="3751961" y="1778381"/>
                    <a:pt x="3607816" y="1921764"/>
                    <a:pt x="3430016" y="1921764"/>
                  </a:cubicBezTo>
                  <a:lnTo>
                    <a:pt x="321945" y="1921764"/>
                  </a:lnTo>
                  <a:cubicBezTo>
                    <a:pt x="144145" y="1921764"/>
                    <a:pt x="0" y="1778381"/>
                    <a:pt x="0" y="16014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72281" cy="1942084"/>
            </a:xfrm>
            <a:custGeom>
              <a:avLst/>
              <a:gdLst/>
              <a:ahLst/>
              <a:cxnLst/>
              <a:rect r="r" b="b" t="t" l="l"/>
              <a:pathLst>
                <a:path h="1942084" w="3772281">
                  <a:moveTo>
                    <a:pt x="0" y="330454"/>
                  </a:moveTo>
                  <a:cubicBezTo>
                    <a:pt x="0" y="147955"/>
                    <a:pt x="148717" y="0"/>
                    <a:pt x="332105" y="0"/>
                  </a:cubicBezTo>
                  <a:lnTo>
                    <a:pt x="3440176" y="0"/>
                  </a:lnTo>
                  <a:lnTo>
                    <a:pt x="3440176" y="10160"/>
                  </a:lnTo>
                  <a:lnTo>
                    <a:pt x="3440176" y="0"/>
                  </a:lnTo>
                  <a:cubicBezTo>
                    <a:pt x="3623564" y="0"/>
                    <a:pt x="3772281" y="147955"/>
                    <a:pt x="3772281" y="330454"/>
                  </a:cubicBezTo>
                  <a:lnTo>
                    <a:pt x="3762121" y="330454"/>
                  </a:lnTo>
                  <a:lnTo>
                    <a:pt x="3772281" y="330454"/>
                  </a:lnTo>
                  <a:lnTo>
                    <a:pt x="3772281" y="1611630"/>
                  </a:lnTo>
                  <a:lnTo>
                    <a:pt x="3762121" y="1611630"/>
                  </a:lnTo>
                  <a:lnTo>
                    <a:pt x="3772281" y="1611630"/>
                  </a:lnTo>
                  <a:cubicBezTo>
                    <a:pt x="3772281" y="1794129"/>
                    <a:pt x="3623564" y="1942084"/>
                    <a:pt x="3440176" y="1942084"/>
                  </a:cubicBezTo>
                  <a:lnTo>
                    <a:pt x="3440176" y="1931924"/>
                  </a:lnTo>
                  <a:lnTo>
                    <a:pt x="3440176" y="1942084"/>
                  </a:lnTo>
                  <a:lnTo>
                    <a:pt x="332105" y="1942084"/>
                  </a:lnTo>
                  <a:lnTo>
                    <a:pt x="332105" y="1931924"/>
                  </a:lnTo>
                  <a:lnTo>
                    <a:pt x="332105" y="1942084"/>
                  </a:lnTo>
                  <a:cubicBezTo>
                    <a:pt x="148717" y="1942084"/>
                    <a:pt x="0" y="1794129"/>
                    <a:pt x="0" y="1611630"/>
                  </a:cubicBezTo>
                  <a:lnTo>
                    <a:pt x="0" y="330454"/>
                  </a:lnTo>
                  <a:lnTo>
                    <a:pt x="10160" y="330454"/>
                  </a:lnTo>
                  <a:lnTo>
                    <a:pt x="0" y="330454"/>
                  </a:lnTo>
                  <a:moveTo>
                    <a:pt x="20320" y="330454"/>
                  </a:moveTo>
                  <a:lnTo>
                    <a:pt x="20320" y="1611630"/>
                  </a:lnTo>
                  <a:lnTo>
                    <a:pt x="10160" y="1611630"/>
                  </a:lnTo>
                  <a:lnTo>
                    <a:pt x="20320" y="1611630"/>
                  </a:lnTo>
                  <a:cubicBezTo>
                    <a:pt x="20320" y="1782826"/>
                    <a:pt x="159893" y="1921764"/>
                    <a:pt x="332105" y="1921764"/>
                  </a:cubicBezTo>
                  <a:lnTo>
                    <a:pt x="3440176" y="1921764"/>
                  </a:lnTo>
                  <a:cubicBezTo>
                    <a:pt x="3612388" y="1921764"/>
                    <a:pt x="3751961" y="1782826"/>
                    <a:pt x="3751961" y="1611630"/>
                  </a:cubicBezTo>
                  <a:lnTo>
                    <a:pt x="3751961" y="330454"/>
                  </a:lnTo>
                  <a:cubicBezTo>
                    <a:pt x="3751961" y="159258"/>
                    <a:pt x="3612388" y="20320"/>
                    <a:pt x="3440176" y="20320"/>
                  </a:cubicBezTo>
                  <a:lnTo>
                    <a:pt x="332105" y="20320"/>
                  </a:lnTo>
                  <a:lnTo>
                    <a:pt x="332105" y="10160"/>
                  </a:lnTo>
                  <a:lnTo>
                    <a:pt x="332105" y="20320"/>
                  </a:lnTo>
                  <a:cubicBezTo>
                    <a:pt x="159893" y="20320"/>
                    <a:pt x="20320" y="159258"/>
                    <a:pt x="20320" y="330454"/>
                  </a:cubicBezTo>
                  <a:close/>
                </a:path>
              </a:pathLst>
            </a:custGeom>
            <a:solidFill>
              <a:srgbClr val="1F2A4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509183" y="3719498"/>
            <a:ext cx="466706" cy="466706"/>
            <a:chOff x="0" y="0"/>
            <a:chExt cx="622275" cy="622275"/>
          </a:xfrm>
        </p:grpSpPr>
        <p:sp>
          <p:nvSpPr>
            <p:cNvPr name="Freeform 28" id="28" descr="/Users/dhairya/Documents/Codex/2026-05-13/files-mentioned-by-the-user-ppt/outputs/manual-qevm-pptx/presentations/q-evm-ug-project/assets/icons/network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058251" y="3630697"/>
            <a:ext cx="20178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Rust Bundler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58251" y="4255413"/>
            <a:ext cx="248453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ERC-4337 mempool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716428" y="5573728"/>
            <a:ext cx="2142896" cy="399602"/>
            <a:chOff x="0" y="0"/>
            <a:chExt cx="2857195" cy="5328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0160" y="10160"/>
              <a:ext cx="2836799" cy="512572"/>
            </a:xfrm>
            <a:custGeom>
              <a:avLst/>
              <a:gdLst/>
              <a:ahLst/>
              <a:cxnLst/>
              <a:rect r="r" b="b" t="t" l="l"/>
              <a:pathLst>
                <a:path h="512572" w="2836799">
                  <a:moveTo>
                    <a:pt x="0" y="85471"/>
                  </a:moveTo>
                  <a:cubicBezTo>
                    <a:pt x="0" y="38227"/>
                    <a:pt x="39497" y="0"/>
                    <a:pt x="88138" y="0"/>
                  </a:cubicBezTo>
                  <a:lnTo>
                    <a:pt x="2748661" y="0"/>
                  </a:lnTo>
                  <a:cubicBezTo>
                    <a:pt x="2797302" y="0"/>
                    <a:pt x="2836799" y="38227"/>
                    <a:pt x="2836799" y="85471"/>
                  </a:cubicBezTo>
                  <a:lnTo>
                    <a:pt x="2836799" y="427101"/>
                  </a:lnTo>
                  <a:cubicBezTo>
                    <a:pt x="2836799" y="474218"/>
                    <a:pt x="2797302" y="512572"/>
                    <a:pt x="2748661" y="512572"/>
                  </a:cubicBezTo>
                  <a:lnTo>
                    <a:pt x="88138" y="512572"/>
                  </a:lnTo>
                  <a:cubicBezTo>
                    <a:pt x="3949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F7F9F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57119" cy="532892"/>
            </a:xfrm>
            <a:custGeom>
              <a:avLst/>
              <a:gdLst/>
              <a:ahLst/>
              <a:cxnLst/>
              <a:rect r="r" b="b" t="t" l="l"/>
              <a:pathLst>
                <a:path h="532892" w="2857119">
                  <a:moveTo>
                    <a:pt x="0" y="95631"/>
                  </a:moveTo>
                  <a:cubicBezTo>
                    <a:pt x="0" y="42545"/>
                    <a:pt x="44323" y="0"/>
                    <a:pt x="98298" y="0"/>
                  </a:cubicBezTo>
                  <a:lnTo>
                    <a:pt x="2758821" y="0"/>
                  </a:lnTo>
                  <a:lnTo>
                    <a:pt x="2758821" y="10160"/>
                  </a:lnTo>
                  <a:lnTo>
                    <a:pt x="2758821" y="0"/>
                  </a:lnTo>
                  <a:cubicBezTo>
                    <a:pt x="2812796" y="0"/>
                    <a:pt x="2857119" y="42545"/>
                    <a:pt x="2857119" y="95631"/>
                  </a:cubicBezTo>
                  <a:lnTo>
                    <a:pt x="2846959" y="95631"/>
                  </a:lnTo>
                  <a:lnTo>
                    <a:pt x="2857119" y="95631"/>
                  </a:lnTo>
                  <a:lnTo>
                    <a:pt x="2857119" y="437261"/>
                  </a:lnTo>
                  <a:lnTo>
                    <a:pt x="2846959" y="437261"/>
                  </a:lnTo>
                  <a:lnTo>
                    <a:pt x="2857119" y="437261"/>
                  </a:lnTo>
                  <a:cubicBezTo>
                    <a:pt x="2857119" y="490347"/>
                    <a:pt x="2812796" y="532892"/>
                    <a:pt x="2758821" y="532892"/>
                  </a:cubicBezTo>
                  <a:lnTo>
                    <a:pt x="2758821" y="522732"/>
                  </a:lnTo>
                  <a:lnTo>
                    <a:pt x="2758821" y="532892"/>
                  </a:lnTo>
                  <a:lnTo>
                    <a:pt x="98298" y="532892"/>
                  </a:lnTo>
                  <a:lnTo>
                    <a:pt x="98298" y="522732"/>
                  </a:lnTo>
                  <a:lnTo>
                    <a:pt x="98298" y="532892"/>
                  </a:lnTo>
                  <a:cubicBezTo>
                    <a:pt x="44323" y="532765"/>
                    <a:pt x="0" y="490347"/>
                    <a:pt x="0" y="437261"/>
                  </a:cubicBezTo>
                  <a:lnTo>
                    <a:pt x="0" y="95631"/>
                  </a:lnTo>
                  <a:lnTo>
                    <a:pt x="10160" y="95631"/>
                  </a:lnTo>
                  <a:lnTo>
                    <a:pt x="0" y="95631"/>
                  </a:lnTo>
                  <a:moveTo>
                    <a:pt x="20320" y="95631"/>
                  </a:moveTo>
                  <a:lnTo>
                    <a:pt x="20320" y="437261"/>
                  </a:lnTo>
                  <a:lnTo>
                    <a:pt x="10160" y="437261"/>
                  </a:lnTo>
                  <a:lnTo>
                    <a:pt x="20320" y="437261"/>
                  </a:lnTo>
                  <a:cubicBezTo>
                    <a:pt x="20320" y="478536"/>
                    <a:pt x="54991" y="512445"/>
                    <a:pt x="98298" y="512445"/>
                  </a:cubicBezTo>
                  <a:lnTo>
                    <a:pt x="2758821" y="512445"/>
                  </a:lnTo>
                  <a:cubicBezTo>
                    <a:pt x="2802255" y="512445"/>
                    <a:pt x="2836799" y="478409"/>
                    <a:pt x="2836799" y="437261"/>
                  </a:cubicBezTo>
                  <a:lnTo>
                    <a:pt x="2836799" y="95631"/>
                  </a:lnTo>
                  <a:cubicBezTo>
                    <a:pt x="2836799" y="54356"/>
                    <a:pt x="2802128" y="20447"/>
                    <a:pt x="2758821" y="20447"/>
                  </a:cubicBezTo>
                  <a:lnTo>
                    <a:pt x="98298" y="20447"/>
                  </a:lnTo>
                  <a:lnTo>
                    <a:pt x="98298" y="10160"/>
                  </a:lnTo>
                  <a:lnTo>
                    <a:pt x="98298" y="20320"/>
                  </a:lnTo>
                  <a:cubicBezTo>
                    <a:pt x="54991" y="20320"/>
                    <a:pt x="20320" y="54356"/>
                    <a:pt x="20320" y="95631"/>
                  </a:cubicBezTo>
                  <a:close/>
                </a:path>
              </a:pathLst>
            </a:custGeom>
            <a:solidFill>
              <a:srgbClr val="1F2A4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5265965" y="5616085"/>
            <a:ext cx="104382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ERC-4337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240229" y="4226819"/>
            <a:ext cx="687476" cy="28594"/>
            <a:chOff x="0" y="0"/>
            <a:chExt cx="916635" cy="381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0"/>
              <a:ext cx="878586" cy="38100"/>
            </a:xfrm>
            <a:custGeom>
              <a:avLst/>
              <a:gdLst/>
              <a:ahLst/>
              <a:cxnLst/>
              <a:rect r="r" b="b" t="t" l="l"/>
              <a:pathLst>
                <a:path h="38100" w="878586">
                  <a:moveTo>
                    <a:pt x="0" y="0"/>
                  </a:moveTo>
                  <a:lnTo>
                    <a:pt x="878586" y="0"/>
                  </a:lnTo>
                  <a:lnTo>
                    <a:pt x="878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754798" y="3505976"/>
            <a:ext cx="2829230" cy="1456553"/>
            <a:chOff x="0" y="0"/>
            <a:chExt cx="3772306" cy="1942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0160" y="10160"/>
              <a:ext cx="3751961" cy="1921764"/>
            </a:xfrm>
            <a:custGeom>
              <a:avLst/>
              <a:gdLst/>
              <a:ahLst/>
              <a:cxnLst/>
              <a:rect r="r" b="b" t="t" l="l"/>
              <a:pathLst>
                <a:path h="1921764" w="3751961">
                  <a:moveTo>
                    <a:pt x="0" y="320294"/>
                  </a:moveTo>
                  <a:cubicBezTo>
                    <a:pt x="0" y="143383"/>
                    <a:pt x="144145" y="0"/>
                    <a:pt x="321945" y="0"/>
                  </a:cubicBezTo>
                  <a:lnTo>
                    <a:pt x="3430016" y="0"/>
                  </a:lnTo>
                  <a:cubicBezTo>
                    <a:pt x="3607816" y="0"/>
                    <a:pt x="3751961" y="143383"/>
                    <a:pt x="3751961" y="320294"/>
                  </a:cubicBezTo>
                  <a:lnTo>
                    <a:pt x="3751961" y="1601470"/>
                  </a:lnTo>
                  <a:cubicBezTo>
                    <a:pt x="3751961" y="1778381"/>
                    <a:pt x="3607816" y="1921764"/>
                    <a:pt x="3430016" y="1921764"/>
                  </a:cubicBezTo>
                  <a:lnTo>
                    <a:pt x="321945" y="1921764"/>
                  </a:lnTo>
                  <a:cubicBezTo>
                    <a:pt x="144145" y="1921764"/>
                    <a:pt x="0" y="1778381"/>
                    <a:pt x="0" y="16014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72281" cy="1942084"/>
            </a:xfrm>
            <a:custGeom>
              <a:avLst/>
              <a:gdLst/>
              <a:ahLst/>
              <a:cxnLst/>
              <a:rect r="r" b="b" t="t" l="l"/>
              <a:pathLst>
                <a:path h="1942084" w="3772281">
                  <a:moveTo>
                    <a:pt x="0" y="330454"/>
                  </a:moveTo>
                  <a:cubicBezTo>
                    <a:pt x="0" y="147955"/>
                    <a:pt x="148717" y="0"/>
                    <a:pt x="332105" y="0"/>
                  </a:cubicBezTo>
                  <a:lnTo>
                    <a:pt x="3440176" y="0"/>
                  </a:lnTo>
                  <a:lnTo>
                    <a:pt x="3440176" y="10160"/>
                  </a:lnTo>
                  <a:lnTo>
                    <a:pt x="3440176" y="0"/>
                  </a:lnTo>
                  <a:cubicBezTo>
                    <a:pt x="3623564" y="0"/>
                    <a:pt x="3772281" y="147955"/>
                    <a:pt x="3772281" y="330454"/>
                  </a:cubicBezTo>
                  <a:lnTo>
                    <a:pt x="3762121" y="330454"/>
                  </a:lnTo>
                  <a:lnTo>
                    <a:pt x="3772281" y="330454"/>
                  </a:lnTo>
                  <a:lnTo>
                    <a:pt x="3772281" y="1611630"/>
                  </a:lnTo>
                  <a:lnTo>
                    <a:pt x="3762121" y="1611630"/>
                  </a:lnTo>
                  <a:lnTo>
                    <a:pt x="3772281" y="1611630"/>
                  </a:lnTo>
                  <a:cubicBezTo>
                    <a:pt x="3772281" y="1794129"/>
                    <a:pt x="3623564" y="1942084"/>
                    <a:pt x="3440176" y="1942084"/>
                  </a:cubicBezTo>
                  <a:lnTo>
                    <a:pt x="3440176" y="1931924"/>
                  </a:lnTo>
                  <a:lnTo>
                    <a:pt x="3440176" y="1942084"/>
                  </a:lnTo>
                  <a:lnTo>
                    <a:pt x="332105" y="1942084"/>
                  </a:lnTo>
                  <a:lnTo>
                    <a:pt x="332105" y="1931924"/>
                  </a:lnTo>
                  <a:lnTo>
                    <a:pt x="332105" y="1942084"/>
                  </a:lnTo>
                  <a:cubicBezTo>
                    <a:pt x="148717" y="1942084"/>
                    <a:pt x="0" y="1794129"/>
                    <a:pt x="0" y="1611630"/>
                  </a:cubicBezTo>
                  <a:lnTo>
                    <a:pt x="0" y="330454"/>
                  </a:lnTo>
                  <a:lnTo>
                    <a:pt x="10160" y="330454"/>
                  </a:lnTo>
                  <a:lnTo>
                    <a:pt x="0" y="330454"/>
                  </a:lnTo>
                  <a:moveTo>
                    <a:pt x="20320" y="330454"/>
                  </a:moveTo>
                  <a:lnTo>
                    <a:pt x="20320" y="1611630"/>
                  </a:lnTo>
                  <a:lnTo>
                    <a:pt x="10160" y="1611630"/>
                  </a:lnTo>
                  <a:lnTo>
                    <a:pt x="20320" y="1611630"/>
                  </a:lnTo>
                  <a:cubicBezTo>
                    <a:pt x="20320" y="1782826"/>
                    <a:pt x="159893" y="1921764"/>
                    <a:pt x="332105" y="1921764"/>
                  </a:cubicBezTo>
                  <a:lnTo>
                    <a:pt x="3440176" y="1921764"/>
                  </a:lnTo>
                  <a:cubicBezTo>
                    <a:pt x="3612388" y="1921764"/>
                    <a:pt x="3751961" y="1782826"/>
                    <a:pt x="3751961" y="1611630"/>
                  </a:cubicBezTo>
                  <a:lnTo>
                    <a:pt x="3751961" y="330454"/>
                  </a:lnTo>
                  <a:cubicBezTo>
                    <a:pt x="3751961" y="159258"/>
                    <a:pt x="3612388" y="20320"/>
                    <a:pt x="3440176" y="20320"/>
                  </a:cubicBezTo>
                  <a:lnTo>
                    <a:pt x="332105" y="20320"/>
                  </a:lnTo>
                  <a:lnTo>
                    <a:pt x="332105" y="10160"/>
                  </a:lnTo>
                  <a:lnTo>
                    <a:pt x="332105" y="20320"/>
                  </a:lnTo>
                  <a:cubicBezTo>
                    <a:pt x="159893" y="20320"/>
                    <a:pt x="20320" y="159258"/>
                    <a:pt x="20320" y="330454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872232" y="3719498"/>
            <a:ext cx="466706" cy="466706"/>
            <a:chOff x="0" y="0"/>
            <a:chExt cx="622275" cy="622275"/>
          </a:xfrm>
        </p:grpSpPr>
        <p:sp>
          <p:nvSpPr>
            <p:cNvPr name="Freeform 41" id="41" descr="/Users/dhairya/Documents/Codex/2026-05-13/files-mentioned-by-the-user-ppt/outputs/manual-qevm-pptx/presentations/q-evm-ug-project/assets/icons/cpu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421300" y="3630697"/>
            <a:ext cx="20178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RISC Zero zkVM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421300" y="4188719"/>
            <a:ext cx="248453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ML-DSA verification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inside guest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079476" y="5573728"/>
            <a:ext cx="2142896" cy="399602"/>
            <a:chOff x="0" y="0"/>
            <a:chExt cx="2857195" cy="5328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0160" y="10160"/>
              <a:ext cx="2836799" cy="512572"/>
            </a:xfrm>
            <a:custGeom>
              <a:avLst/>
              <a:gdLst/>
              <a:ahLst/>
              <a:cxnLst/>
              <a:rect r="r" b="b" t="t" l="l"/>
              <a:pathLst>
                <a:path h="512572" w="2836799">
                  <a:moveTo>
                    <a:pt x="0" y="85471"/>
                  </a:moveTo>
                  <a:cubicBezTo>
                    <a:pt x="0" y="38227"/>
                    <a:pt x="39497" y="0"/>
                    <a:pt x="88138" y="0"/>
                  </a:cubicBezTo>
                  <a:lnTo>
                    <a:pt x="2748661" y="0"/>
                  </a:lnTo>
                  <a:cubicBezTo>
                    <a:pt x="2797302" y="0"/>
                    <a:pt x="2836799" y="38227"/>
                    <a:pt x="2836799" y="85471"/>
                  </a:cubicBezTo>
                  <a:lnTo>
                    <a:pt x="2836799" y="427101"/>
                  </a:lnTo>
                  <a:cubicBezTo>
                    <a:pt x="2836799" y="474218"/>
                    <a:pt x="2797302" y="512572"/>
                    <a:pt x="2748661" y="512572"/>
                  </a:cubicBezTo>
                  <a:lnTo>
                    <a:pt x="88138" y="512572"/>
                  </a:lnTo>
                  <a:cubicBezTo>
                    <a:pt x="3949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E8F9F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57119" cy="532892"/>
            </a:xfrm>
            <a:custGeom>
              <a:avLst/>
              <a:gdLst/>
              <a:ahLst/>
              <a:cxnLst/>
              <a:rect r="r" b="b" t="t" l="l"/>
              <a:pathLst>
                <a:path h="532892" w="2857119">
                  <a:moveTo>
                    <a:pt x="0" y="95631"/>
                  </a:moveTo>
                  <a:cubicBezTo>
                    <a:pt x="0" y="42545"/>
                    <a:pt x="44323" y="0"/>
                    <a:pt x="98298" y="0"/>
                  </a:cubicBezTo>
                  <a:lnTo>
                    <a:pt x="2758821" y="0"/>
                  </a:lnTo>
                  <a:lnTo>
                    <a:pt x="2758821" y="10160"/>
                  </a:lnTo>
                  <a:lnTo>
                    <a:pt x="2758821" y="0"/>
                  </a:lnTo>
                  <a:cubicBezTo>
                    <a:pt x="2812796" y="0"/>
                    <a:pt x="2857119" y="42545"/>
                    <a:pt x="2857119" y="95631"/>
                  </a:cubicBezTo>
                  <a:lnTo>
                    <a:pt x="2846959" y="95631"/>
                  </a:lnTo>
                  <a:lnTo>
                    <a:pt x="2857119" y="95631"/>
                  </a:lnTo>
                  <a:lnTo>
                    <a:pt x="2857119" y="437261"/>
                  </a:lnTo>
                  <a:lnTo>
                    <a:pt x="2846959" y="437261"/>
                  </a:lnTo>
                  <a:lnTo>
                    <a:pt x="2857119" y="437261"/>
                  </a:lnTo>
                  <a:cubicBezTo>
                    <a:pt x="2857119" y="490347"/>
                    <a:pt x="2812796" y="532892"/>
                    <a:pt x="2758821" y="532892"/>
                  </a:cubicBezTo>
                  <a:lnTo>
                    <a:pt x="2758821" y="522732"/>
                  </a:lnTo>
                  <a:lnTo>
                    <a:pt x="2758821" y="532892"/>
                  </a:lnTo>
                  <a:lnTo>
                    <a:pt x="98298" y="532892"/>
                  </a:lnTo>
                  <a:lnTo>
                    <a:pt x="98298" y="522732"/>
                  </a:lnTo>
                  <a:lnTo>
                    <a:pt x="98298" y="532892"/>
                  </a:lnTo>
                  <a:cubicBezTo>
                    <a:pt x="44323" y="532765"/>
                    <a:pt x="0" y="490347"/>
                    <a:pt x="0" y="437261"/>
                  </a:cubicBezTo>
                  <a:lnTo>
                    <a:pt x="0" y="95631"/>
                  </a:lnTo>
                  <a:lnTo>
                    <a:pt x="10160" y="95631"/>
                  </a:lnTo>
                  <a:lnTo>
                    <a:pt x="0" y="95631"/>
                  </a:lnTo>
                  <a:moveTo>
                    <a:pt x="20320" y="95631"/>
                  </a:moveTo>
                  <a:lnTo>
                    <a:pt x="20320" y="437261"/>
                  </a:lnTo>
                  <a:lnTo>
                    <a:pt x="10160" y="437261"/>
                  </a:lnTo>
                  <a:lnTo>
                    <a:pt x="20320" y="437261"/>
                  </a:lnTo>
                  <a:cubicBezTo>
                    <a:pt x="20320" y="478536"/>
                    <a:pt x="54991" y="512445"/>
                    <a:pt x="98298" y="512445"/>
                  </a:cubicBezTo>
                  <a:lnTo>
                    <a:pt x="2758821" y="512445"/>
                  </a:lnTo>
                  <a:cubicBezTo>
                    <a:pt x="2802255" y="512445"/>
                    <a:pt x="2836799" y="478409"/>
                    <a:pt x="2836799" y="437261"/>
                  </a:cubicBezTo>
                  <a:lnTo>
                    <a:pt x="2836799" y="95631"/>
                  </a:lnTo>
                  <a:cubicBezTo>
                    <a:pt x="2836799" y="54356"/>
                    <a:pt x="2802128" y="20447"/>
                    <a:pt x="2758821" y="20447"/>
                  </a:cubicBezTo>
                  <a:lnTo>
                    <a:pt x="98298" y="20447"/>
                  </a:lnTo>
                  <a:lnTo>
                    <a:pt x="98298" y="10160"/>
                  </a:lnTo>
                  <a:lnTo>
                    <a:pt x="98298" y="20320"/>
                  </a:lnTo>
                  <a:cubicBezTo>
                    <a:pt x="54991" y="20320"/>
                    <a:pt x="20320" y="54356"/>
                    <a:pt x="20320" y="95631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8251050" y="5616085"/>
            <a:ext cx="179974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1,842,500 cycles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603278" y="4226819"/>
            <a:ext cx="687476" cy="28594"/>
            <a:chOff x="0" y="0"/>
            <a:chExt cx="916635" cy="3812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9050" y="0"/>
              <a:ext cx="878586" cy="38100"/>
            </a:xfrm>
            <a:custGeom>
              <a:avLst/>
              <a:gdLst/>
              <a:ahLst/>
              <a:cxnLst/>
              <a:rect r="r" b="b" t="t" l="l"/>
              <a:pathLst>
                <a:path h="38100" w="878586">
                  <a:moveTo>
                    <a:pt x="0" y="0"/>
                  </a:moveTo>
                  <a:lnTo>
                    <a:pt x="878586" y="0"/>
                  </a:lnTo>
                  <a:lnTo>
                    <a:pt x="878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117837" y="3505976"/>
            <a:ext cx="2829230" cy="1456553"/>
            <a:chOff x="0" y="0"/>
            <a:chExt cx="3772306" cy="1942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0160" y="10160"/>
              <a:ext cx="3751961" cy="1921764"/>
            </a:xfrm>
            <a:custGeom>
              <a:avLst/>
              <a:gdLst/>
              <a:ahLst/>
              <a:cxnLst/>
              <a:rect r="r" b="b" t="t" l="l"/>
              <a:pathLst>
                <a:path h="1921764" w="3751961">
                  <a:moveTo>
                    <a:pt x="0" y="320294"/>
                  </a:moveTo>
                  <a:cubicBezTo>
                    <a:pt x="0" y="143383"/>
                    <a:pt x="144145" y="0"/>
                    <a:pt x="321945" y="0"/>
                  </a:cubicBezTo>
                  <a:lnTo>
                    <a:pt x="3430016" y="0"/>
                  </a:lnTo>
                  <a:cubicBezTo>
                    <a:pt x="3607816" y="0"/>
                    <a:pt x="3751961" y="143383"/>
                    <a:pt x="3751961" y="320294"/>
                  </a:cubicBezTo>
                  <a:lnTo>
                    <a:pt x="3751961" y="1601470"/>
                  </a:lnTo>
                  <a:cubicBezTo>
                    <a:pt x="3751961" y="1778381"/>
                    <a:pt x="3607816" y="1921764"/>
                    <a:pt x="3430016" y="1921764"/>
                  </a:cubicBezTo>
                  <a:lnTo>
                    <a:pt x="321945" y="1921764"/>
                  </a:lnTo>
                  <a:cubicBezTo>
                    <a:pt x="144145" y="1921764"/>
                    <a:pt x="0" y="1778381"/>
                    <a:pt x="0" y="16014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72281" cy="1942084"/>
            </a:xfrm>
            <a:custGeom>
              <a:avLst/>
              <a:gdLst/>
              <a:ahLst/>
              <a:cxnLst/>
              <a:rect r="r" b="b" t="t" l="l"/>
              <a:pathLst>
                <a:path h="1942084" w="3772281">
                  <a:moveTo>
                    <a:pt x="0" y="330454"/>
                  </a:moveTo>
                  <a:cubicBezTo>
                    <a:pt x="0" y="147955"/>
                    <a:pt x="148717" y="0"/>
                    <a:pt x="332105" y="0"/>
                  </a:cubicBezTo>
                  <a:lnTo>
                    <a:pt x="3440176" y="0"/>
                  </a:lnTo>
                  <a:lnTo>
                    <a:pt x="3440176" y="10160"/>
                  </a:lnTo>
                  <a:lnTo>
                    <a:pt x="3440176" y="0"/>
                  </a:lnTo>
                  <a:cubicBezTo>
                    <a:pt x="3623564" y="0"/>
                    <a:pt x="3772281" y="147955"/>
                    <a:pt x="3772281" y="330454"/>
                  </a:cubicBezTo>
                  <a:lnTo>
                    <a:pt x="3762121" y="330454"/>
                  </a:lnTo>
                  <a:lnTo>
                    <a:pt x="3772281" y="330454"/>
                  </a:lnTo>
                  <a:lnTo>
                    <a:pt x="3772281" y="1611630"/>
                  </a:lnTo>
                  <a:lnTo>
                    <a:pt x="3762121" y="1611630"/>
                  </a:lnTo>
                  <a:lnTo>
                    <a:pt x="3772281" y="1611630"/>
                  </a:lnTo>
                  <a:cubicBezTo>
                    <a:pt x="3772281" y="1794129"/>
                    <a:pt x="3623564" y="1942084"/>
                    <a:pt x="3440176" y="1942084"/>
                  </a:cubicBezTo>
                  <a:lnTo>
                    <a:pt x="3440176" y="1931924"/>
                  </a:lnTo>
                  <a:lnTo>
                    <a:pt x="3440176" y="1942084"/>
                  </a:lnTo>
                  <a:lnTo>
                    <a:pt x="332105" y="1942084"/>
                  </a:lnTo>
                  <a:lnTo>
                    <a:pt x="332105" y="1931924"/>
                  </a:lnTo>
                  <a:lnTo>
                    <a:pt x="332105" y="1942084"/>
                  </a:lnTo>
                  <a:cubicBezTo>
                    <a:pt x="148717" y="1942084"/>
                    <a:pt x="0" y="1794129"/>
                    <a:pt x="0" y="1611630"/>
                  </a:cubicBezTo>
                  <a:lnTo>
                    <a:pt x="0" y="330454"/>
                  </a:lnTo>
                  <a:lnTo>
                    <a:pt x="10160" y="330454"/>
                  </a:lnTo>
                  <a:lnTo>
                    <a:pt x="0" y="330454"/>
                  </a:lnTo>
                  <a:moveTo>
                    <a:pt x="20320" y="330454"/>
                  </a:moveTo>
                  <a:lnTo>
                    <a:pt x="20320" y="1611630"/>
                  </a:lnTo>
                  <a:lnTo>
                    <a:pt x="10160" y="1611630"/>
                  </a:lnTo>
                  <a:lnTo>
                    <a:pt x="20320" y="1611630"/>
                  </a:lnTo>
                  <a:cubicBezTo>
                    <a:pt x="20320" y="1782826"/>
                    <a:pt x="159893" y="1921764"/>
                    <a:pt x="332105" y="1921764"/>
                  </a:cubicBezTo>
                  <a:lnTo>
                    <a:pt x="3440176" y="1921764"/>
                  </a:lnTo>
                  <a:cubicBezTo>
                    <a:pt x="3612388" y="1921764"/>
                    <a:pt x="3751961" y="1782826"/>
                    <a:pt x="3751961" y="1611630"/>
                  </a:cubicBezTo>
                  <a:lnTo>
                    <a:pt x="3751961" y="330454"/>
                  </a:lnTo>
                  <a:cubicBezTo>
                    <a:pt x="3751961" y="159258"/>
                    <a:pt x="3612388" y="20320"/>
                    <a:pt x="3440176" y="20320"/>
                  </a:cubicBezTo>
                  <a:lnTo>
                    <a:pt x="332105" y="20320"/>
                  </a:lnTo>
                  <a:lnTo>
                    <a:pt x="332105" y="10160"/>
                  </a:lnTo>
                  <a:lnTo>
                    <a:pt x="332105" y="20320"/>
                  </a:lnTo>
                  <a:cubicBezTo>
                    <a:pt x="159893" y="20320"/>
                    <a:pt x="20320" y="159258"/>
                    <a:pt x="20320" y="330454"/>
                  </a:cubicBezTo>
                  <a:close/>
                </a:path>
              </a:pathLst>
            </a:custGeom>
            <a:solidFill>
              <a:srgbClr val="6F42C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31918" y="3858032"/>
            <a:ext cx="466706" cy="466706"/>
            <a:chOff x="0" y="0"/>
            <a:chExt cx="622275" cy="622275"/>
          </a:xfrm>
        </p:grpSpPr>
        <p:sp>
          <p:nvSpPr>
            <p:cNvPr name="Freeform 54" id="54" descr="/Users/dhairya/Documents/Codex/2026-05-13/files-mentioned-by-the-user-ppt/outputs/manual-qevm-pptx/presentations/q-evm-ug-project/assets/icons/filecheck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1948493" y="3630697"/>
            <a:ext cx="20178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6F42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zkReceipt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825526" y="4286638"/>
            <a:ext cx="248453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Groth16/STARK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proof artifact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442516" y="5573728"/>
            <a:ext cx="2142896" cy="399602"/>
            <a:chOff x="0" y="0"/>
            <a:chExt cx="2857195" cy="5328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0160" y="10160"/>
              <a:ext cx="2836799" cy="512572"/>
            </a:xfrm>
            <a:custGeom>
              <a:avLst/>
              <a:gdLst/>
              <a:ahLst/>
              <a:cxnLst/>
              <a:rect r="r" b="b" t="t" l="l"/>
              <a:pathLst>
                <a:path h="512572" w="2836799">
                  <a:moveTo>
                    <a:pt x="0" y="85471"/>
                  </a:moveTo>
                  <a:cubicBezTo>
                    <a:pt x="0" y="38227"/>
                    <a:pt x="39497" y="0"/>
                    <a:pt x="88138" y="0"/>
                  </a:cubicBezTo>
                  <a:lnTo>
                    <a:pt x="2748661" y="0"/>
                  </a:lnTo>
                  <a:cubicBezTo>
                    <a:pt x="2797302" y="0"/>
                    <a:pt x="2836799" y="38227"/>
                    <a:pt x="2836799" y="85471"/>
                  </a:cubicBezTo>
                  <a:lnTo>
                    <a:pt x="2836799" y="427101"/>
                  </a:lnTo>
                  <a:cubicBezTo>
                    <a:pt x="2836799" y="474218"/>
                    <a:pt x="2797302" y="512572"/>
                    <a:pt x="2748661" y="512572"/>
                  </a:cubicBezTo>
                  <a:lnTo>
                    <a:pt x="88138" y="512572"/>
                  </a:lnTo>
                  <a:cubicBezTo>
                    <a:pt x="3949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F7F9F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857119" cy="532892"/>
            </a:xfrm>
            <a:custGeom>
              <a:avLst/>
              <a:gdLst/>
              <a:ahLst/>
              <a:cxnLst/>
              <a:rect r="r" b="b" t="t" l="l"/>
              <a:pathLst>
                <a:path h="532892" w="2857119">
                  <a:moveTo>
                    <a:pt x="0" y="95631"/>
                  </a:moveTo>
                  <a:cubicBezTo>
                    <a:pt x="0" y="42545"/>
                    <a:pt x="44323" y="0"/>
                    <a:pt x="98298" y="0"/>
                  </a:cubicBezTo>
                  <a:lnTo>
                    <a:pt x="2758821" y="0"/>
                  </a:lnTo>
                  <a:lnTo>
                    <a:pt x="2758821" y="10160"/>
                  </a:lnTo>
                  <a:lnTo>
                    <a:pt x="2758821" y="0"/>
                  </a:lnTo>
                  <a:cubicBezTo>
                    <a:pt x="2812796" y="0"/>
                    <a:pt x="2857119" y="42545"/>
                    <a:pt x="2857119" y="95631"/>
                  </a:cubicBezTo>
                  <a:lnTo>
                    <a:pt x="2846959" y="95631"/>
                  </a:lnTo>
                  <a:lnTo>
                    <a:pt x="2857119" y="95631"/>
                  </a:lnTo>
                  <a:lnTo>
                    <a:pt x="2857119" y="437261"/>
                  </a:lnTo>
                  <a:lnTo>
                    <a:pt x="2846959" y="437261"/>
                  </a:lnTo>
                  <a:lnTo>
                    <a:pt x="2857119" y="437261"/>
                  </a:lnTo>
                  <a:cubicBezTo>
                    <a:pt x="2857119" y="490347"/>
                    <a:pt x="2812796" y="532892"/>
                    <a:pt x="2758821" y="532892"/>
                  </a:cubicBezTo>
                  <a:lnTo>
                    <a:pt x="2758821" y="522732"/>
                  </a:lnTo>
                  <a:lnTo>
                    <a:pt x="2758821" y="532892"/>
                  </a:lnTo>
                  <a:lnTo>
                    <a:pt x="98298" y="532892"/>
                  </a:lnTo>
                  <a:lnTo>
                    <a:pt x="98298" y="522732"/>
                  </a:lnTo>
                  <a:lnTo>
                    <a:pt x="98298" y="532892"/>
                  </a:lnTo>
                  <a:cubicBezTo>
                    <a:pt x="44323" y="532765"/>
                    <a:pt x="0" y="490347"/>
                    <a:pt x="0" y="437261"/>
                  </a:cubicBezTo>
                  <a:lnTo>
                    <a:pt x="0" y="95631"/>
                  </a:lnTo>
                  <a:lnTo>
                    <a:pt x="10160" y="95631"/>
                  </a:lnTo>
                  <a:lnTo>
                    <a:pt x="0" y="95631"/>
                  </a:lnTo>
                  <a:moveTo>
                    <a:pt x="20320" y="95631"/>
                  </a:moveTo>
                  <a:lnTo>
                    <a:pt x="20320" y="437261"/>
                  </a:lnTo>
                  <a:lnTo>
                    <a:pt x="10160" y="437261"/>
                  </a:lnTo>
                  <a:lnTo>
                    <a:pt x="20320" y="437261"/>
                  </a:lnTo>
                  <a:cubicBezTo>
                    <a:pt x="20320" y="478536"/>
                    <a:pt x="54991" y="512445"/>
                    <a:pt x="98298" y="512445"/>
                  </a:cubicBezTo>
                  <a:lnTo>
                    <a:pt x="2758821" y="512445"/>
                  </a:lnTo>
                  <a:cubicBezTo>
                    <a:pt x="2802255" y="512445"/>
                    <a:pt x="2836799" y="478409"/>
                    <a:pt x="2836799" y="437261"/>
                  </a:cubicBezTo>
                  <a:lnTo>
                    <a:pt x="2836799" y="95631"/>
                  </a:lnTo>
                  <a:cubicBezTo>
                    <a:pt x="2836799" y="54356"/>
                    <a:pt x="2802128" y="20447"/>
                    <a:pt x="2758821" y="20447"/>
                  </a:cubicBezTo>
                  <a:lnTo>
                    <a:pt x="98298" y="20447"/>
                  </a:lnTo>
                  <a:lnTo>
                    <a:pt x="98298" y="10160"/>
                  </a:lnTo>
                  <a:lnTo>
                    <a:pt x="98298" y="20320"/>
                  </a:lnTo>
                  <a:cubicBezTo>
                    <a:pt x="54991" y="20320"/>
                    <a:pt x="20320" y="54356"/>
                    <a:pt x="20320" y="95631"/>
                  </a:cubicBezTo>
                  <a:close/>
                </a:path>
              </a:pathLst>
            </a:custGeom>
            <a:solidFill>
              <a:srgbClr val="6F42C1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2209412" y="5616085"/>
            <a:ext cx="6091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6F42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proof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966327" y="4226819"/>
            <a:ext cx="687476" cy="28594"/>
            <a:chOff x="0" y="0"/>
            <a:chExt cx="916635" cy="3812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9050" y="0"/>
              <a:ext cx="878586" cy="38100"/>
            </a:xfrm>
            <a:custGeom>
              <a:avLst/>
              <a:gdLst/>
              <a:ahLst/>
              <a:cxnLst/>
              <a:rect r="r" b="b" t="t" l="l"/>
              <a:pathLst>
                <a:path h="38100" w="878586">
                  <a:moveTo>
                    <a:pt x="0" y="0"/>
                  </a:moveTo>
                  <a:lnTo>
                    <a:pt x="878586" y="0"/>
                  </a:lnTo>
                  <a:lnTo>
                    <a:pt x="87858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480886" y="3505976"/>
            <a:ext cx="2829230" cy="1456553"/>
            <a:chOff x="0" y="0"/>
            <a:chExt cx="3772306" cy="194207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0160" y="10160"/>
              <a:ext cx="3751961" cy="1921764"/>
            </a:xfrm>
            <a:custGeom>
              <a:avLst/>
              <a:gdLst/>
              <a:ahLst/>
              <a:cxnLst/>
              <a:rect r="r" b="b" t="t" l="l"/>
              <a:pathLst>
                <a:path h="1921764" w="3751961">
                  <a:moveTo>
                    <a:pt x="0" y="320294"/>
                  </a:moveTo>
                  <a:cubicBezTo>
                    <a:pt x="0" y="143383"/>
                    <a:pt x="144145" y="0"/>
                    <a:pt x="321945" y="0"/>
                  </a:cubicBezTo>
                  <a:lnTo>
                    <a:pt x="3430016" y="0"/>
                  </a:lnTo>
                  <a:cubicBezTo>
                    <a:pt x="3607816" y="0"/>
                    <a:pt x="3751961" y="143383"/>
                    <a:pt x="3751961" y="320294"/>
                  </a:cubicBezTo>
                  <a:lnTo>
                    <a:pt x="3751961" y="1601470"/>
                  </a:lnTo>
                  <a:cubicBezTo>
                    <a:pt x="3751961" y="1778381"/>
                    <a:pt x="3607816" y="1921764"/>
                    <a:pt x="3430016" y="1921764"/>
                  </a:cubicBezTo>
                  <a:lnTo>
                    <a:pt x="321945" y="1921764"/>
                  </a:lnTo>
                  <a:cubicBezTo>
                    <a:pt x="144145" y="1921764"/>
                    <a:pt x="0" y="1778381"/>
                    <a:pt x="0" y="16014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772281" cy="1942084"/>
            </a:xfrm>
            <a:custGeom>
              <a:avLst/>
              <a:gdLst/>
              <a:ahLst/>
              <a:cxnLst/>
              <a:rect r="r" b="b" t="t" l="l"/>
              <a:pathLst>
                <a:path h="1942084" w="3772281">
                  <a:moveTo>
                    <a:pt x="0" y="330454"/>
                  </a:moveTo>
                  <a:cubicBezTo>
                    <a:pt x="0" y="147955"/>
                    <a:pt x="148717" y="0"/>
                    <a:pt x="332105" y="0"/>
                  </a:cubicBezTo>
                  <a:lnTo>
                    <a:pt x="3440176" y="0"/>
                  </a:lnTo>
                  <a:lnTo>
                    <a:pt x="3440176" y="10160"/>
                  </a:lnTo>
                  <a:lnTo>
                    <a:pt x="3440176" y="0"/>
                  </a:lnTo>
                  <a:cubicBezTo>
                    <a:pt x="3623564" y="0"/>
                    <a:pt x="3772281" y="147955"/>
                    <a:pt x="3772281" y="330454"/>
                  </a:cubicBezTo>
                  <a:lnTo>
                    <a:pt x="3762121" y="330454"/>
                  </a:lnTo>
                  <a:lnTo>
                    <a:pt x="3772281" y="330454"/>
                  </a:lnTo>
                  <a:lnTo>
                    <a:pt x="3772281" y="1611630"/>
                  </a:lnTo>
                  <a:lnTo>
                    <a:pt x="3762121" y="1611630"/>
                  </a:lnTo>
                  <a:lnTo>
                    <a:pt x="3772281" y="1611630"/>
                  </a:lnTo>
                  <a:cubicBezTo>
                    <a:pt x="3772281" y="1794129"/>
                    <a:pt x="3623564" y="1942084"/>
                    <a:pt x="3440176" y="1942084"/>
                  </a:cubicBezTo>
                  <a:lnTo>
                    <a:pt x="3440176" y="1931924"/>
                  </a:lnTo>
                  <a:lnTo>
                    <a:pt x="3440176" y="1942084"/>
                  </a:lnTo>
                  <a:lnTo>
                    <a:pt x="332105" y="1942084"/>
                  </a:lnTo>
                  <a:lnTo>
                    <a:pt x="332105" y="1931924"/>
                  </a:lnTo>
                  <a:lnTo>
                    <a:pt x="332105" y="1942084"/>
                  </a:lnTo>
                  <a:cubicBezTo>
                    <a:pt x="148717" y="1942084"/>
                    <a:pt x="0" y="1794129"/>
                    <a:pt x="0" y="1611630"/>
                  </a:cubicBezTo>
                  <a:lnTo>
                    <a:pt x="0" y="330454"/>
                  </a:lnTo>
                  <a:lnTo>
                    <a:pt x="10160" y="330454"/>
                  </a:lnTo>
                  <a:lnTo>
                    <a:pt x="0" y="330454"/>
                  </a:lnTo>
                  <a:moveTo>
                    <a:pt x="20320" y="330454"/>
                  </a:moveTo>
                  <a:lnTo>
                    <a:pt x="20320" y="1611630"/>
                  </a:lnTo>
                  <a:lnTo>
                    <a:pt x="10160" y="1611630"/>
                  </a:lnTo>
                  <a:lnTo>
                    <a:pt x="20320" y="1611630"/>
                  </a:lnTo>
                  <a:cubicBezTo>
                    <a:pt x="20320" y="1782826"/>
                    <a:pt x="159893" y="1921764"/>
                    <a:pt x="332105" y="1921764"/>
                  </a:cubicBezTo>
                  <a:lnTo>
                    <a:pt x="3440176" y="1921764"/>
                  </a:lnTo>
                  <a:cubicBezTo>
                    <a:pt x="3612388" y="1921764"/>
                    <a:pt x="3751961" y="1782826"/>
                    <a:pt x="3751961" y="1611630"/>
                  </a:cubicBezTo>
                  <a:lnTo>
                    <a:pt x="3751961" y="330454"/>
                  </a:lnTo>
                  <a:cubicBezTo>
                    <a:pt x="3751961" y="159258"/>
                    <a:pt x="3612388" y="20320"/>
                    <a:pt x="3440176" y="20320"/>
                  </a:cubicBezTo>
                  <a:lnTo>
                    <a:pt x="332105" y="20320"/>
                  </a:lnTo>
                  <a:lnTo>
                    <a:pt x="332105" y="10160"/>
                  </a:lnTo>
                  <a:lnTo>
                    <a:pt x="332105" y="20320"/>
                  </a:lnTo>
                  <a:cubicBezTo>
                    <a:pt x="159893" y="20320"/>
                    <a:pt x="20320" y="159258"/>
                    <a:pt x="20320" y="330454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598329" y="3719498"/>
            <a:ext cx="466706" cy="466706"/>
            <a:chOff x="0" y="0"/>
            <a:chExt cx="622275" cy="622275"/>
          </a:xfrm>
        </p:grpSpPr>
        <p:sp>
          <p:nvSpPr>
            <p:cNvPr name="Freeform 67" id="67" descr="/Users/dhairya/Documents/Codex/2026-05-13/files-mentioned-by-the-user-ppt/outputs/manual-qevm-pptx/presentations/q-evm-ug-project/assets/icons/shield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4" b="4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5147398" y="3630697"/>
            <a:ext cx="20178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Wallet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147398" y="4217313"/>
            <a:ext cx="248453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validateUserOp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verifies proof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4805565" y="5573728"/>
            <a:ext cx="2142896" cy="399602"/>
            <a:chOff x="0" y="0"/>
            <a:chExt cx="2857195" cy="53280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0160" y="10160"/>
              <a:ext cx="2836799" cy="512572"/>
            </a:xfrm>
            <a:custGeom>
              <a:avLst/>
              <a:gdLst/>
              <a:ahLst/>
              <a:cxnLst/>
              <a:rect r="r" b="b" t="t" l="l"/>
              <a:pathLst>
                <a:path h="512572" w="2836799">
                  <a:moveTo>
                    <a:pt x="0" y="85471"/>
                  </a:moveTo>
                  <a:cubicBezTo>
                    <a:pt x="0" y="38227"/>
                    <a:pt x="39497" y="0"/>
                    <a:pt x="88138" y="0"/>
                  </a:cubicBezTo>
                  <a:lnTo>
                    <a:pt x="2748661" y="0"/>
                  </a:lnTo>
                  <a:cubicBezTo>
                    <a:pt x="2797302" y="0"/>
                    <a:pt x="2836799" y="38227"/>
                    <a:pt x="2836799" y="85471"/>
                  </a:cubicBezTo>
                  <a:lnTo>
                    <a:pt x="2836799" y="427101"/>
                  </a:lnTo>
                  <a:cubicBezTo>
                    <a:pt x="2836799" y="474218"/>
                    <a:pt x="2797302" y="512572"/>
                    <a:pt x="2748661" y="512572"/>
                  </a:cubicBezTo>
                  <a:lnTo>
                    <a:pt x="88138" y="512572"/>
                  </a:lnTo>
                  <a:cubicBezTo>
                    <a:pt x="39497" y="512445"/>
                    <a:pt x="0" y="474218"/>
                    <a:pt x="0" y="427101"/>
                  </a:cubicBezTo>
                  <a:close/>
                </a:path>
              </a:pathLst>
            </a:custGeom>
            <a:solidFill>
              <a:srgbClr val="F7F9F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857119" cy="532892"/>
            </a:xfrm>
            <a:custGeom>
              <a:avLst/>
              <a:gdLst/>
              <a:ahLst/>
              <a:cxnLst/>
              <a:rect r="r" b="b" t="t" l="l"/>
              <a:pathLst>
                <a:path h="532892" w="2857119">
                  <a:moveTo>
                    <a:pt x="0" y="95631"/>
                  </a:moveTo>
                  <a:cubicBezTo>
                    <a:pt x="0" y="42545"/>
                    <a:pt x="44323" y="0"/>
                    <a:pt x="98298" y="0"/>
                  </a:cubicBezTo>
                  <a:lnTo>
                    <a:pt x="2758821" y="0"/>
                  </a:lnTo>
                  <a:lnTo>
                    <a:pt x="2758821" y="10160"/>
                  </a:lnTo>
                  <a:lnTo>
                    <a:pt x="2758821" y="0"/>
                  </a:lnTo>
                  <a:cubicBezTo>
                    <a:pt x="2812796" y="0"/>
                    <a:pt x="2857119" y="42545"/>
                    <a:pt x="2857119" y="95631"/>
                  </a:cubicBezTo>
                  <a:lnTo>
                    <a:pt x="2846959" y="95631"/>
                  </a:lnTo>
                  <a:lnTo>
                    <a:pt x="2857119" y="95631"/>
                  </a:lnTo>
                  <a:lnTo>
                    <a:pt x="2857119" y="437261"/>
                  </a:lnTo>
                  <a:lnTo>
                    <a:pt x="2846959" y="437261"/>
                  </a:lnTo>
                  <a:lnTo>
                    <a:pt x="2857119" y="437261"/>
                  </a:lnTo>
                  <a:cubicBezTo>
                    <a:pt x="2857119" y="490347"/>
                    <a:pt x="2812796" y="532892"/>
                    <a:pt x="2758821" y="532892"/>
                  </a:cubicBezTo>
                  <a:lnTo>
                    <a:pt x="2758821" y="522732"/>
                  </a:lnTo>
                  <a:lnTo>
                    <a:pt x="2758821" y="532892"/>
                  </a:lnTo>
                  <a:lnTo>
                    <a:pt x="98298" y="532892"/>
                  </a:lnTo>
                  <a:lnTo>
                    <a:pt x="98298" y="522732"/>
                  </a:lnTo>
                  <a:lnTo>
                    <a:pt x="98298" y="532892"/>
                  </a:lnTo>
                  <a:cubicBezTo>
                    <a:pt x="44323" y="532765"/>
                    <a:pt x="0" y="490347"/>
                    <a:pt x="0" y="437261"/>
                  </a:cubicBezTo>
                  <a:lnTo>
                    <a:pt x="0" y="95631"/>
                  </a:lnTo>
                  <a:lnTo>
                    <a:pt x="10160" y="95631"/>
                  </a:lnTo>
                  <a:lnTo>
                    <a:pt x="0" y="95631"/>
                  </a:lnTo>
                  <a:moveTo>
                    <a:pt x="20320" y="95631"/>
                  </a:moveTo>
                  <a:lnTo>
                    <a:pt x="20320" y="437261"/>
                  </a:lnTo>
                  <a:lnTo>
                    <a:pt x="10160" y="437261"/>
                  </a:lnTo>
                  <a:lnTo>
                    <a:pt x="20320" y="437261"/>
                  </a:lnTo>
                  <a:cubicBezTo>
                    <a:pt x="20320" y="478536"/>
                    <a:pt x="54991" y="512445"/>
                    <a:pt x="98298" y="512445"/>
                  </a:cubicBezTo>
                  <a:lnTo>
                    <a:pt x="2758821" y="512445"/>
                  </a:lnTo>
                  <a:cubicBezTo>
                    <a:pt x="2802255" y="512445"/>
                    <a:pt x="2836799" y="478409"/>
                    <a:pt x="2836799" y="437261"/>
                  </a:cubicBezTo>
                  <a:lnTo>
                    <a:pt x="2836799" y="95631"/>
                  </a:lnTo>
                  <a:cubicBezTo>
                    <a:pt x="2836799" y="54356"/>
                    <a:pt x="2802128" y="20447"/>
                    <a:pt x="2758821" y="20447"/>
                  </a:cubicBezTo>
                  <a:lnTo>
                    <a:pt x="98298" y="20447"/>
                  </a:lnTo>
                  <a:lnTo>
                    <a:pt x="98298" y="10160"/>
                  </a:lnTo>
                  <a:lnTo>
                    <a:pt x="98298" y="20320"/>
                  </a:lnTo>
                  <a:cubicBezTo>
                    <a:pt x="54991" y="20320"/>
                    <a:pt x="20320" y="54356"/>
                    <a:pt x="20320" y="95631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5463092" y="5616085"/>
            <a:ext cx="82784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Solidity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826890" y="7095831"/>
            <a:ext cx="4339171" cy="1195749"/>
            <a:chOff x="0" y="0"/>
            <a:chExt cx="5785561" cy="159433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0160" y="10160"/>
              <a:ext cx="5765292" cy="1574038"/>
            </a:xfrm>
            <a:custGeom>
              <a:avLst/>
              <a:gdLst/>
              <a:ahLst/>
              <a:cxnLst/>
              <a:rect r="r" b="b" t="t" l="l"/>
              <a:pathLst>
                <a:path h="1574038" w="5765292">
                  <a:moveTo>
                    <a:pt x="0" y="262382"/>
                  </a:moveTo>
                  <a:cubicBezTo>
                    <a:pt x="0" y="117475"/>
                    <a:pt x="118618" y="0"/>
                    <a:pt x="264795" y="0"/>
                  </a:cubicBezTo>
                  <a:lnTo>
                    <a:pt x="5500497" y="0"/>
                  </a:lnTo>
                  <a:cubicBezTo>
                    <a:pt x="5646801" y="0"/>
                    <a:pt x="5765292" y="117475"/>
                    <a:pt x="5765292" y="262382"/>
                  </a:cubicBezTo>
                  <a:lnTo>
                    <a:pt x="5765292" y="1311656"/>
                  </a:lnTo>
                  <a:cubicBezTo>
                    <a:pt x="5765292" y="1456563"/>
                    <a:pt x="5646801" y="1574038"/>
                    <a:pt x="5500497" y="1574038"/>
                  </a:cubicBezTo>
                  <a:lnTo>
                    <a:pt x="264795" y="1574038"/>
                  </a:lnTo>
                  <a:cubicBezTo>
                    <a:pt x="118618" y="1574038"/>
                    <a:pt x="0" y="1456563"/>
                    <a:pt x="0" y="1311656"/>
                  </a:cubicBezTo>
                  <a:close/>
                </a:path>
              </a:pathLst>
            </a:custGeom>
            <a:solidFill>
              <a:srgbClr val="EEF3F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785612" cy="1594358"/>
            </a:xfrm>
            <a:custGeom>
              <a:avLst/>
              <a:gdLst/>
              <a:ahLst/>
              <a:cxnLst/>
              <a:rect r="r" b="b" t="t" l="l"/>
              <a:pathLst>
                <a:path h="1594358" w="5785612">
                  <a:moveTo>
                    <a:pt x="0" y="272542"/>
                  </a:moveTo>
                  <a:cubicBezTo>
                    <a:pt x="0" y="121920"/>
                    <a:pt x="123190" y="0"/>
                    <a:pt x="274955" y="0"/>
                  </a:cubicBezTo>
                  <a:lnTo>
                    <a:pt x="5510657" y="0"/>
                  </a:lnTo>
                  <a:lnTo>
                    <a:pt x="5510657" y="10160"/>
                  </a:lnTo>
                  <a:lnTo>
                    <a:pt x="5510657" y="0"/>
                  </a:lnTo>
                  <a:cubicBezTo>
                    <a:pt x="5662422" y="0"/>
                    <a:pt x="5785612" y="121920"/>
                    <a:pt x="5785612" y="272542"/>
                  </a:cubicBezTo>
                  <a:lnTo>
                    <a:pt x="5775452" y="272542"/>
                  </a:lnTo>
                  <a:lnTo>
                    <a:pt x="5785612" y="272542"/>
                  </a:lnTo>
                  <a:lnTo>
                    <a:pt x="5785612" y="1321816"/>
                  </a:lnTo>
                  <a:lnTo>
                    <a:pt x="5775452" y="1321816"/>
                  </a:lnTo>
                  <a:lnTo>
                    <a:pt x="5785612" y="1321816"/>
                  </a:lnTo>
                  <a:cubicBezTo>
                    <a:pt x="5785612" y="1472438"/>
                    <a:pt x="5662422" y="1594358"/>
                    <a:pt x="5510657" y="1594358"/>
                  </a:cubicBezTo>
                  <a:lnTo>
                    <a:pt x="5510657" y="1584198"/>
                  </a:lnTo>
                  <a:lnTo>
                    <a:pt x="5510657" y="1594358"/>
                  </a:lnTo>
                  <a:lnTo>
                    <a:pt x="274955" y="1594358"/>
                  </a:lnTo>
                  <a:lnTo>
                    <a:pt x="274955" y="1584198"/>
                  </a:lnTo>
                  <a:lnTo>
                    <a:pt x="274955" y="1594358"/>
                  </a:lnTo>
                  <a:cubicBezTo>
                    <a:pt x="123190" y="1594358"/>
                    <a:pt x="0" y="1472438"/>
                    <a:pt x="0" y="1321816"/>
                  </a:cubicBezTo>
                  <a:lnTo>
                    <a:pt x="0" y="272542"/>
                  </a:lnTo>
                  <a:lnTo>
                    <a:pt x="10160" y="272542"/>
                  </a:lnTo>
                  <a:lnTo>
                    <a:pt x="0" y="272542"/>
                  </a:lnTo>
                  <a:moveTo>
                    <a:pt x="20320" y="272542"/>
                  </a:moveTo>
                  <a:lnTo>
                    <a:pt x="20320" y="1321816"/>
                  </a:lnTo>
                  <a:lnTo>
                    <a:pt x="10160" y="1321816"/>
                  </a:lnTo>
                  <a:lnTo>
                    <a:pt x="20320" y="1321816"/>
                  </a:lnTo>
                  <a:cubicBezTo>
                    <a:pt x="20320" y="1461008"/>
                    <a:pt x="134239" y="1574038"/>
                    <a:pt x="274955" y="1574038"/>
                  </a:cubicBezTo>
                  <a:lnTo>
                    <a:pt x="5510657" y="1574038"/>
                  </a:lnTo>
                  <a:cubicBezTo>
                    <a:pt x="5651373" y="1574038"/>
                    <a:pt x="5765292" y="1461008"/>
                    <a:pt x="5765292" y="1321816"/>
                  </a:cubicBezTo>
                  <a:lnTo>
                    <a:pt x="5765292" y="272542"/>
                  </a:lnTo>
                  <a:cubicBezTo>
                    <a:pt x="5765292" y="133350"/>
                    <a:pt x="5651373" y="20320"/>
                    <a:pt x="5510657" y="20320"/>
                  </a:cubicBezTo>
                  <a:lnTo>
                    <a:pt x="274955" y="20320"/>
                  </a:lnTo>
                  <a:lnTo>
                    <a:pt x="274955" y="10160"/>
                  </a:lnTo>
                  <a:lnTo>
                    <a:pt x="274955" y="20320"/>
                  </a:lnTo>
                  <a:cubicBezTo>
                    <a:pt x="134239" y="20320"/>
                    <a:pt x="20320" y="133350"/>
                    <a:pt x="20320" y="27254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2040422" y="7261728"/>
            <a:ext cx="391211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Forkless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081598" y="7696782"/>
            <a:ext cx="38160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No Ethereum hard fork or client change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6966790" y="7137008"/>
            <a:ext cx="4339171" cy="1195749"/>
            <a:chOff x="0" y="0"/>
            <a:chExt cx="5785561" cy="159433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0160" y="10160"/>
              <a:ext cx="5765292" cy="1574038"/>
            </a:xfrm>
            <a:custGeom>
              <a:avLst/>
              <a:gdLst/>
              <a:ahLst/>
              <a:cxnLst/>
              <a:rect r="r" b="b" t="t" l="l"/>
              <a:pathLst>
                <a:path h="1574038" w="5765292">
                  <a:moveTo>
                    <a:pt x="0" y="262382"/>
                  </a:moveTo>
                  <a:cubicBezTo>
                    <a:pt x="0" y="117475"/>
                    <a:pt x="118618" y="0"/>
                    <a:pt x="264795" y="0"/>
                  </a:cubicBezTo>
                  <a:lnTo>
                    <a:pt x="5500497" y="0"/>
                  </a:lnTo>
                  <a:cubicBezTo>
                    <a:pt x="5646801" y="0"/>
                    <a:pt x="5765292" y="117475"/>
                    <a:pt x="5765292" y="262382"/>
                  </a:cubicBezTo>
                  <a:lnTo>
                    <a:pt x="5765292" y="1311656"/>
                  </a:lnTo>
                  <a:cubicBezTo>
                    <a:pt x="5765292" y="1456563"/>
                    <a:pt x="5646801" y="1574038"/>
                    <a:pt x="5500497" y="1574038"/>
                  </a:cubicBezTo>
                  <a:lnTo>
                    <a:pt x="264795" y="1574038"/>
                  </a:lnTo>
                  <a:cubicBezTo>
                    <a:pt x="118618" y="1574038"/>
                    <a:pt x="0" y="1456563"/>
                    <a:pt x="0" y="1311656"/>
                  </a:cubicBezTo>
                  <a:close/>
                </a:path>
              </a:pathLst>
            </a:custGeom>
            <a:solidFill>
              <a:srgbClr val="E8F9FC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85612" cy="1594358"/>
            </a:xfrm>
            <a:custGeom>
              <a:avLst/>
              <a:gdLst/>
              <a:ahLst/>
              <a:cxnLst/>
              <a:rect r="r" b="b" t="t" l="l"/>
              <a:pathLst>
                <a:path h="1594358" w="5785612">
                  <a:moveTo>
                    <a:pt x="0" y="272542"/>
                  </a:moveTo>
                  <a:cubicBezTo>
                    <a:pt x="0" y="121920"/>
                    <a:pt x="123190" y="0"/>
                    <a:pt x="274955" y="0"/>
                  </a:cubicBezTo>
                  <a:lnTo>
                    <a:pt x="5510657" y="0"/>
                  </a:lnTo>
                  <a:lnTo>
                    <a:pt x="5510657" y="10160"/>
                  </a:lnTo>
                  <a:lnTo>
                    <a:pt x="5510657" y="0"/>
                  </a:lnTo>
                  <a:cubicBezTo>
                    <a:pt x="5662422" y="0"/>
                    <a:pt x="5785612" y="121920"/>
                    <a:pt x="5785612" y="272542"/>
                  </a:cubicBezTo>
                  <a:lnTo>
                    <a:pt x="5775452" y="272542"/>
                  </a:lnTo>
                  <a:lnTo>
                    <a:pt x="5785612" y="272542"/>
                  </a:lnTo>
                  <a:lnTo>
                    <a:pt x="5785612" y="1321816"/>
                  </a:lnTo>
                  <a:lnTo>
                    <a:pt x="5775452" y="1321816"/>
                  </a:lnTo>
                  <a:lnTo>
                    <a:pt x="5785612" y="1321816"/>
                  </a:lnTo>
                  <a:cubicBezTo>
                    <a:pt x="5785612" y="1472438"/>
                    <a:pt x="5662422" y="1594358"/>
                    <a:pt x="5510657" y="1594358"/>
                  </a:cubicBezTo>
                  <a:lnTo>
                    <a:pt x="5510657" y="1584198"/>
                  </a:lnTo>
                  <a:lnTo>
                    <a:pt x="5510657" y="1594358"/>
                  </a:lnTo>
                  <a:lnTo>
                    <a:pt x="274955" y="1594358"/>
                  </a:lnTo>
                  <a:lnTo>
                    <a:pt x="274955" y="1584198"/>
                  </a:lnTo>
                  <a:lnTo>
                    <a:pt x="274955" y="1594358"/>
                  </a:lnTo>
                  <a:cubicBezTo>
                    <a:pt x="123190" y="1594358"/>
                    <a:pt x="0" y="1472438"/>
                    <a:pt x="0" y="1321816"/>
                  </a:cubicBezTo>
                  <a:lnTo>
                    <a:pt x="0" y="272542"/>
                  </a:lnTo>
                  <a:lnTo>
                    <a:pt x="10160" y="272542"/>
                  </a:lnTo>
                  <a:lnTo>
                    <a:pt x="0" y="272542"/>
                  </a:lnTo>
                  <a:moveTo>
                    <a:pt x="20320" y="272542"/>
                  </a:moveTo>
                  <a:lnTo>
                    <a:pt x="20320" y="1321816"/>
                  </a:lnTo>
                  <a:lnTo>
                    <a:pt x="10160" y="1321816"/>
                  </a:lnTo>
                  <a:lnTo>
                    <a:pt x="20320" y="1321816"/>
                  </a:lnTo>
                  <a:cubicBezTo>
                    <a:pt x="20320" y="1461008"/>
                    <a:pt x="134239" y="1574038"/>
                    <a:pt x="274955" y="1574038"/>
                  </a:cubicBezTo>
                  <a:lnTo>
                    <a:pt x="5510657" y="1574038"/>
                  </a:lnTo>
                  <a:cubicBezTo>
                    <a:pt x="5651373" y="1574038"/>
                    <a:pt x="5765292" y="1461008"/>
                    <a:pt x="5765292" y="1321816"/>
                  </a:cubicBezTo>
                  <a:lnTo>
                    <a:pt x="5765292" y="272542"/>
                  </a:lnTo>
                  <a:cubicBezTo>
                    <a:pt x="5765292" y="133350"/>
                    <a:pt x="5651373" y="20320"/>
                    <a:pt x="5510657" y="20320"/>
                  </a:cubicBezTo>
                  <a:lnTo>
                    <a:pt x="274955" y="20320"/>
                  </a:lnTo>
                  <a:lnTo>
                    <a:pt x="274955" y="10160"/>
                  </a:lnTo>
                  <a:lnTo>
                    <a:pt x="274955" y="20320"/>
                  </a:lnTo>
                  <a:cubicBezTo>
                    <a:pt x="134239" y="20320"/>
                    <a:pt x="20320" y="133350"/>
                    <a:pt x="20320" y="272542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7187941" y="7261728"/>
            <a:ext cx="391211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Off-chain heavy work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229118" y="7696782"/>
            <a:ext cx="38160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ML-DSA verification runs in zkVM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12121939" y="7095831"/>
            <a:ext cx="4339171" cy="1195749"/>
            <a:chOff x="0" y="0"/>
            <a:chExt cx="5785561" cy="159433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0160" y="10160"/>
              <a:ext cx="5765292" cy="1574038"/>
            </a:xfrm>
            <a:custGeom>
              <a:avLst/>
              <a:gdLst/>
              <a:ahLst/>
              <a:cxnLst/>
              <a:rect r="r" b="b" t="t" l="l"/>
              <a:pathLst>
                <a:path h="1574038" w="5765292">
                  <a:moveTo>
                    <a:pt x="0" y="262382"/>
                  </a:moveTo>
                  <a:cubicBezTo>
                    <a:pt x="0" y="117475"/>
                    <a:pt x="118618" y="0"/>
                    <a:pt x="264795" y="0"/>
                  </a:cubicBezTo>
                  <a:lnTo>
                    <a:pt x="5500497" y="0"/>
                  </a:lnTo>
                  <a:cubicBezTo>
                    <a:pt x="5646801" y="0"/>
                    <a:pt x="5765292" y="117475"/>
                    <a:pt x="5765292" y="262382"/>
                  </a:cubicBezTo>
                  <a:lnTo>
                    <a:pt x="5765292" y="1311656"/>
                  </a:lnTo>
                  <a:cubicBezTo>
                    <a:pt x="5765292" y="1456563"/>
                    <a:pt x="5646801" y="1574038"/>
                    <a:pt x="5500497" y="1574038"/>
                  </a:cubicBezTo>
                  <a:lnTo>
                    <a:pt x="264795" y="1574038"/>
                  </a:lnTo>
                  <a:cubicBezTo>
                    <a:pt x="118618" y="1574038"/>
                    <a:pt x="0" y="1456563"/>
                    <a:pt x="0" y="1311656"/>
                  </a:cubicBezTo>
                  <a:close/>
                </a:path>
              </a:pathLst>
            </a:custGeom>
            <a:solidFill>
              <a:srgbClr val="EEF3FA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785612" cy="1594358"/>
            </a:xfrm>
            <a:custGeom>
              <a:avLst/>
              <a:gdLst/>
              <a:ahLst/>
              <a:cxnLst/>
              <a:rect r="r" b="b" t="t" l="l"/>
              <a:pathLst>
                <a:path h="1594358" w="5785612">
                  <a:moveTo>
                    <a:pt x="0" y="272542"/>
                  </a:moveTo>
                  <a:cubicBezTo>
                    <a:pt x="0" y="121920"/>
                    <a:pt x="123190" y="0"/>
                    <a:pt x="274955" y="0"/>
                  </a:cubicBezTo>
                  <a:lnTo>
                    <a:pt x="5510657" y="0"/>
                  </a:lnTo>
                  <a:lnTo>
                    <a:pt x="5510657" y="10160"/>
                  </a:lnTo>
                  <a:lnTo>
                    <a:pt x="5510657" y="0"/>
                  </a:lnTo>
                  <a:cubicBezTo>
                    <a:pt x="5662422" y="0"/>
                    <a:pt x="5785612" y="121920"/>
                    <a:pt x="5785612" y="272542"/>
                  </a:cubicBezTo>
                  <a:lnTo>
                    <a:pt x="5775452" y="272542"/>
                  </a:lnTo>
                  <a:lnTo>
                    <a:pt x="5785612" y="272542"/>
                  </a:lnTo>
                  <a:lnTo>
                    <a:pt x="5785612" y="1321816"/>
                  </a:lnTo>
                  <a:lnTo>
                    <a:pt x="5775452" y="1321816"/>
                  </a:lnTo>
                  <a:lnTo>
                    <a:pt x="5785612" y="1321816"/>
                  </a:lnTo>
                  <a:cubicBezTo>
                    <a:pt x="5785612" y="1472438"/>
                    <a:pt x="5662422" y="1594358"/>
                    <a:pt x="5510657" y="1594358"/>
                  </a:cubicBezTo>
                  <a:lnTo>
                    <a:pt x="5510657" y="1584198"/>
                  </a:lnTo>
                  <a:lnTo>
                    <a:pt x="5510657" y="1594358"/>
                  </a:lnTo>
                  <a:lnTo>
                    <a:pt x="274955" y="1594358"/>
                  </a:lnTo>
                  <a:lnTo>
                    <a:pt x="274955" y="1584198"/>
                  </a:lnTo>
                  <a:lnTo>
                    <a:pt x="274955" y="1594358"/>
                  </a:lnTo>
                  <a:cubicBezTo>
                    <a:pt x="123190" y="1594358"/>
                    <a:pt x="0" y="1472438"/>
                    <a:pt x="0" y="1321816"/>
                  </a:cubicBezTo>
                  <a:lnTo>
                    <a:pt x="0" y="272542"/>
                  </a:lnTo>
                  <a:lnTo>
                    <a:pt x="10160" y="272542"/>
                  </a:lnTo>
                  <a:lnTo>
                    <a:pt x="0" y="272542"/>
                  </a:lnTo>
                  <a:moveTo>
                    <a:pt x="20320" y="272542"/>
                  </a:moveTo>
                  <a:lnTo>
                    <a:pt x="20320" y="1321816"/>
                  </a:lnTo>
                  <a:lnTo>
                    <a:pt x="10160" y="1321816"/>
                  </a:lnTo>
                  <a:lnTo>
                    <a:pt x="20320" y="1321816"/>
                  </a:lnTo>
                  <a:cubicBezTo>
                    <a:pt x="20320" y="1461008"/>
                    <a:pt x="134239" y="1574038"/>
                    <a:pt x="274955" y="1574038"/>
                  </a:cubicBezTo>
                  <a:lnTo>
                    <a:pt x="5510657" y="1574038"/>
                  </a:lnTo>
                  <a:cubicBezTo>
                    <a:pt x="5651373" y="1574038"/>
                    <a:pt x="5765292" y="1461008"/>
                    <a:pt x="5765292" y="1321816"/>
                  </a:cubicBezTo>
                  <a:lnTo>
                    <a:pt x="5765292" y="272542"/>
                  </a:lnTo>
                  <a:cubicBezTo>
                    <a:pt x="5765292" y="133350"/>
                    <a:pt x="5651373" y="20320"/>
                    <a:pt x="5510657" y="20320"/>
                  </a:cubicBezTo>
                  <a:lnTo>
                    <a:pt x="274955" y="20320"/>
                  </a:lnTo>
                  <a:lnTo>
                    <a:pt x="274955" y="10160"/>
                  </a:lnTo>
                  <a:lnTo>
                    <a:pt x="274955" y="20320"/>
                  </a:lnTo>
                  <a:cubicBezTo>
                    <a:pt x="134239" y="20320"/>
                    <a:pt x="20320" y="133350"/>
                    <a:pt x="20320" y="27254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2335461" y="7261728"/>
            <a:ext cx="391211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On-chain proof check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376637" y="7696782"/>
            <a:ext cx="38160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Wallet validates zkReceipt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28700" y="8989982"/>
            <a:ext cx="1551119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i="true">
                <a:solidFill>
                  <a:srgbClr val="607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4: Q-EVM shifts ML-DSA verification from EVM execution to zkVM proving while retaining on-chain security checks.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12093"/>
            <a:ext cx="14687598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IMPLEMENTATION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474117" y="9580853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0508" y="2078841"/>
            <a:ext cx="4133269" cy="1868357"/>
            <a:chOff x="0" y="0"/>
            <a:chExt cx="5511025" cy="24911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160" y="10160"/>
              <a:ext cx="549071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490718">
                  <a:moveTo>
                    <a:pt x="0" y="411861"/>
                  </a:moveTo>
                  <a:cubicBezTo>
                    <a:pt x="0" y="184404"/>
                    <a:pt x="185166" y="0"/>
                    <a:pt x="413639" y="0"/>
                  </a:cubicBezTo>
                  <a:lnTo>
                    <a:pt x="5077079" y="0"/>
                  </a:lnTo>
                  <a:cubicBezTo>
                    <a:pt x="5305552" y="0"/>
                    <a:pt x="5490718" y="184404"/>
                    <a:pt x="5490718" y="411861"/>
                  </a:cubicBezTo>
                  <a:lnTo>
                    <a:pt x="5490718" y="2059051"/>
                  </a:lnTo>
                  <a:cubicBezTo>
                    <a:pt x="5490718" y="2286508"/>
                    <a:pt x="5305552" y="2470912"/>
                    <a:pt x="5077079" y="2470912"/>
                  </a:cubicBezTo>
                  <a:lnTo>
                    <a:pt x="413639" y="2470912"/>
                  </a:lnTo>
                  <a:cubicBezTo>
                    <a:pt x="185166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11038" cy="2491232"/>
            </a:xfrm>
            <a:custGeom>
              <a:avLst/>
              <a:gdLst/>
              <a:ahLst/>
              <a:cxnLst/>
              <a:rect r="r" b="b" t="t" l="l"/>
              <a:pathLst>
                <a:path h="2491232" w="5511038">
                  <a:moveTo>
                    <a:pt x="0" y="422021"/>
                  </a:moveTo>
                  <a:cubicBezTo>
                    <a:pt x="0" y="188849"/>
                    <a:pt x="189738" y="0"/>
                    <a:pt x="423799" y="0"/>
                  </a:cubicBezTo>
                  <a:lnTo>
                    <a:pt x="5087239" y="0"/>
                  </a:lnTo>
                  <a:lnTo>
                    <a:pt x="5087239" y="10160"/>
                  </a:lnTo>
                  <a:lnTo>
                    <a:pt x="5087239" y="0"/>
                  </a:lnTo>
                  <a:cubicBezTo>
                    <a:pt x="5321300" y="0"/>
                    <a:pt x="5511038" y="188849"/>
                    <a:pt x="5511038" y="422021"/>
                  </a:cubicBezTo>
                  <a:lnTo>
                    <a:pt x="5500878" y="422021"/>
                  </a:lnTo>
                  <a:lnTo>
                    <a:pt x="5511038" y="422021"/>
                  </a:lnTo>
                  <a:lnTo>
                    <a:pt x="5511038" y="2069211"/>
                  </a:lnTo>
                  <a:lnTo>
                    <a:pt x="5500878" y="2069211"/>
                  </a:lnTo>
                  <a:lnTo>
                    <a:pt x="5511038" y="2069211"/>
                  </a:lnTo>
                  <a:cubicBezTo>
                    <a:pt x="5511038" y="2302256"/>
                    <a:pt x="5321300" y="2491232"/>
                    <a:pt x="5087239" y="2491232"/>
                  </a:cubicBezTo>
                  <a:lnTo>
                    <a:pt x="5087239" y="2481072"/>
                  </a:lnTo>
                  <a:lnTo>
                    <a:pt x="5087239" y="2491232"/>
                  </a:lnTo>
                  <a:lnTo>
                    <a:pt x="423799" y="2491232"/>
                  </a:lnTo>
                  <a:lnTo>
                    <a:pt x="423799" y="2481072"/>
                  </a:lnTo>
                  <a:lnTo>
                    <a:pt x="423799" y="2491232"/>
                  </a:lnTo>
                  <a:cubicBezTo>
                    <a:pt x="189738" y="2491105"/>
                    <a:pt x="0" y="2302256"/>
                    <a:pt x="0" y="2069211"/>
                  </a:cubicBezTo>
                  <a:lnTo>
                    <a:pt x="0" y="422021"/>
                  </a:lnTo>
                  <a:lnTo>
                    <a:pt x="10160" y="422021"/>
                  </a:lnTo>
                  <a:lnTo>
                    <a:pt x="0" y="422021"/>
                  </a:lnTo>
                  <a:moveTo>
                    <a:pt x="20320" y="422021"/>
                  </a:moveTo>
                  <a:lnTo>
                    <a:pt x="20320" y="2069211"/>
                  </a:lnTo>
                  <a:lnTo>
                    <a:pt x="10160" y="2069211"/>
                  </a:lnTo>
                  <a:lnTo>
                    <a:pt x="20320" y="2069211"/>
                  </a:lnTo>
                  <a:cubicBezTo>
                    <a:pt x="20320" y="2290953"/>
                    <a:pt x="200914" y="2470912"/>
                    <a:pt x="423799" y="2470912"/>
                  </a:cubicBezTo>
                  <a:lnTo>
                    <a:pt x="5087239" y="2470912"/>
                  </a:lnTo>
                  <a:cubicBezTo>
                    <a:pt x="5310124" y="2470912"/>
                    <a:pt x="5490718" y="2291080"/>
                    <a:pt x="5490718" y="2069211"/>
                  </a:cubicBezTo>
                  <a:lnTo>
                    <a:pt x="5490718" y="422021"/>
                  </a:lnTo>
                  <a:cubicBezTo>
                    <a:pt x="5490718" y="200279"/>
                    <a:pt x="5310124" y="20320"/>
                    <a:pt x="5087239" y="20320"/>
                  </a:cubicBezTo>
                  <a:lnTo>
                    <a:pt x="423799" y="20320"/>
                  </a:lnTo>
                  <a:lnTo>
                    <a:pt x="423799" y="10160"/>
                  </a:lnTo>
                  <a:lnTo>
                    <a:pt x="423799" y="20320"/>
                  </a:lnTo>
                  <a:cubicBezTo>
                    <a:pt x="200914" y="20320"/>
                    <a:pt x="20320" y="200152"/>
                    <a:pt x="20320" y="422021"/>
                  </a:cubicBezTo>
                  <a:close/>
                </a:path>
              </a:pathLst>
            </a:custGeom>
            <a:solidFill>
              <a:srgbClr val="1F2A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7951" y="2292363"/>
            <a:ext cx="466706" cy="466706"/>
            <a:chOff x="0" y="0"/>
            <a:chExt cx="622275" cy="622275"/>
          </a:xfrm>
        </p:grpSpPr>
        <p:sp>
          <p:nvSpPr>
            <p:cNvPr name="Freeform 14" id="14" descr="/Users/dhairya/Documents/Codex/2026-05-13/files-mentioned-by-the-user-ppt/outputs/manual-qevm-pptx/presentations/q-evm-ug-project/assets/icons/network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168833" y="2203561"/>
            <a:ext cx="33218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Rust Bundler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7020" y="2836678"/>
            <a:ext cx="378857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Decodes PQ payload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Simulates wallet validation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Calls zkVM prover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375302" y="2078841"/>
            <a:ext cx="4133269" cy="1868357"/>
            <a:chOff x="0" y="0"/>
            <a:chExt cx="5511025" cy="24911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0160" y="10160"/>
              <a:ext cx="549071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490718">
                  <a:moveTo>
                    <a:pt x="0" y="411861"/>
                  </a:moveTo>
                  <a:cubicBezTo>
                    <a:pt x="0" y="184404"/>
                    <a:pt x="185166" y="0"/>
                    <a:pt x="413639" y="0"/>
                  </a:cubicBezTo>
                  <a:lnTo>
                    <a:pt x="5077079" y="0"/>
                  </a:lnTo>
                  <a:cubicBezTo>
                    <a:pt x="5305552" y="0"/>
                    <a:pt x="5490718" y="184404"/>
                    <a:pt x="5490718" y="411861"/>
                  </a:cubicBezTo>
                  <a:lnTo>
                    <a:pt x="5490718" y="2059051"/>
                  </a:lnTo>
                  <a:cubicBezTo>
                    <a:pt x="5490718" y="2286508"/>
                    <a:pt x="5305552" y="2470912"/>
                    <a:pt x="5077079" y="2470912"/>
                  </a:cubicBezTo>
                  <a:lnTo>
                    <a:pt x="413639" y="2470912"/>
                  </a:lnTo>
                  <a:cubicBezTo>
                    <a:pt x="185166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11038" cy="2491232"/>
            </a:xfrm>
            <a:custGeom>
              <a:avLst/>
              <a:gdLst/>
              <a:ahLst/>
              <a:cxnLst/>
              <a:rect r="r" b="b" t="t" l="l"/>
              <a:pathLst>
                <a:path h="2491232" w="5511038">
                  <a:moveTo>
                    <a:pt x="0" y="422021"/>
                  </a:moveTo>
                  <a:cubicBezTo>
                    <a:pt x="0" y="188849"/>
                    <a:pt x="189738" y="0"/>
                    <a:pt x="423799" y="0"/>
                  </a:cubicBezTo>
                  <a:lnTo>
                    <a:pt x="5087239" y="0"/>
                  </a:lnTo>
                  <a:lnTo>
                    <a:pt x="5087239" y="10160"/>
                  </a:lnTo>
                  <a:lnTo>
                    <a:pt x="5087239" y="0"/>
                  </a:lnTo>
                  <a:cubicBezTo>
                    <a:pt x="5321300" y="0"/>
                    <a:pt x="5511038" y="188849"/>
                    <a:pt x="5511038" y="422021"/>
                  </a:cubicBezTo>
                  <a:lnTo>
                    <a:pt x="5500878" y="422021"/>
                  </a:lnTo>
                  <a:lnTo>
                    <a:pt x="5511038" y="422021"/>
                  </a:lnTo>
                  <a:lnTo>
                    <a:pt x="5511038" y="2069211"/>
                  </a:lnTo>
                  <a:lnTo>
                    <a:pt x="5500878" y="2069211"/>
                  </a:lnTo>
                  <a:lnTo>
                    <a:pt x="5511038" y="2069211"/>
                  </a:lnTo>
                  <a:cubicBezTo>
                    <a:pt x="5511038" y="2302256"/>
                    <a:pt x="5321300" y="2491232"/>
                    <a:pt x="5087239" y="2491232"/>
                  </a:cubicBezTo>
                  <a:lnTo>
                    <a:pt x="5087239" y="2481072"/>
                  </a:lnTo>
                  <a:lnTo>
                    <a:pt x="5087239" y="2491232"/>
                  </a:lnTo>
                  <a:lnTo>
                    <a:pt x="423799" y="2491232"/>
                  </a:lnTo>
                  <a:lnTo>
                    <a:pt x="423799" y="2481072"/>
                  </a:lnTo>
                  <a:lnTo>
                    <a:pt x="423799" y="2491232"/>
                  </a:lnTo>
                  <a:cubicBezTo>
                    <a:pt x="189738" y="2491105"/>
                    <a:pt x="0" y="2302256"/>
                    <a:pt x="0" y="2069211"/>
                  </a:cubicBezTo>
                  <a:lnTo>
                    <a:pt x="0" y="422021"/>
                  </a:lnTo>
                  <a:lnTo>
                    <a:pt x="10160" y="422021"/>
                  </a:lnTo>
                  <a:lnTo>
                    <a:pt x="0" y="422021"/>
                  </a:lnTo>
                  <a:moveTo>
                    <a:pt x="20320" y="422021"/>
                  </a:moveTo>
                  <a:lnTo>
                    <a:pt x="20320" y="2069211"/>
                  </a:lnTo>
                  <a:lnTo>
                    <a:pt x="10160" y="2069211"/>
                  </a:lnTo>
                  <a:lnTo>
                    <a:pt x="20320" y="2069211"/>
                  </a:lnTo>
                  <a:cubicBezTo>
                    <a:pt x="20320" y="2290953"/>
                    <a:pt x="200914" y="2470912"/>
                    <a:pt x="423799" y="2470912"/>
                  </a:cubicBezTo>
                  <a:lnTo>
                    <a:pt x="5087239" y="2470912"/>
                  </a:lnTo>
                  <a:cubicBezTo>
                    <a:pt x="5310124" y="2470912"/>
                    <a:pt x="5490718" y="2291080"/>
                    <a:pt x="5490718" y="2069211"/>
                  </a:cubicBezTo>
                  <a:lnTo>
                    <a:pt x="5490718" y="422021"/>
                  </a:lnTo>
                  <a:cubicBezTo>
                    <a:pt x="5490718" y="200279"/>
                    <a:pt x="5310124" y="20320"/>
                    <a:pt x="5087239" y="20320"/>
                  </a:cubicBezTo>
                  <a:lnTo>
                    <a:pt x="423799" y="20320"/>
                  </a:lnTo>
                  <a:lnTo>
                    <a:pt x="423799" y="10160"/>
                  </a:lnTo>
                  <a:lnTo>
                    <a:pt x="423799" y="20320"/>
                  </a:lnTo>
                  <a:cubicBezTo>
                    <a:pt x="200914" y="20320"/>
                    <a:pt x="20320" y="200152"/>
                    <a:pt x="20320" y="422021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492745" y="2292363"/>
            <a:ext cx="466706" cy="466706"/>
            <a:chOff x="0" y="0"/>
            <a:chExt cx="622275" cy="622275"/>
          </a:xfrm>
        </p:grpSpPr>
        <p:sp>
          <p:nvSpPr>
            <p:cNvPr name="Freeform 21" id="21" descr="/Users/dhairya/Documents/Codex/2026-05-13/files-mentioned-by-the-user-ppt/outputs/manual-qevm-pptx/presentations/q-evm-ug-project/assets/icons/cpu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08519" y="2203561"/>
            <a:ext cx="33218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RISC Zero Guest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6720" y="2761574"/>
            <a:ext cx="378857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Runs ML-DSA-44 verify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Commits validity result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Measured RISC-V cycles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0086" y="2078841"/>
            <a:ext cx="4133269" cy="1868357"/>
            <a:chOff x="0" y="0"/>
            <a:chExt cx="5511025" cy="24911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0160" y="10160"/>
              <a:ext cx="5490718" cy="2470912"/>
            </a:xfrm>
            <a:custGeom>
              <a:avLst/>
              <a:gdLst/>
              <a:ahLst/>
              <a:cxnLst/>
              <a:rect r="r" b="b" t="t" l="l"/>
              <a:pathLst>
                <a:path h="2470912" w="5490718">
                  <a:moveTo>
                    <a:pt x="0" y="411861"/>
                  </a:moveTo>
                  <a:cubicBezTo>
                    <a:pt x="0" y="184404"/>
                    <a:pt x="185166" y="0"/>
                    <a:pt x="413639" y="0"/>
                  </a:cubicBezTo>
                  <a:lnTo>
                    <a:pt x="5077079" y="0"/>
                  </a:lnTo>
                  <a:cubicBezTo>
                    <a:pt x="5305552" y="0"/>
                    <a:pt x="5490718" y="184404"/>
                    <a:pt x="5490718" y="411861"/>
                  </a:cubicBezTo>
                  <a:lnTo>
                    <a:pt x="5490718" y="2059051"/>
                  </a:lnTo>
                  <a:cubicBezTo>
                    <a:pt x="5490718" y="2286508"/>
                    <a:pt x="5305552" y="2470912"/>
                    <a:pt x="5077079" y="2470912"/>
                  </a:cubicBezTo>
                  <a:lnTo>
                    <a:pt x="413639" y="2470912"/>
                  </a:lnTo>
                  <a:cubicBezTo>
                    <a:pt x="185166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11038" cy="2491232"/>
            </a:xfrm>
            <a:custGeom>
              <a:avLst/>
              <a:gdLst/>
              <a:ahLst/>
              <a:cxnLst/>
              <a:rect r="r" b="b" t="t" l="l"/>
              <a:pathLst>
                <a:path h="2491232" w="5511038">
                  <a:moveTo>
                    <a:pt x="0" y="422021"/>
                  </a:moveTo>
                  <a:cubicBezTo>
                    <a:pt x="0" y="188849"/>
                    <a:pt x="189738" y="0"/>
                    <a:pt x="423799" y="0"/>
                  </a:cubicBezTo>
                  <a:lnTo>
                    <a:pt x="5087239" y="0"/>
                  </a:lnTo>
                  <a:lnTo>
                    <a:pt x="5087239" y="10160"/>
                  </a:lnTo>
                  <a:lnTo>
                    <a:pt x="5087239" y="0"/>
                  </a:lnTo>
                  <a:cubicBezTo>
                    <a:pt x="5321300" y="0"/>
                    <a:pt x="5511038" y="188849"/>
                    <a:pt x="5511038" y="422021"/>
                  </a:cubicBezTo>
                  <a:lnTo>
                    <a:pt x="5500878" y="422021"/>
                  </a:lnTo>
                  <a:lnTo>
                    <a:pt x="5511038" y="422021"/>
                  </a:lnTo>
                  <a:lnTo>
                    <a:pt x="5511038" y="2069211"/>
                  </a:lnTo>
                  <a:lnTo>
                    <a:pt x="5500878" y="2069211"/>
                  </a:lnTo>
                  <a:lnTo>
                    <a:pt x="5511038" y="2069211"/>
                  </a:lnTo>
                  <a:cubicBezTo>
                    <a:pt x="5511038" y="2302256"/>
                    <a:pt x="5321300" y="2491232"/>
                    <a:pt x="5087239" y="2491232"/>
                  </a:cubicBezTo>
                  <a:lnTo>
                    <a:pt x="5087239" y="2481072"/>
                  </a:lnTo>
                  <a:lnTo>
                    <a:pt x="5087239" y="2491232"/>
                  </a:lnTo>
                  <a:lnTo>
                    <a:pt x="423799" y="2491232"/>
                  </a:lnTo>
                  <a:lnTo>
                    <a:pt x="423799" y="2481072"/>
                  </a:lnTo>
                  <a:lnTo>
                    <a:pt x="423799" y="2491232"/>
                  </a:lnTo>
                  <a:cubicBezTo>
                    <a:pt x="189738" y="2491105"/>
                    <a:pt x="0" y="2302256"/>
                    <a:pt x="0" y="2069211"/>
                  </a:cubicBezTo>
                  <a:lnTo>
                    <a:pt x="0" y="422021"/>
                  </a:lnTo>
                  <a:lnTo>
                    <a:pt x="10160" y="422021"/>
                  </a:lnTo>
                  <a:lnTo>
                    <a:pt x="0" y="422021"/>
                  </a:lnTo>
                  <a:moveTo>
                    <a:pt x="20320" y="422021"/>
                  </a:moveTo>
                  <a:lnTo>
                    <a:pt x="20320" y="2069211"/>
                  </a:lnTo>
                  <a:lnTo>
                    <a:pt x="10160" y="2069211"/>
                  </a:lnTo>
                  <a:lnTo>
                    <a:pt x="20320" y="2069211"/>
                  </a:lnTo>
                  <a:cubicBezTo>
                    <a:pt x="20320" y="2290953"/>
                    <a:pt x="200914" y="2470912"/>
                    <a:pt x="423799" y="2470912"/>
                  </a:cubicBezTo>
                  <a:lnTo>
                    <a:pt x="5087239" y="2470912"/>
                  </a:lnTo>
                  <a:cubicBezTo>
                    <a:pt x="5310124" y="2470912"/>
                    <a:pt x="5490718" y="2291080"/>
                    <a:pt x="5490718" y="2069211"/>
                  </a:cubicBezTo>
                  <a:lnTo>
                    <a:pt x="5490718" y="422021"/>
                  </a:lnTo>
                  <a:cubicBezTo>
                    <a:pt x="5490718" y="200279"/>
                    <a:pt x="5310124" y="20320"/>
                    <a:pt x="5087239" y="20320"/>
                  </a:cubicBezTo>
                  <a:lnTo>
                    <a:pt x="423799" y="20320"/>
                  </a:lnTo>
                  <a:lnTo>
                    <a:pt x="423799" y="10160"/>
                  </a:lnTo>
                  <a:lnTo>
                    <a:pt x="423799" y="20320"/>
                  </a:lnTo>
                  <a:cubicBezTo>
                    <a:pt x="200914" y="20320"/>
                    <a:pt x="20320" y="200152"/>
                    <a:pt x="20320" y="422021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77529" y="2292363"/>
            <a:ext cx="466706" cy="466706"/>
            <a:chOff x="0" y="0"/>
            <a:chExt cx="622275" cy="622275"/>
          </a:xfrm>
        </p:grpSpPr>
        <p:sp>
          <p:nvSpPr>
            <p:cNvPr name="Freeform 28" id="28" descr="/Users/dhairya/Documents/Codex/2026-05-13/files-mentioned-by-the-user-ppt/outputs/manual-qevm-pptx/presentations/q-evm-ug-project/assets/icons/shield.png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0"/>
                  </a:moveTo>
                  <a:lnTo>
                    <a:pt x="622300" y="0"/>
                  </a:lnTo>
                  <a:lnTo>
                    <a:pt x="62230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01137" y="2203561"/>
            <a:ext cx="332186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Solidity Wallet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37874" y="2711444"/>
            <a:ext cx="378857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validateUserOp()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Checks zkReceipt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Calls EntryPoint path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22380" y="4247655"/>
            <a:ext cx="5094141" cy="1058485"/>
            <a:chOff x="0" y="0"/>
            <a:chExt cx="6792189" cy="14113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0160" y="10160"/>
              <a:ext cx="6771893" cy="1390904"/>
            </a:xfrm>
            <a:custGeom>
              <a:avLst/>
              <a:gdLst/>
              <a:ahLst/>
              <a:cxnLst/>
              <a:rect r="r" b="b" t="t" l="l"/>
              <a:pathLst>
                <a:path h="1390904" w="6771893">
                  <a:moveTo>
                    <a:pt x="0" y="231902"/>
                  </a:moveTo>
                  <a:cubicBezTo>
                    <a:pt x="0" y="103759"/>
                    <a:pt x="105029" y="0"/>
                    <a:pt x="234569" y="0"/>
                  </a:cubicBezTo>
                  <a:lnTo>
                    <a:pt x="6537325" y="0"/>
                  </a:lnTo>
                  <a:cubicBezTo>
                    <a:pt x="6666865" y="0"/>
                    <a:pt x="6771893" y="103759"/>
                    <a:pt x="6771893" y="231775"/>
                  </a:cubicBezTo>
                  <a:lnTo>
                    <a:pt x="6771893" y="1159129"/>
                  </a:lnTo>
                  <a:cubicBezTo>
                    <a:pt x="6771893" y="1287145"/>
                    <a:pt x="6666865" y="1390904"/>
                    <a:pt x="6537325" y="1390904"/>
                  </a:cubicBezTo>
                  <a:lnTo>
                    <a:pt x="234569" y="1390904"/>
                  </a:lnTo>
                  <a:cubicBezTo>
                    <a:pt x="105029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E8F9F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92214" cy="1411351"/>
            </a:xfrm>
            <a:custGeom>
              <a:avLst/>
              <a:gdLst/>
              <a:ahLst/>
              <a:cxnLst/>
              <a:rect r="r" b="b" t="t" l="l"/>
              <a:pathLst>
                <a:path h="1411351" w="6792214">
                  <a:moveTo>
                    <a:pt x="0" y="242062"/>
                  </a:moveTo>
                  <a:cubicBezTo>
                    <a:pt x="0" y="108204"/>
                    <a:pt x="109601" y="0"/>
                    <a:pt x="244729" y="0"/>
                  </a:cubicBezTo>
                  <a:lnTo>
                    <a:pt x="6547485" y="0"/>
                  </a:lnTo>
                  <a:lnTo>
                    <a:pt x="6547485" y="10160"/>
                  </a:lnTo>
                  <a:lnTo>
                    <a:pt x="6547485" y="0"/>
                  </a:lnTo>
                  <a:cubicBezTo>
                    <a:pt x="6682486" y="0"/>
                    <a:pt x="6792214" y="108204"/>
                    <a:pt x="6792214" y="242062"/>
                  </a:cubicBezTo>
                  <a:lnTo>
                    <a:pt x="6782053" y="242062"/>
                  </a:lnTo>
                  <a:lnTo>
                    <a:pt x="6792214" y="242062"/>
                  </a:lnTo>
                  <a:lnTo>
                    <a:pt x="6792214" y="1169289"/>
                  </a:lnTo>
                  <a:lnTo>
                    <a:pt x="6782053" y="1169289"/>
                  </a:lnTo>
                  <a:lnTo>
                    <a:pt x="6792214" y="1169289"/>
                  </a:lnTo>
                  <a:cubicBezTo>
                    <a:pt x="6792214" y="1303020"/>
                    <a:pt x="6682613" y="1411351"/>
                    <a:pt x="6547485" y="1411351"/>
                  </a:cubicBezTo>
                  <a:lnTo>
                    <a:pt x="6547485" y="1401191"/>
                  </a:lnTo>
                  <a:lnTo>
                    <a:pt x="6547485" y="1411351"/>
                  </a:lnTo>
                  <a:lnTo>
                    <a:pt x="244729" y="1411351"/>
                  </a:lnTo>
                  <a:lnTo>
                    <a:pt x="244729" y="1401191"/>
                  </a:lnTo>
                  <a:lnTo>
                    <a:pt x="244729" y="1411351"/>
                  </a:lnTo>
                  <a:cubicBezTo>
                    <a:pt x="109601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650" y="1390904"/>
                    <a:pt x="244729" y="1390904"/>
                  </a:cubicBezTo>
                  <a:lnTo>
                    <a:pt x="6547485" y="1390904"/>
                  </a:lnTo>
                  <a:cubicBezTo>
                    <a:pt x="6671564" y="1390904"/>
                    <a:pt x="6771894" y="1291590"/>
                    <a:pt x="6771894" y="1169289"/>
                  </a:cubicBezTo>
                  <a:lnTo>
                    <a:pt x="6771894" y="242062"/>
                  </a:lnTo>
                  <a:cubicBezTo>
                    <a:pt x="6771894" y="119761"/>
                    <a:pt x="6671564" y="20447"/>
                    <a:pt x="6547485" y="20447"/>
                  </a:cubicBezTo>
                  <a:lnTo>
                    <a:pt x="244729" y="20447"/>
                  </a:lnTo>
                  <a:lnTo>
                    <a:pt x="244729" y="10160"/>
                  </a:lnTo>
                  <a:lnTo>
                    <a:pt x="244729" y="20320"/>
                  </a:lnTo>
                  <a:cubicBezTo>
                    <a:pt x="120650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767274" y="4307948"/>
            <a:ext cx="4804353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1,842,500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39823" y="4793704"/>
            <a:ext cx="485926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ML-DSA zkVM cycles measured in dev-mode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90508" y="5757596"/>
            <a:ext cx="7770847" cy="2184073"/>
            <a:chOff x="0" y="0"/>
            <a:chExt cx="10361130" cy="29120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0160" y="10160"/>
              <a:ext cx="10340721" cy="2891790"/>
            </a:xfrm>
            <a:custGeom>
              <a:avLst/>
              <a:gdLst/>
              <a:ahLst/>
              <a:cxnLst/>
              <a:rect r="r" b="b" t="t" l="l"/>
              <a:pathLst>
                <a:path h="2891790" w="10340721">
                  <a:moveTo>
                    <a:pt x="0" y="481965"/>
                  </a:moveTo>
                  <a:cubicBezTo>
                    <a:pt x="0" y="215773"/>
                    <a:pt x="216916" y="0"/>
                    <a:pt x="484378" y="0"/>
                  </a:cubicBezTo>
                  <a:lnTo>
                    <a:pt x="9856343" y="0"/>
                  </a:lnTo>
                  <a:cubicBezTo>
                    <a:pt x="10123932" y="0"/>
                    <a:pt x="10340721" y="215773"/>
                    <a:pt x="10340721" y="481965"/>
                  </a:cubicBezTo>
                  <a:lnTo>
                    <a:pt x="10340721" y="2409825"/>
                  </a:lnTo>
                  <a:cubicBezTo>
                    <a:pt x="10340721" y="2676017"/>
                    <a:pt x="10123805" y="2891790"/>
                    <a:pt x="9856343" y="2891790"/>
                  </a:cubicBezTo>
                  <a:lnTo>
                    <a:pt x="484378" y="2891790"/>
                  </a:lnTo>
                  <a:cubicBezTo>
                    <a:pt x="216916" y="2891790"/>
                    <a:pt x="0" y="2676017"/>
                    <a:pt x="0" y="2409825"/>
                  </a:cubicBezTo>
                  <a:close/>
                </a:path>
              </a:pathLst>
            </a:custGeom>
            <a:solidFill>
              <a:srgbClr val="121826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61041" cy="2912110"/>
            </a:xfrm>
            <a:custGeom>
              <a:avLst/>
              <a:gdLst/>
              <a:ahLst/>
              <a:cxnLst/>
              <a:rect r="r" b="b" t="t" l="l"/>
              <a:pathLst>
                <a:path h="2912110" w="10361041">
                  <a:moveTo>
                    <a:pt x="0" y="492125"/>
                  </a:moveTo>
                  <a:cubicBezTo>
                    <a:pt x="0" y="220345"/>
                    <a:pt x="221488" y="0"/>
                    <a:pt x="494538" y="0"/>
                  </a:cubicBezTo>
                  <a:lnTo>
                    <a:pt x="9866503" y="0"/>
                  </a:lnTo>
                  <a:lnTo>
                    <a:pt x="9866503" y="10160"/>
                  </a:lnTo>
                  <a:lnTo>
                    <a:pt x="9866503" y="0"/>
                  </a:lnTo>
                  <a:cubicBezTo>
                    <a:pt x="10139553" y="0"/>
                    <a:pt x="10361041" y="220345"/>
                    <a:pt x="10361041" y="492125"/>
                  </a:cubicBezTo>
                  <a:lnTo>
                    <a:pt x="10350881" y="492125"/>
                  </a:lnTo>
                  <a:lnTo>
                    <a:pt x="10361041" y="492125"/>
                  </a:lnTo>
                  <a:lnTo>
                    <a:pt x="10361041" y="2419985"/>
                  </a:lnTo>
                  <a:lnTo>
                    <a:pt x="10350881" y="2419985"/>
                  </a:lnTo>
                  <a:lnTo>
                    <a:pt x="10361041" y="2419985"/>
                  </a:lnTo>
                  <a:cubicBezTo>
                    <a:pt x="10361041" y="2691892"/>
                    <a:pt x="10139553" y="2912110"/>
                    <a:pt x="9866503" y="2912110"/>
                  </a:cubicBezTo>
                  <a:lnTo>
                    <a:pt x="9866503" y="2901950"/>
                  </a:lnTo>
                  <a:lnTo>
                    <a:pt x="9866503" y="2912110"/>
                  </a:lnTo>
                  <a:lnTo>
                    <a:pt x="494538" y="2912110"/>
                  </a:lnTo>
                  <a:lnTo>
                    <a:pt x="494538" y="2901950"/>
                  </a:lnTo>
                  <a:lnTo>
                    <a:pt x="494538" y="2912110"/>
                  </a:lnTo>
                  <a:cubicBezTo>
                    <a:pt x="221488" y="2912110"/>
                    <a:pt x="0" y="2691765"/>
                    <a:pt x="0" y="2419985"/>
                  </a:cubicBezTo>
                  <a:lnTo>
                    <a:pt x="0" y="492125"/>
                  </a:lnTo>
                  <a:lnTo>
                    <a:pt x="10160" y="492125"/>
                  </a:lnTo>
                  <a:lnTo>
                    <a:pt x="0" y="492125"/>
                  </a:lnTo>
                  <a:moveTo>
                    <a:pt x="20320" y="492125"/>
                  </a:moveTo>
                  <a:lnTo>
                    <a:pt x="20320" y="2419985"/>
                  </a:lnTo>
                  <a:lnTo>
                    <a:pt x="10160" y="2419985"/>
                  </a:lnTo>
                  <a:lnTo>
                    <a:pt x="20320" y="2419985"/>
                  </a:lnTo>
                  <a:cubicBezTo>
                    <a:pt x="20320" y="2680462"/>
                    <a:pt x="232537" y="2891790"/>
                    <a:pt x="494538" y="2891790"/>
                  </a:cubicBezTo>
                  <a:lnTo>
                    <a:pt x="9866503" y="2891790"/>
                  </a:lnTo>
                  <a:cubicBezTo>
                    <a:pt x="10128504" y="2891790"/>
                    <a:pt x="10340722" y="2680462"/>
                    <a:pt x="10340722" y="2419985"/>
                  </a:cubicBezTo>
                  <a:lnTo>
                    <a:pt x="10340722" y="492125"/>
                  </a:lnTo>
                  <a:cubicBezTo>
                    <a:pt x="10340722" y="231648"/>
                    <a:pt x="10128504" y="20320"/>
                    <a:pt x="9866503" y="20320"/>
                  </a:cubicBezTo>
                  <a:lnTo>
                    <a:pt x="494538" y="20320"/>
                  </a:lnTo>
                  <a:lnTo>
                    <a:pt x="494538" y="10160"/>
                  </a:lnTo>
                  <a:lnTo>
                    <a:pt x="494538" y="20320"/>
                  </a:lnTo>
                  <a:cubicBezTo>
                    <a:pt x="232664" y="20320"/>
                    <a:pt x="20320" y="231648"/>
                    <a:pt x="20320" y="492125"/>
                  </a:cubicBezTo>
                  <a:close/>
                </a:path>
              </a:pathLst>
            </a:custGeom>
            <a:solidFill>
              <a:srgbClr val="1F2A4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72676" y="5923502"/>
            <a:ext cx="411801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A6E3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Rust bundler / zkVM guest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3057" y="6345212"/>
            <a:ext cx="713713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let (pk, sig) = decode_pqc_payload(user_op.signature)?;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let input = VerifyInput { op_hash, pk, sig };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let receipt = prover.prove(input)?;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assert!(receipt.journal.valid);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395184" y="5757596"/>
            <a:ext cx="7084514" cy="2184073"/>
            <a:chOff x="0" y="0"/>
            <a:chExt cx="9446019" cy="29120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0160" y="10160"/>
              <a:ext cx="9425813" cy="2891790"/>
            </a:xfrm>
            <a:custGeom>
              <a:avLst/>
              <a:gdLst/>
              <a:ahLst/>
              <a:cxnLst/>
              <a:rect r="r" b="b" t="t" l="l"/>
              <a:pathLst>
                <a:path h="2891790" w="9425813">
                  <a:moveTo>
                    <a:pt x="0" y="481965"/>
                  </a:moveTo>
                  <a:cubicBezTo>
                    <a:pt x="0" y="215773"/>
                    <a:pt x="216789" y="0"/>
                    <a:pt x="484378" y="0"/>
                  </a:cubicBezTo>
                  <a:lnTo>
                    <a:pt x="8941435" y="0"/>
                  </a:lnTo>
                  <a:cubicBezTo>
                    <a:pt x="9208897" y="0"/>
                    <a:pt x="9425813" y="215773"/>
                    <a:pt x="9425813" y="481965"/>
                  </a:cubicBezTo>
                  <a:lnTo>
                    <a:pt x="9425813" y="2409825"/>
                  </a:lnTo>
                  <a:cubicBezTo>
                    <a:pt x="9425813" y="2676017"/>
                    <a:pt x="9209024" y="2891790"/>
                    <a:pt x="8941435" y="2891790"/>
                  </a:cubicBezTo>
                  <a:lnTo>
                    <a:pt x="484378" y="2891790"/>
                  </a:lnTo>
                  <a:cubicBezTo>
                    <a:pt x="216789" y="2891790"/>
                    <a:pt x="0" y="2676017"/>
                    <a:pt x="0" y="2409825"/>
                  </a:cubicBezTo>
                  <a:close/>
                </a:path>
              </a:pathLst>
            </a:custGeom>
            <a:solidFill>
              <a:srgbClr val="0E1A1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446133" cy="2912110"/>
            </a:xfrm>
            <a:custGeom>
              <a:avLst/>
              <a:gdLst/>
              <a:ahLst/>
              <a:cxnLst/>
              <a:rect r="r" b="b" t="t" l="l"/>
              <a:pathLst>
                <a:path h="2912110" w="9446133">
                  <a:moveTo>
                    <a:pt x="0" y="492125"/>
                  </a:moveTo>
                  <a:cubicBezTo>
                    <a:pt x="0" y="220345"/>
                    <a:pt x="221488" y="0"/>
                    <a:pt x="494538" y="0"/>
                  </a:cubicBezTo>
                  <a:lnTo>
                    <a:pt x="8951595" y="0"/>
                  </a:lnTo>
                  <a:lnTo>
                    <a:pt x="8951595" y="10160"/>
                  </a:lnTo>
                  <a:lnTo>
                    <a:pt x="8951595" y="0"/>
                  </a:lnTo>
                  <a:cubicBezTo>
                    <a:pt x="9224645" y="0"/>
                    <a:pt x="9446133" y="220345"/>
                    <a:pt x="9446133" y="492125"/>
                  </a:cubicBezTo>
                  <a:lnTo>
                    <a:pt x="9435973" y="492125"/>
                  </a:lnTo>
                  <a:lnTo>
                    <a:pt x="9446133" y="492125"/>
                  </a:lnTo>
                  <a:lnTo>
                    <a:pt x="9446133" y="2419985"/>
                  </a:lnTo>
                  <a:lnTo>
                    <a:pt x="9435973" y="2419985"/>
                  </a:lnTo>
                  <a:lnTo>
                    <a:pt x="9446133" y="2419985"/>
                  </a:lnTo>
                  <a:cubicBezTo>
                    <a:pt x="9446133" y="2691892"/>
                    <a:pt x="9224645" y="2912110"/>
                    <a:pt x="8951595" y="2912110"/>
                  </a:cubicBezTo>
                  <a:lnTo>
                    <a:pt x="8951595" y="2901950"/>
                  </a:lnTo>
                  <a:lnTo>
                    <a:pt x="8951595" y="2912110"/>
                  </a:lnTo>
                  <a:lnTo>
                    <a:pt x="494538" y="2912110"/>
                  </a:lnTo>
                  <a:lnTo>
                    <a:pt x="494538" y="2901950"/>
                  </a:lnTo>
                  <a:lnTo>
                    <a:pt x="494538" y="2912110"/>
                  </a:lnTo>
                  <a:cubicBezTo>
                    <a:pt x="221488" y="2912110"/>
                    <a:pt x="0" y="2691765"/>
                    <a:pt x="0" y="2419985"/>
                  </a:cubicBezTo>
                  <a:lnTo>
                    <a:pt x="0" y="492125"/>
                  </a:lnTo>
                  <a:lnTo>
                    <a:pt x="10160" y="492125"/>
                  </a:lnTo>
                  <a:lnTo>
                    <a:pt x="0" y="492125"/>
                  </a:lnTo>
                  <a:moveTo>
                    <a:pt x="20320" y="492125"/>
                  </a:moveTo>
                  <a:lnTo>
                    <a:pt x="20320" y="2419985"/>
                  </a:lnTo>
                  <a:lnTo>
                    <a:pt x="10160" y="2419985"/>
                  </a:lnTo>
                  <a:lnTo>
                    <a:pt x="20320" y="2419985"/>
                  </a:lnTo>
                  <a:cubicBezTo>
                    <a:pt x="20320" y="2680462"/>
                    <a:pt x="232537" y="2891790"/>
                    <a:pt x="494411" y="2891790"/>
                  </a:cubicBezTo>
                  <a:lnTo>
                    <a:pt x="8951595" y="2891790"/>
                  </a:lnTo>
                  <a:cubicBezTo>
                    <a:pt x="9213469" y="2891790"/>
                    <a:pt x="9425686" y="2680462"/>
                    <a:pt x="9425686" y="2419985"/>
                  </a:cubicBezTo>
                  <a:lnTo>
                    <a:pt x="9425686" y="492125"/>
                  </a:lnTo>
                  <a:cubicBezTo>
                    <a:pt x="9425686" y="231648"/>
                    <a:pt x="9213469" y="20320"/>
                    <a:pt x="8951595" y="20320"/>
                  </a:cubicBezTo>
                  <a:lnTo>
                    <a:pt x="494538" y="20320"/>
                  </a:lnTo>
                  <a:lnTo>
                    <a:pt x="494538" y="10160"/>
                  </a:lnTo>
                  <a:lnTo>
                    <a:pt x="494538" y="20320"/>
                  </a:lnTo>
                  <a:cubicBezTo>
                    <a:pt x="232537" y="20320"/>
                    <a:pt x="20320" y="231648"/>
                    <a:pt x="20320" y="492125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677343" y="5923502"/>
            <a:ext cx="315714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A8F0B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Benchmark evidence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77724" y="6345212"/>
            <a:ext cx="638216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RISC Zero dev-mode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guest: ml_dsa_verify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cycles: 1,842,500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result: signature_valid = true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2676" y="8445017"/>
            <a:ext cx="1523666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i="true">
                <a:solidFill>
                  <a:srgbClr val="607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6: Prototype components: Rust bundler, RISC Zero ML-DSA guest, and Solidity proof-validating smart wallet.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12093"/>
            <a:ext cx="14687598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EXPERIMENTAL RESULTS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474117" y="9632514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8456" y="1654997"/>
            <a:ext cx="159219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Q-EVM reduces on-chain ML-DSA verification gas by 91.4%, with latency shifted to off-chain proving.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782" y="2394547"/>
            <a:ext cx="2417426" cy="1058485"/>
            <a:chOff x="0" y="0"/>
            <a:chExt cx="3223235" cy="14113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160" y="10160"/>
              <a:ext cx="3202940" cy="1390904"/>
            </a:xfrm>
            <a:custGeom>
              <a:avLst/>
              <a:gdLst/>
              <a:ahLst/>
              <a:cxnLst/>
              <a:rect r="r" b="b" t="t" l="l"/>
              <a:pathLst>
                <a:path h="1390904" w="3202940">
                  <a:moveTo>
                    <a:pt x="0" y="231902"/>
                  </a:moveTo>
                  <a:cubicBezTo>
                    <a:pt x="0" y="103759"/>
                    <a:pt x="104648" y="0"/>
                    <a:pt x="233807" y="0"/>
                  </a:cubicBezTo>
                  <a:lnTo>
                    <a:pt x="2969133" y="0"/>
                  </a:lnTo>
                  <a:cubicBezTo>
                    <a:pt x="3098292" y="0"/>
                    <a:pt x="3202940" y="103759"/>
                    <a:pt x="3202940" y="231902"/>
                  </a:cubicBezTo>
                  <a:lnTo>
                    <a:pt x="3202940" y="1159129"/>
                  </a:lnTo>
                  <a:cubicBezTo>
                    <a:pt x="3202940" y="1287145"/>
                    <a:pt x="3098292" y="1390904"/>
                    <a:pt x="2969260" y="1390904"/>
                  </a:cubicBezTo>
                  <a:lnTo>
                    <a:pt x="233807" y="1390904"/>
                  </a:lnTo>
                  <a:cubicBezTo>
                    <a:pt x="104648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23260" cy="1411351"/>
            </a:xfrm>
            <a:custGeom>
              <a:avLst/>
              <a:gdLst/>
              <a:ahLst/>
              <a:cxnLst/>
              <a:rect r="r" b="b" t="t" l="l"/>
              <a:pathLst>
                <a:path h="1411351" w="3223260">
                  <a:moveTo>
                    <a:pt x="0" y="242062"/>
                  </a:moveTo>
                  <a:cubicBezTo>
                    <a:pt x="0" y="108331"/>
                    <a:pt x="109220" y="0"/>
                    <a:pt x="243967" y="0"/>
                  </a:cubicBezTo>
                  <a:lnTo>
                    <a:pt x="2979293" y="0"/>
                  </a:lnTo>
                  <a:lnTo>
                    <a:pt x="2979293" y="10160"/>
                  </a:lnTo>
                  <a:lnTo>
                    <a:pt x="2979293" y="0"/>
                  </a:lnTo>
                  <a:cubicBezTo>
                    <a:pt x="3113913" y="0"/>
                    <a:pt x="3223260" y="108331"/>
                    <a:pt x="3223260" y="242062"/>
                  </a:cubicBezTo>
                  <a:lnTo>
                    <a:pt x="3213100" y="242062"/>
                  </a:lnTo>
                  <a:lnTo>
                    <a:pt x="3223260" y="242062"/>
                  </a:lnTo>
                  <a:lnTo>
                    <a:pt x="3223260" y="1169289"/>
                  </a:lnTo>
                  <a:lnTo>
                    <a:pt x="3213100" y="1169289"/>
                  </a:lnTo>
                  <a:lnTo>
                    <a:pt x="3223260" y="1169289"/>
                  </a:lnTo>
                  <a:cubicBezTo>
                    <a:pt x="3223260" y="1303020"/>
                    <a:pt x="3114040" y="1411351"/>
                    <a:pt x="2979293" y="1411351"/>
                  </a:cubicBezTo>
                  <a:lnTo>
                    <a:pt x="2979293" y="1401191"/>
                  </a:lnTo>
                  <a:lnTo>
                    <a:pt x="2979293" y="1411351"/>
                  </a:lnTo>
                  <a:lnTo>
                    <a:pt x="243967" y="1411351"/>
                  </a:lnTo>
                  <a:lnTo>
                    <a:pt x="243967" y="1401191"/>
                  </a:lnTo>
                  <a:lnTo>
                    <a:pt x="243967" y="1411351"/>
                  </a:lnTo>
                  <a:cubicBezTo>
                    <a:pt x="109220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3840" y="1390904"/>
                  </a:cubicBezTo>
                  <a:lnTo>
                    <a:pt x="2979293" y="1390904"/>
                  </a:lnTo>
                  <a:cubicBezTo>
                    <a:pt x="3102864" y="1390904"/>
                    <a:pt x="3202813" y="1291590"/>
                    <a:pt x="3202813" y="1169289"/>
                  </a:cubicBezTo>
                  <a:lnTo>
                    <a:pt x="3202813" y="242062"/>
                  </a:lnTo>
                  <a:cubicBezTo>
                    <a:pt x="3202813" y="119761"/>
                    <a:pt x="3102737" y="20447"/>
                    <a:pt x="2979293" y="20447"/>
                  </a:cubicBezTo>
                  <a:lnTo>
                    <a:pt x="243967" y="20447"/>
                  </a:lnTo>
                  <a:lnTo>
                    <a:pt x="243967" y="10160"/>
                  </a:lnTo>
                  <a:lnTo>
                    <a:pt x="243967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72676" y="2454840"/>
            <a:ext cx="2127647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FFC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2.8M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5216" y="2931071"/>
            <a:ext cx="218254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native ML-DSA gas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945674" y="2394547"/>
            <a:ext cx="2417426" cy="1058485"/>
            <a:chOff x="0" y="0"/>
            <a:chExt cx="3223235" cy="14113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0160" y="10160"/>
              <a:ext cx="3202940" cy="1390904"/>
            </a:xfrm>
            <a:custGeom>
              <a:avLst/>
              <a:gdLst/>
              <a:ahLst/>
              <a:cxnLst/>
              <a:rect r="r" b="b" t="t" l="l"/>
              <a:pathLst>
                <a:path h="1390904" w="3202940">
                  <a:moveTo>
                    <a:pt x="0" y="231902"/>
                  </a:moveTo>
                  <a:cubicBezTo>
                    <a:pt x="0" y="103759"/>
                    <a:pt x="104648" y="0"/>
                    <a:pt x="233807" y="0"/>
                  </a:cubicBezTo>
                  <a:lnTo>
                    <a:pt x="2969133" y="0"/>
                  </a:lnTo>
                  <a:cubicBezTo>
                    <a:pt x="3098292" y="0"/>
                    <a:pt x="3202940" y="103759"/>
                    <a:pt x="3202940" y="231902"/>
                  </a:cubicBezTo>
                  <a:lnTo>
                    <a:pt x="3202940" y="1159129"/>
                  </a:lnTo>
                  <a:cubicBezTo>
                    <a:pt x="3202940" y="1287145"/>
                    <a:pt x="3098292" y="1390904"/>
                    <a:pt x="2969260" y="1390904"/>
                  </a:cubicBezTo>
                  <a:lnTo>
                    <a:pt x="233807" y="1390904"/>
                  </a:lnTo>
                  <a:cubicBezTo>
                    <a:pt x="104648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EAF7E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23260" cy="1411351"/>
            </a:xfrm>
            <a:custGeom>
              <a:avLst/>
              <a:gdLst/>
              <a:ahLst/>
              <a:cxnLst/>
              <a:rect r="r" b="b" t="t" l="l"/>
              <a:pathLst>
                <a:path h="1411351" w="3223260">
                  <a:moveTo>
                    <a:pt x="0" y="242062"/>
                  </a:moveTo>
                  <a:cubicBezTo>
                    <a:pt x="0" y="108331"/>
                    <a:pt x="109220" y="0"/>
                    <a:pt x="243967" y="0"/>
                  </a:cubicBezTo>
                  <a:lnTo>
                    <a:pt x="2979293" y="0"/>
                  </a:lnTo>
                  <a:lnTo>
                    <a:pt x="2979293" y="10160"/>
                  </a:lnTo>
                  <a:lnTo>
                    <a:pt x="2979293" y="0"/>
                  </a:lnTo>
                  <a:cubicBezTo>
                    <a:pt x="3113913" y="0"/>
                    <a:pt x="3223260" y="108331"/>
                    <a:pt x="3223260" y="242062"/>
                  </a:cubicBezTo>
                  <a:lnTo>
                    <a:pt x="3213100" y="242062"/>
                  </a:lnTo>
                  <a:lnTo>
                    <a:pt x="3223260" y="242062"/>
                  </a:lnTo>
                  <a:lnTo>
                    <a:pt x="3223260" y="1169289"/>
                  </a:lnTo>
                  <a:lnTo>
                    <a:pt x="3213100" y="1169289"/>
                  </a:lnTo>
                  <a:lnTo>
                    <a:pt x="3223260" y="1169289"/>
                  </a:lnTo>
                  <a:cubicBezTo>
                    <a:pt x="3223260" y="1303020"/>
                    <a:pt x="3114040" y="1411351"/>
                    <a:pt x="2979293" y="1411351"/>
                  </a:cubicBezTo>
                  <a:lnTo>
                    <a:pt x="2979293" y="1401191"/>
                  </a:lnTo>
                  <a:lnTo>
                    <a:pt x="2979293" y="1411351"/>
                  </a:lnTo>
                  <a:lnTo>
                    <a:pt x="243967" y="1411351"/>
                  </a:lnTo>
                  <a:lnTo>
                    <a:pt x="243967" y="1401191"/>
                  </a:lnTo>
                  <a:lnTo>
                    <a:pt x="243967" y="1411351"/>
                  </a:lnTo>
                  <a:cubicBezTo>
                    <a:pt x="109220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3840" y="1390904"/>
                  </a:cubicBezTo>
                  <a:lnTo>
                    <a:pt x="2979293" y="1390904"/>
                  </a:lnTo>
                  <a:cubicBezTo>
                    <a:pt x="3102864" y="1390904"/>
                    <a:pt x="3202813" y="1291590"/>
                    <a:pt x="3202813" y="1169289"/>
                  </a:cubicBezTo>
                  <a:lnTo>
                    <a:pt x="3202813" y="242062"/>
                  </a:lnTo>
                  <a:cubicBezTo>
                    <a:pt x="3202813" y="119761"/>
                    <a:pt x="3102737" y="20447"/>
                    <a:pt x="2979293" y="20447"/>
                  </a:cubicBezTo>
                  <a:lnTo>
                    <a:pt x="243967" y="20447"/>
                  </a:lnTo>
                  <a:lnTo>
                    <a:pt x="243967" y="10160"/>
                  </a:lnTo>
                  <a:lnTo>
                    <a:pt x="243967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090568" y="2454840"/>
            <a:ext cx="2127647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242k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63108" y="2931071"/>
            <a:ext cx="218254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Q-EVM verifier gas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63566" y="2394547"/>
            <a:ext cx="2417426" cy="1058485"/>
            <a:chOff x="0" y="0"/>
            <a:chExt cx="3223235" cy="14113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0160" y="10160"/>
              <a:ext cx="3202940" cy="1390904"/>
            </a:xfrm>
            <a:custGeom>
              <a:avLst/>
              <a:gdLst/>
              <a:ahLst/>
              <a:cxnLst/>
              <a:rect r="r" b="b" t="t" l="l"/>
              <a:pathLst>
                <a:path h="1390904" w="3202940">
                  <a:moveTo>
                    <a:pt x="0" y="231902"/>
                  </a:moveTo>
                  <a:cubicBezTo>
                    <a:pt x="0" y="103759"/>
                    <a:pt x="104648" y="0"/>
                    <a:pt x="233807" y="0"/>
                  </a:cubicBezTo>
                  <a:lnTo>
                    <a:pt x="2969133" y="0"/>
                  </a:lnTo>
                  <a:cubicBezTo>
                    <a:pt x="3098292" y="0"/>
                    <a:pt x="3202940" y="103759"/>
                    <a:pt x="3202940" y="231902"/>
                  </a:cubicBezTo>
                  <a:lnTo>
                    <a:pt x="3202940" y="1159129"/>
                  </a:lnTo>
                  <a:cubicBezTo>
                    <a:pt x="3202940" y="1287145"/>
                    <a:pt x="3098292" y="1390904"/>
                    <a:pt x="2969260" y="1390904"/>
                  </a:cubicBezTo>
                  <a:lnTo>
                    <a:pt x="233807" y="1390904"/>
                  </a:lnTo>
                  <a:cubicBezTo>
                    <a:pt x="104648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E8F9FC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23260" cy="1411351"/>
            </a:xfrm>
            <a:custGeom>
              <a:avLst/>
              <a:gdLst/>
              <a:ahLst/>
              <a:cxnLst/>
              <a:rect r="r" b="b" t="t" l="l"/>
              <a:pathLst>
                <a:path h="1411351" w="3223260">
                  <a:moveTo>
                    <a:pt x="0" y="242062"/>
                  </a:moveTo>
                  <a:cubicBezTo>
                    <a:pt x="0" y="108331"/>
                    <a:pt x="109220" y="0"/>
                    <a:pt x="243967" y="0"/>
                  </a:cubicBezTo>
                  <a:lnTo>
                    <a:pt x="2979293" y="0"/>
                  </a:lnTo>
                  <a:lnTo>
                    <a:pt x="2979293" y="10160"/>
                  </a:lnTo>
                  <a:lnTo>
                    <a:pt x="2979293" y="0"/>
                  </a:lnTo>
                  <a:cubicBezTo>
                    <a:pt x="3113913" y="0"/>
                    <a:pt x="3223260" y="108331"/>
                    <a:pt x="3223260" y="242062"/>
                  </a:cubicBezTo>
                  <a:lnTo>
                    <a:pt x="3213100" y="242062"/>
                  </a:lnTo>
                  <a:lnTo>
                    <a:pt x="3223260" y="242062"/>
                  </a:lnTo>
                  <a:lnTo>
                    <a:pt x="3223260" y="1169289"/>
                  </a:lnTo>
                  <a:lnTo>
                    <a:pt x="3213100" y="1169289"/>
                  </a:lnTo>
                  <a:lnTo>
                    <a:pt x="3223260" y="1169289"/>
                  </a:lnTo>
                  <a:cubicBezTo>
                    <a:pt x="3223260" y="1303020"/>
                    <a:pt x="3114040" y="1411351"/>
                    <a:pt x="2979293" y="1411351"/>
                  </a:cubicBezTo>
                  <a:lnTo>
                    <a:pt x="2979293" y="1401191"/>
                  </a:lnTo>
                  <a:lnTo>
                    <a:pt x="2979293" y="1411351"/>
                  </a:lnTo>
                  <a:lnTo>
                    <a:pt x="243967" y="1411351"/>
                  </a:lnTo>
                  <a:lnTo>
                    <a:pt x="243967" y="1401191"/>
                  </a:lnTo>
                  <a:lnTo>
                    <a:pt x="243967" y="1411351"/>
                  </a:lnTo>
                  <a:cubicBezTo>
                    <a:pt x="109220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3840" y="1390904"/>
                  </a:cubicBezTo>
                  <a:lnTo>
                    <a:pt x="2979293" y="1390904"/>
                  </a:lnTo>
                  <a:cubicBezTo>
                    <a:pt x="3102864" y="1390904"/>
                    <a:pt x="3202813" y="1291590"/>
                    <a:pt x="3202813" y="1169289"/>
                  </a:cubicBezTo>
                  <a:lnTo>
                    <a:pt x="3202813" y="242062"/>
                  </a:lnTo>
                  <a:cubicBezTo>
                    <a:pt x="3202813" y="119761"/>
                    <a:pt x="3102737" y="20447"/>
                    <a:pt x="2979293" y="20447"/>
                  </a:cubicBezTo>
                  <a:lnTo>
                    <a:pt x="243967" y="20447"/>
                  </a:lnTo>
                  <a:lnTo>
                    <a:pt x="243967" y="10160"/>
                  </a:lnTo>
                  <a:lnTo>
                    <a:pt x="243967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808451" y="2454840"/>
            <a:ext cx="2127647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12.4s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81000" y="2931071"/>
            <a:ext cx="218254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proof latency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81449" y="2394547"/>
            <a:ext cx="2417426" cy="1058485"/>
            <a:chOff x="0" y="0"/>
            <a:chExt cx="3223235" cy="141131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0160" y="10160"/>
              <a:ext cx="3202940" cy="1390904"/>
            </a:xfrm>
            <a:custGeom>
              <a:avLst/>
              <a:gdLst/>
              <a:ahLst/>
              <a:cxnLst/>
              <a:rect r="r" b="b" t="t" l="l"/>
              <a:pathLst>
                <a:path h="1390904" w="3202940">
                  <a:moveTo>
                    <a:pt x="0" y="231902"/>
                  </a:moveTo>
                  <a:cubicBezTo>
                    <a:pt x="0" y="103759"/>
                    <a:pt x="104648" y="0"/>
                    <a:pt x="233807" y="0"/>
                  </a:cubicBezTo>
                  <a:lnTo>
                    <a:pt x="2969133" y="0"/>
                  </a:lnTo>
                  <a:cubicBezTo>
                    <a:pt x="3098292" y="0"/>
                    <a:pt x="3202940" y="103759"/>
                    <a:pt x="3202940" y="231902"/>
                  </a:cubicBezTo>
                  <a:lnTo>
                    <a:pt x="3202940" y="1159129"/>
                  </a:lnTo>
                  <a:cubicBezTo>
                    <a:pt x="3202940" y="1287145"/>
                    <a:pt x="3098292" y="1390904"/>
                    <a:pt x="2969260" y="1390904"/>
                  </a:cubicBezTo>
                  <a:lnTo>
                    <a:pt x="233807" y="1390904"/>
                  </a:lnTo>
                  <a:cubicBezTo>
                    <a:pt x="104648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EAF7E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23260" cy="1411351"/>
            </a:xfrm>
            <a:custGeom>
              <a:avLst/>
              <a:gdLst/>
              <a:ahLst/>
              <a:cxnLst/>
              <a:rect r="r" b="b" t="t" l="l"/>
              <a:pathLst>
                <a:path h="1411351" w="3223260">
                  <a:moveTo>
                    <a:pt x="0" y="242062"/>
                  </a:moveTo>
                  <a:cubicBezTo>
                    <a:pt x="0" y="108331"/>
                    <a:pt x="109220" y="0"/>
                    <a:pt x="243967" y="0"/>
                  </a:cubicBezTo>
                  <a:lnTo>
                    <a:pt x="2979293" y="0"/>
                  </a:lnTo>
                  <a:lnTo>
                    <a:pt x="2979293" y="10160"/>
                  </a:lnTo>
                  <a:lnTo>
                    <a:pt x="2979293" y="0"/>
                  </a:lnTo>
                  <a:cubicBezTo>
                    <a:pt x="3113913" y="0"/>
                    <a:pt x="3223260" y="108331"/>
                    <a:pt x="3223260" y="242062"/>
                  </a:cubicBezTo>
                  <a:lnTo>
                    <a:pt x="3213100" y="242062"/>
                  </a:lnTo>
                  <a:lnTo>
                    <a:pt x="3223260" y="242062"/>
                  </a:lnTo>
                  <a:lnTo>
                    <a:pt x="3223260" y="1169289"/>
                  </a:lnTo>
                  <a:lnTo>
                    <a:pt x="3213100" y="1169289"/>
                  </a:lnTo>
                  <a:lnTo>
                    <a:pt x="3223260" y="1169289"/>
                  </a:lnTo>
                  <a:cubicBezTo>
                    <a:pt x="3223260" y="1303020"/>
                    <a:pt x="3114040" y="1411351"/>
                    <a:pt x="2979293" y="1411351"/>
                  </a:cubicBezTo>
                  <a:lnTo>
                    <a:pt x="2979293" y="1401191"/>
                  </a:lnTo>
                  <a:lnTo>
                    <a:pt x="2979293" y="1411351"/>
                  </a:lnTo>
                  <a:lnTo>
                    <a:pt x="243967" y="1411351"/>
                  </a:lnTo>
                  <a:lnTo>
                    <a:pt x="243967" y="1401191"/>
                  </a:lnTo>
                  <a:lnTo>
                    <a:pt x="243967" y="1411351"/>
                  </a:lnTo>
                  <a:cubicBezTo>
                    <a:pt x="109220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3840" y="1390904"/>
                  </a:cubicBezTo>
                  <a:lnTo>
                    <a:pt x="2979293" y="1390904"/>
                  </a:lnTo>
                  <a:cubicBezTo>
                    <a:pt x="3102864" y="1390904"/>
                    <a:pt x="3202813" y="1291590"/>
                    <a:pt x="3202813" y="1169289"/>
                  </a:cubicBezTo>
                  <a:lnTo>
                    <a:pt x="3202813" y="242062"/>
                  </a:lnTo>
                  <a:cubicBezTo>
                    <a:pt x="3202813" y="119761"/>
                    <a:pt x="3102737" y="20447"/>
                    <a:pt x="2979293" y="20447"/>
                  </a:cubicBezTo>
                  <a:lnTo>
                    <a:pt x="243967" y="20447"/>
                  </a:lnTo>
                  <a:lnTo>
                    <a:pt x="243967" y="10160"/>
                  </a:lnTo>
                  <a:lnTo>
                    <a:pt x="243967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526343" y="2454840"/>
            <a:ext cx="2127647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0.14s/tx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98892" y="2931071"/>
            <a:ext cx="218254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batched, 100 tx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099341" y="2394547"/>
            <a:ext cx="2417426" cy="1058485"/>
            <a:chOff x="0" y="0"/>
            <a:chExt cx="3223235" cy="14113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0160" y="10160"/>
              <a:ext cx="3202940" cy="1390904"/>
            </a:xfrm>
            <a:custGeom>
              <a:avLst/>
              <a:gdLst/>
              <a:ahLst/>
              <a:cxnLst/>
              <a:rect r="r" b="b" t="t" l="l"/>
              <a:pathLst>
                <a:path h="1390904" w="3202940">
                  <a:moveTo>
                    <a:pt x="0" y="231902"/>
                  </a:moveTo>
                  <a:cubicBezTo>
                    <a:pt x="0" y="103759"/>
                    <a:pt x="104648" y="0"/>
                    <a:pt x="233807" y="0"/>
                  </a:cubicBezTo>
                  <a:lnTo>
                    <a:pt x="2969133" y="0"/>
                  </a:lnTo>
                  <a:cubicBezTo>
                    <a:pt x="3098292" y="0"/>
                    <a:pt x="3202940" y="103759"/>
                    <a:pt x="3202940" y="231902"/>
                  </a:cubicBezTo>
                  <a:lnTo>
                    <a:pt x="3202940" y="1159129"/>
                  </a:lnTo>
                  <a:cubicBezTo>
                    <a:pt x="3202940" y="1287145"/>
                    <a:pt x="3098292" y="1390904"/>
                    <a:pt x="2969260" y="1390904"/>
                  </a:cubicBezTo>
                  <a:lnTo>
                    <a:pt x="233807" y="1390904"/>
                  </a:lnTo>
                  <a:cubicBezTo>
                    <a:pt x="104648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F2ECF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23260" cy="1411351"/>
            </a:xfrm>
            <a:custGeom>
              <a:avLst/>
              <a:gdLst/>
              <a:ahLst/>
              <a:cxnLst/>
              <a:rect r="r" b="b" t="t" l="l"/>
              <a:pathLst>
                <a:path h="1411351" w="3223260">
                  <a:moveTo>
                    <a:pt x="0" y="242062"/>
                  </a:moveTo>
                  <a:cubicBezTo>
                    <a:pt x="0" y="108331"/>
                    <a:pt x="109220" y="0"/>
                    <a:pt x="243967" y="0"/>
                  </a:cubicBezTo>
                  <a:lnTo>
                    <a:pt x="2979293" y="0"/>
                  </a:lnTo>
                  <a:lnTo>
                    <a:pt x="2979293" y="10160"/>
                  </a:lnTo>
                  <a:lnTo>
                    <a:pt x="2979293" y="0"/>
                  </a:lnTo>
                  <a:cubicBezTo>
                    <a:pt x="3113913" y="0"/>
                    <a:pt x="3223260" y="108331"/>
                    <a:pt x="3223260" y="242062"/>
                  </a:cubicBezTo>
                  <a:lnTo>
                    <a:pt x="3213100" y="242062"/>
                  </a:lnTo>
                  <a:lnTo>
                    <a:pt x="3223260" y="242062"/>
                  </a:lnTo>
                  <a:lnTo>
                    <a:pt x="3223260" y="1169289"/>
                  </a:lnTo>
                  <a:lnTo>
                    <a:pt x="3213100" y="1169289"/>
                  </a:lnTo>
                  <a:lnTo>
                    <a:pt x="3223260" y="1169289"/>
                  </a:lnTo>
                  <a:cubicBezTo>
                    <a:pt x="3223260" y="1303020"/>
                    <a:pt x="3114040" y="1411351"/>
                    <a:pt x="2979293" y="1411351"/>
                  </a:cubicBezTo>
                  <a:lnTo>
                    <a:pt x="2979293" y="1401191"/>
                  </a:lnTo>
                  <a:lnTo>
                    <a:pt x="2979293" y="1411351"/>
                  </a:lnTo>
                  <a:lnTo>
                    <a:pt x="243967" y="1411351"/>
                  </a:lnTo>
                  <a:lnTo>
                    <a:pt x="243967" y="1401191"/>
                  </a:lnTo>
                  <a:lnTo>
                    <a:pt x="243967" y="1411351"/>
                  </a:lnTo>
                  <a:cubicBezTo>
                    <a:pt x="109220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3840" y="1390904"/>
                  </a:cubicBezTo>
                  <a:lnTo>
                    <a:pt x="2979293" y="1390904"/>
                  </a:lnTo>
                  <a:cubicBezTo>
                    <a:pt x="3102864" y="1390904"/>
                    <a:pt x="3202813" y="1291590"/>
                    <a:pt x="3202813" y="1169289"/>
                  </a:cubicBezTo>
                  <a:lnTo>
                    <a:pt x="3202813" y="242062"/>
                  </a:lnTo>
                  <a:cubicBezTo>
                    <a:pt x="3202813" y="119761"/>
                    <a:pt x="3102737" y="20447"/>
                    <a:pt x="2979293" y="20447"/>
                  </a:cubicBezTo>
                  <a:lnTo>
                    <a:pt x="243967" y="20447"/>
                  </a:lnTo>
                  <a:lnTo>
                    <a:pt x="243967" y="10160"/>
                  </a:lnTo>
                  <a:lnTo>
                    <a:pt x="243967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6F42C1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244235" y="2454840"/>
            <a:ext cx="2127647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6F42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2420 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216784" y="2931071"/>
            <a:ext cx="218254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ML-DSA signature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2863" y="4070394"/>
            <a:ext cx="42552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On-chain gas cost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2863" y="4619463"/>
            <a:ext cx="226491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ECDSA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655504" y="4698730"/>
            <a:ext cx="3588010" cy="266148"/>
            <a:chOff x="0" y="0"/>
            <a:chExt cx="4784014" cy="3548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4758563" cy="329438"/>
            </a:xfrm>
            <a:custGeom>
              <a:avLst/>
              <a:gdLst/>
              <a:ahLst/>
              <a:cxnLst/>
              <a:rect r="r" b="b" t="t" l="l"/>
              <a:pathLst>
                <a:path h="329438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EDF1F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655504" y="4698730"/>
            <a:ext cx="87697" cy="266148"/>
            <a:chOff x="0" y="0"/>
            <a:chExt cx="116929" cy="3548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91567" cy="329438"/>
            </a:xfrm>
            <a:custGeom>
              <a:avLst/>
              <a:gdLst/>
              <a:ahLst/>
              <a:cxnLst/>
              <a:rect r="r" b="b" t="t" l="l"/>
              <a:pathLst>
                <a:path h="329438" w="91567">
                  <a:moveTo>
                    <a:pt x="0" y="0"/>
                  </a:moveTo>
                  <a:lnTo>
                    <a:pt x="91567" y="0"/>
                  </a:lnTo>
                  <a:lnTo>
                    <a:pt x="91567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60708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343794" y="4578277"/>
            <a:ext cx="9883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2632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863" y="5342401"/>
            <a:ext cx="226491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Q-EVM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3655504" y="5421678"/>
            <a:ext cx="3588010" cy="266148"/>
            <a:chOff x="0" y="0"/>
            <a:chExt cx="4784014" cy="3548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4758563" cy="329438"/>
            </a:xfrm>
            <a:custGeom>
              <a:avLst/>
              <a:gdLst/>
              <a:ahLst/>
              <a:cxnLst/>
              <a:rect r="r" b="b" t="t" l="l"/>
              <a:pathLst>
                <a:path h="329438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EDF1F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655504" y="5421678"/>
            <a:ext cx="323812" cy="266148"/>
            <a:chOff x="0" y="0"/>
            <a:chExt cx="431749" cy="3548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406273" cy="329438"/>
            </a:xfrm>
            <a:custGeom>
              <a:avLst/>
              <a:gdLst/>
              <a:ahLst/>
              <a:cxnLst/>
              <a:rect r="r" b="b" t="t" l="l"/>
              <a:pathLst>
                <a:path h="329438" w="406273">
                  <a:moveTo>
                    <a:pt x="0" y="0"/>
                  </a:moveTo>
                  <a:lnTo>
                    <a:pt x="406273" y="0"/>
                  </a:lnTo>
                  <a:lnTo>
                    <a:pt x="406273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7343794" y="5301224"/>
            <a:ext cx="9883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2632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242k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2863" y="6065339"/>
            <a:ext cx="226491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Native ML-DSA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655504" y="6144616"/>
            <a:ext cx="3588010" cy="266148"/>
            <a:chOff x="0" y="0"/>
            <a:chExt cx="4784014" cy="3548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4758563" cy="329438"/>
            </a:xfrm>
            <a:custGeom>
              <a:avLst/>
              <a:gdLst/>
              <a:ahLst/>
              <a:cxnLst/>
              <a:rect r="r" b="b" t="t" l="l"/>
              <a:pathLst>
                <a:path h="329438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EDF1F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655504" y="6144616"/>
            <a:ext cx="3588010" cy="266148"/>
            <a:chOff x="0" y="0"/>
            <a:chExt cx="4784014" cy="3548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4758563" cy="329438"/>
            </a:xfrm>
            <a:custGeom>
              <a:avLst/>
              <a:gdLst/>
              <a:ahLst/>
              <a:cxnLst/>
              <a:rect r="r" b="b" t="t" l="l"/>
              <a:pathLst>
                <a:path h="329438" w="4758563">
                  <a:moveTo>
                    <a:pt x="0" y="0"/>
                  </a:moveTo>
                  <a:lnTo>
                    <a:pt x="4758563" y="0"/>
                  </a:lnTo>
                  <a:lnTo>
                    <a:pt x="4758563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7343794" y="6024162"/>
            <a:ext cx="98832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2632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2.84M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07951" y="7031164"/>
            <a:ext cx="713789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07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7A: Native ML-DSA vs Q-EVM proof verification gas.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08706" y="4070394"/>
            <a:ext cx="411801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Latency trade-off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669713" y="4632008"/>
            <a:ext cx="5300043" cy="536867"/>
            <a:chOff x="0" y="0"/>
            <a:chExt cx="7066724" cy="71582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0160" y="10160"/>
              <a:ext cx="7046467" cy="695579"/>
            </a:xfrm>
            <a:custGeom>
              <a:avLst/>
              <a:gdLst/>
              <a:ahLst/>
              <a:cxnLst/>
              <a:rect r="r" b="b" t="t" l="l"/>
              <a:pathLst>
                <a:path h="695579" w="7046467">
                  <a:moveTo>
                    <a:pt x="0" y="115951"/>
                  </a:moveTo>
                  <a:cubicBezTo>
                    <a:pt x="0" y="51943"/>
                    <a:pt x="53213" y="0"/>
                    <a:pt x="118999" y="0"/>
                  </a:cubicBezTo>
                  <a:lnTo>
                    <a:pt x="6927468" y="0"/>
                  </a:lnTo>
                  <a:cubicBezTo>
                    <a:pt x="6993128" y="0"/>
                    <a:pt x="7046467" y="51943"/>
                    <a:pt x="7046467" y="115951"/>
                  </a:cubicBezTo>
                  <a:lnTo>
                    <a:pt x="7046467" y="579628"/>
                  </a:lnTo>
                  <a:cubicBezTo>
                    <a:pt x="7046467" y="643636"/>
                    <a:pt x="6993254" y="695579"/>
                    <a:pt x="6927468" y="695579"/>
                  </a:cubicBezTo>
                  <a:lnTo>
                    <a:pt x="118999" y="695579"/>
                  </a:lnTo>
                  <a:cubicBezTo>
                    <a:pt x="5321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E8F9F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66788" cy="715899"/>
            </a:xfrm>
            <a:custGeom>
              <a:avLst/>
              <a:gdLst/>
              <a:ahLst/>
              <a:cxnLst/>
              <a:rect r="r" b="b" t="t" l="l"/>
              <a:pathLst>
                <a:path h="715899" w="7066788">
                  <a:moveTo>
                    <a:pt x="0" y="126111"/>
                  </a:moveTo>
                  <a:cubicBezTo>
                    <a:pt x="0" y="56261"/>
                    <a:pt x="58039" y="0"/>
                    <a:pt x="129159" y="0"/>
                  </a:cubicBezTo>
                  <a:lnTo>
                    <a:pt x="6937628" y="0"/>
                  </a:lnTo>
                  <a:lnTo>
                    <a:pt x="6937628" y="10160"/>
                  </a:lnTo>
                  <a:lnTo>
                    <a:pt x="6937628" y="0"/>
                  </a:lnTo>
                  <a:cubicBezTo>
                    <a:pt x="7008749" y="0"/>
                    <a:pt x="7066788" y="56261"/>
                    <a:pt x="7066788" y="126111"/>
                  </a:cubicBezTo>
                  <a:lnTo>
                    <a:pt x="7056627" y="126111"/>
                  </a:lnTo>
                  <a:lnTo>
                    <a:pt x="7066788" y="126111"/>
                  </a:lnTo>
                  <a:lnTo>
                    <a:pt x="7066788" y="589788"/>
                  </a:lnTo>
                  <a:lnTo>
                    <a:pt x="7056627" y="589788"/>
                  </a:lnTo>
                  <a:lnTo>
                    <a:pt x="7066788" y="589788"/>
                  </a:lnTo>
                  <a:cubicBezTo>
                    <a:pt x="7066788" y="659638"/>
                    <a:pt x="7008749" y="715899"/>
                    <a:pt x="6937628" y="715899"/>
                  </a:cubicBezTo>
                  <a:lnTo>
                    <a:pt x="6937628" y="705739"/>
                  </a:lnTo>
                  <a:lnTo>
                    <a:pt x="6937628" y="715899"/>
                  </a:lnTo>
                  <a:lnTo>
                    <a:pt x="129159" y="715899"/>
                  </a:lnTo>
                  <a:lnTo>
                    <a:pt x="129159" y="705739"/>
                  </a:lnTo>
                  <a:lnTo>
                    <a:pt x="129159" y="715899"/>
                  </a:lnTo>
                  <a:cubicBezTo>
                    <a:pt x="58039" y="715772"/>
                    <a:pt x="0" y="659638"/>
                    <a:pt x="0" y="589788"/>
                  </a:cubicBezTo>
                  <a:lnTo>
                    <a:pt x="0" y="126111"/>
                  </a:lnTo>
                  <a:lnTo>
                    <a:pt x="10160" y="126111"/>
                  </a:lnTo>
                  <a:lnTo>
                    <a:pt x="0" y="126111"/>
                  </a:lnTo>
                  <a:moveTo>
                    <a:pt x="20320" y="126111"/>
                  </a:moveTo>
                  <a:lnTo>
                    <a:pt x="20320" y="589788"/>
                  </a:lnTo>
                  <a:lnTo>
                    <a:pt x="10160" y="589788"/>
                  </a:lnTo>
                  <a:lnTo>
                    <a:pt x="20320" y="589788"/>
                  </a:lnTo>
                  <a:cubicBezTo>
                    <a:pt x="20320" y="647954"/>
                    <a:pt x="68834" y="695579"/>
                    <a:pt x="129159" y="695579"/>
                  </a:cubicBezTo>
                  <a:lnTo>
                    <a:pt x="6937628" y="695579"/>
                  </a:lnTo>
                  <a:cubicBezTo>
                    <a:pt x="6997953" y="695579"/>
                    <a:pt x="7046468" y="647954"/>
                    <a:pt x="7046468" y="589788"/>
                  </a:cubicBezTo>
                  <a:lnTo>
                    <a:pt x="7046468" y="126111"/>
                  </a:lnTo>
                  <a:cubicBezTo>
                    <a:pt x="7046468" y="67945"/>
                    <a:pt x="6997953" y="20320"/>
                    <a:pt x="6937628" y="20320"/>
                  </a:cubicBezTo>
                  <a:lnTo>
                    <a:pt x="129159" y="20320"/>
                  </a:lnTo>
                  <a:lnTo>
                    <a:pt x="129159" y="10160"/>
                  </a:lnTo>
                  <a:lnTo>
                    <a:pt x="129159" y="20320"/>
                  </a:lnTo>
                  <a:cubicBezTo>
                    <a:pt x="68834" y="20320"/>
                    <a:pt x="20320" y="67945"/>
                    <a:pt x="20320" y="126111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1261781" y="4743002"/>
            <a:ext cx="204728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Single proof: 12.4s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669713" y="5647782"/>
            <a:ext cx="866308" cy="536867"/>
            <a:chOff x="0" y="0"/>
            <a:chExt cx="1155078" cy="71582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0160" y="10160"/>
              <a:ext cx="1134745" cy="695579"/>
            </a:xfrm>
            <a:custGeom>
              <a:avLst/>
              <a:gdLst/>
              <a:ahLst/>
              <a:cxnLst/>
              <a:rect r="r" b="b" t="t" l="l"/>
              <a:pathLst>
                <a:path h="695579" w="1134745">
                  <a:moveTo>
                    <a:pt x="0" y="115951"/>
                  </a:moveTo>
                  <a:cubicBezTo>
                    <a:pt x="0" y="51943"/>
                    <a:pt x="52451" y="0"/>
                    <a:pt x="117221" y="0"/>
                  </a:cubicBezTo>
                  <a:lnTo>
                    <a:pt x="1017524" y="0"/>
                  </a:lnTo>
                  <a:cubicBezTo>
                    <a:pt x="1082294" y="0"/>
                    <a:pt x="1134745" y="51943"/>
                    <a:pt x="1134745" y="115951"/>
                  </a:cubicBezTo>
                  <a:lnTo>
                    <a:pt x="1134745" y="579628"/>
                  </a:lnTo>
                  <a:cubicBezTo>
                    <a:pt x="1134745" y="643636"/>
                    <a:pt x="1082294" y="695579"/>
                    <a:pt x="1017524" y="695579"/>
                  </a:cubicBezTo>
                  <a:lnTo>
                    <a:pt x="117221" y="695579"/>
                  </a:lnTo>
                  <a:cubicBezTo>
                    <a:pt x="52451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EAF7E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55065" cy="715899"/>
            </a:xfrm>
            <a:custGeom>
              <a:avLst/>
              <a:gdLst/>
              <a:ahLst/>
              <a:cxnLst/>
              <a:rect r="r" b="b" t="t" l="l"/>
              <a:pathLst>
                <a:path h="715899" w="1155065">
                  <a:moveTo>
                    <a:pt x="0" y="126111"/>
                  </a:moveTo>
                  <a:cubicBezTo>
                    <a:pt x="0" y="56388"/>
                    <a:pt x="57150" y="0"/>
                    <a:pt x="127381" y="0"/>
                  </a:cubicBezTo>
                  <a:lnTo>
                    <a:pt x="1027684" y="0"/>
                  </a:lnTo>
                  <a:lnTo>
                    <a:pt x="1027684" y="10160"/>
                  </a:lnTo>
                  <a:lnTo>
                    <a:pt x="1027684" y="0"/>
                  </a:lnTo>
                  <a:cubicBezTo>
                    <a:pt x="1097915" y="0"/>
                    <a:pt x="1155065" y="56388"/>
                    <a:pt x="1155065" y="126111"/>
                  </a:cubicBezTo>
                  <a:lnTo>
                    <a:pt x="1144905" y="126111"/>
                  </a:lnTo>
                  <a:lnTo>
                    <a:pt x="1155065" y="126111"/>
                  </a:lnTo>
                  <a:lnTo>
                    <a:pt x="1155065" y="589788"/>
                  </a:lnTo>
                  <a:lnTo>
                    <a:pt x="1144905" y="589788"/>
                  </a:lnTo>
                  <a:lnTo>
                    <a:pt x="1155065" y="589788"/>
                  </a:lnTo>
                  <a:cubicBezTo>
                    <a:pt x="1155065" y="659511"/>
                    <a:pt x="1097915" y="715899"/>
                    <a:pt x="1027684" y="715899"/>
                  </a:cubicBezTo>
                  <a:lnTo>
                    <a:pt x="1027684" y="705739"/>
                  </a:lnTo>
                  <a:lnTo>
                    <a:pt x="1027684" y="715899"/>
                  </a:lnTo>
                  <a:lnTo>
                    <a:pt x="127381" y="715899"/>
                  </a:lnTo>
                  <a:lnTo>
                    <a:pt x="127381" y="705739"/>
                  </a:lnTo>
                  <a:lnTo>
                    <a:pt x="127381" y="715899"/>
                  </a:lnTo>
                  <a:cubicBezTo>
                    <a:pt x="57150" y="715772"/>
                    <a:pt x="0" y="659511"/>
                    <a:pt x="0" y="589788"/>
                  </a:cubicBezTo>
                  <a:lnTo>
                    <a:pt x="0" y="126111"/>
                  </a:lnTo>
                  <a:lnTo>
                    <a:pt x="10160" y="126111"/>
                  </a:lnTo>
                  <a:lnTo>
                    <a:pt x="0" y="126111"/>
                  </a:lnTo>
                  <a:moveTo>
                    <a:pt x="20320" y="126111"/>
                  </a:moveTo>
                  <a:lnTo>
                    <a:pt x="20320" y="589788"/>
                  </a:lnTo>
                  <a:lnTo>
                    <a:pt x="10160" y="589788"/>
                  </a:lnTo>
                  <a:lnTo>
                    <a:pt x="20320" y="589788"/>
                  </a:lnTo>
                  <a:cubicBezTo>
                    <a:pt x="20320" y="648081"/>
                    <a:pt x="68199" y="695579"/>
                    <a:pt x="127381" y="695579"/>
                  </a:cubicBezTo>
                  <a:lnTo>
                    <a:pt x="1027684" y="695579"/>
                  </a:lnTo>
                  <a:cubicBezTo>
                    <a:pt x="1086866" y="695579"/>
                    <a:pt x="1134745" y="648081"/>
                    <a:pt x="1134745" y="589788"/>
                  </a:cubicBezTo>
                  <a:lnTo>
                    <a:pt x="1134745" y="126111"/>
                  </a:lnTo>
                  <a:cubicBezTo>
                    <a:pt x="1134745" y="67818"/>
                    <a:pt x="1086866" y="20320"/>
                    <a:pt x="1027684" y="20320"/>
                  </a:cubicBezTo>
                  <a:lnTo>
                    <a:pt x="127381" y="20320"/>
                  </a:lnTo>
                  <a:lnTo>
                    <a:pt x="127381" y="10160"/>
                  </a:lnTo>
                  <a:lnTo>
                    <a:pt x="127381" y="20320"/>
                  </a:lnTo>
                  <a:cubicBezTo>
                    <a:pt x="68199" y="20320"/>
                    <a:pt x="20320" y="67818"/>
                    <a:pt x="20320" y="126111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0706843" y="5758777"/>
            <a:ext cx="195238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Batched: 0.14s/tx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814608" y="6523272"/>
            <a:ext cx="507889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size example: 100 transactions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265539" y="7031164"/>
            <a:ext cx="645155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07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7B: Batching reduces amortized proving latency.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345216" y="7878889"/>
            <a:ext cx="6598587" cy="358416"/>
            <a:chOff x="0" y="0"/>
            <a:chExt cx="8798116" cy="4778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0160" y="10160"/>
              <a:ext cx="8777732" cy="457581"/>
            </a:xfrm>
            <a:custGeom>
              <a:avLst/>
              <a:gdLst/>
              <a:ahLst/>
              <a:cxnLst/>
              <a:rect r="r" b="b" t="t" l="l"/>
              <a:pathLst>
                <a:path h="457581" w="8777732">
                  <a:moveTo>
                    <a:pt x="0" y="0"/>
                  </a:moveTo>
                  <a:lnTo>
                    <a:pt x="8777732" y="0"/>
                  </a:lnTo>
                  <a:lnTo>
                    <a:pt x="8777732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98052" cy="477901"/>
            </a:xfrm>
            <a:custGeom>
              <a:avLst/>
              <a:gdLst/>
              <a:ahLst/>
              <a:cxnLst/>
              <a:rect r="r" b="b" t="t" l="l"/>
              <a:pathLst>
                <a:path h="477901" w="8798052">
                  <a:moveTo>
                    <a:pt x="10160" y="0"/>
                  </a:moveTo>
                  <a:lnTo>
                    <a:pt x="8787892" y="0"/>
                  </a:lnTo>
                  <a:cubicBezTo>
                    <a:pt x="8793480" y="0"/>
                    <a:pt x="8798052" y="4572"/>
                    <a:pt x="8798052" y="10160"/>
                  </a:cubicBezTo>
                  <a:lnTo>
                    <a:pt x="8798052" y="467741"/>
                  </a:lnTo>
                  <a:cubicBezTo>
                    <a:pt x="8798052" y="473329"/>
                    <a:pt x="8793480" y="477901"/>
                    <a:pt x="8787892" y="477901"/>
                  </a:cubicBezTo>
                  <a:lnTo>
                    <a:pt x="10160" y="477901"/>
                  </a:lnTo>
                  <a:cubicBezTo>
                    <a:pt x="4572" y="477901"/>
                    <a:pt x="0" y="473329"/>
                    <a:pt x="0" y="467741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7741"/>
                  </a:lnTo>
                  <a:lnTo>
                    <a:pt x="10160" y="467741"/>
                  </a:lnTo>
                  <a:lnTo>
                    <a:pt x="10160" y="457581"/>
                  </a:lnTo>
                  <a:lnTo>
                    <a:pt x="8787892" y="457581"/>
                  </a:lnTo>
                  <a:lnTo>
                    <a:pt x="8787892" y="467741"/>
                  </a:lnTo>
                  <a:lnTo>
                    <a:pt x="8777732" y="467741"/>
                  </a:lnTo>
                  <a:lnTo>
                    <a:pt x="8777732" y="10160"/>
                  </a:lnTo>
                  <a:lnTo>
                    <a:pt x="8787892" y="10160"/>
                  </a:lnTo>
                  <a:lnTo>
                    <a:pt x="8787892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35198" y="7955147"/>
            <a:ext cx="6418612" cy="355439"/>
            <a:chOff x="0" y="0"/>
            <a:chExt cx="8558149" cy="47391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558154" cy="473920"/>
            </a:xfrm>
            <a:custGeom>
              <a:avLst/>
              <a:gdLst/>
              <a:ahLst/>
              <a:cxnLst/>
              <a:rect r="r" b="b" t="t" l="l"/>
              <a:pathLst>
                <a:path h="473920" w="8558154">
                  <a:moveTo>
                    <a:pt x="0" y="0"/>
                  </a:moveTo>
                  <a:lnTo>
                    <a:pt x="8558154" y="0"/>
                  </a:lnTo>
                  <a:lnTo>
                    <a:pt x="8558154" y="473920"/>
                  </a:lnTo>
                  <a:lnTo>
                    <a:pt x="0" y="473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9038" r="0" b="-2846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558149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928553" y="7878889"/>
            <a:ext cx="4204649" cy="358416"/>
            <a:chOff x="0" y="0"/>
            <a:chExt cx="5606199" cy="47788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0160" y="10160"/>
              <a:ext cx="5585841" cy="457581"/>
            </a:xfrm>
            <a:custGeom>
              <a:avLst/>
              <a:gdLst/>
              <a:ahLst/>
              <a:cxnLst/>
              <a:rect r="r" b="b" t="t" l="l"/>
              <a:pathLst>
                <a:path h="457581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606161" cy="477901"/>
            </a:xfrm>
            <a:custGeom>
              <a:avLst/>
              <a:gdLst/>
              <a:ahLst/>
              <a:cxnLst/>
              <a:rect r="r" b="b" t="t" l="l"/>
              <a:pathLst>
                <a:path h="477901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67741"/>
                  </a:lnTo>
                  <a:cubicBezTo>
                    <a:pt x="5606161" y="473329"/>
                    <a:pt x="5601589" y="477901"/>
                    <a:pt x="5596001" y="477901"/>
                  </a:cubicBezTo>
                  <a:lnTo>
                    <a:pt x="10160" y="477901"/>
                  </a:lnTo>
                  <a:cubicBezTo>
                    <a:pt x="4572" y="477901"/>
                    <a:pt x="0" y="473329"/>
                    <a:pt x="0" y="467741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7741"/>
                  </a:lnTo>
                  <a:lnTo>
                    <a:pt x="10160" y="467741"/>
                  </a:lnTo>
                  <a:lnTo>
                    <a:pt x="10160" y="457581"/>
                  </a:lnTo>
                  <a:lnTo>
                    <a:pt x="5596001" y="457581"/>
                  </a:lnTo>
                  <a:lnTo>
                    <a:pt x="5596001" y="467741"/>
                  </a:lnTo>
                  <a:lnTo>
                    <a:pt x="5585841" y="467741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018536" y="7955147"/>
            <a:ext cx="4024674" cy="355439"/>
            <a:chOff x="0" y="0"/>
            <a:chExt cx="5366233" cy="47391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66234" cy="473920"/>
            </a:xfrm>
            <a:custGeom>
              <a:avLst/>
              <a:gdLst/>
              <a:ahLst/>
              <a:cxnLst/>
              <a:rect r="r" b="b" t="t" l="l"/>
              <a:pathLst>
                <a:path h="473920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20"/>
                  </a:lnTo>
                  <a:lnTo>
                    <a:pt x="0" y="473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804" r="0" b="-15345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Value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117943" y="7878889"/>
            <a:ext cx="4204649" cy="358416"/>
            <a:chOff x="0" y="0"/>
            <a:chExt cx="5606199" cy="4778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0160" y="10160"/>
              <a:ext cx="5585841" cy="457581"/>
            </a:xfrm>
            <a:custGeom>
              <a:avLst/>
              <a:gdLst/>
              <a:ahLst/>
              <a:cxnLst/>
              <a:rect r="r" b="b" t="t" l="l"/>
              <a:pathLst>
                <a:path h="457581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57581"/>
                  </a:lnTo>
                  <a:lnTo>
                    <a:pt x="0" y="457581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06161" cy="477901"/>
            </a:xfrm>
            <a:custGeom>
              <a:avLst/>
              <a:gdLst/>
              <a:ahLst/>
              <a:cxnLst/>
              <a:rect r="r" b="b" t="t" l="l"/>
              <a:pathLst>
                <a:path h="477901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67741"/>
                  </a:lnTo>
                  <a:cubicBezTo>
                    <a:pt x="5606161" y="473329"/>
                    <a:pt x="5601589" y="477901"/>
                    <a:pt x="5596001" y="477901"/>
                  </a:cubicBezTo>
                  <a:lnTo>
                    <a:pt x="10160" y="477901"/>
                  </a:lnTo>
                  <a:cubicBezTo>
                    <a:pt x="4572" y="477901"/>
                    <a:pt x="0" y="473329"/>
                    <a:pt x="0" y="467741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7741"/>
                  </a:lnTo>
                  <a:lnTo>
                    <a:pt x="10160" y="467741"/>
                  </a:lnTo>
                  <a:lnTo>
                    <a:pt x="10160" y="457581"/>
                  </a:lnTo>
                  <a:lnTo>
                    <a:pt x="5596001" y="457581"/>
                  </a:lnTo>
                  <a:lnTo>
                    <a:pt x="5596001" y="467741"/>
                  </a:lnTo>
                  <a:lnTo>
                    <a:pt x="5585841" y="467741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207935" y="7955147"/>
            <a:ext cx="4024674" cy="355439"/>
            <a:chOff x="0" y="0"/>
            <a:chExt cx="5366233" cy="47391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66234" cy="473920"/>
            </a:xfrm>
            <a:custGeom>
              <a:avLst/>
              <a:gdLst/>
              <a:ahLst/>
              <a:cxnLst/>
              <a:rect r="r" b="b" t="t" l="l"/>
              <a:pathLst>
                <a:path h="473920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20"/>
                  </a:lnTo>
                  <a:lnTo>
                    <a:pt x="0" y="473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804" r="0" b="-15345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45216" y="8222056"/>
            <a:ext cx="6598587" cy="330965"/>
            <a:chOff x="0" y="0"/>
            <a:chExt cx="8798116" cy="44128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0160" y="10160"/>
              <a:ext cx="8777732" cy="421005"/>
            </a:xfrm>
            <a:custGeom>
              <a:avLst/>
              <a:gdLst/>
              <a:ahLst/>
              <a:cxnLst/>
              <a:rect r="r" b="b" t="t" l="l"/>
              <a:pathLst>
                <a:path h="421005" w="8777732">
                  <a:moveTo>
                    <a:pt x="0" y="0"/>
                  </a:moveTo>
                  <a:lnTo>
                    <a:pt x="8777732" y="0"/>
                  </a:lnTo>
                  <a:lnTo>
                    <a:pt x="8777732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798052" cy="441325"/>
            </a:xfrm>
            <a:custGeom>
              <a:avLst/>
              <a:gdLst/>
              <a:ahLst/>
              <a:cxnLst/>
              <a:rect r="r" b="b" t="t" l="l"/>
              <a:pathLst>
                <a:path h="441325" w="8798052">
                  <a:moveTo>
                    <a:pt x="10160" y="0"/>
                  </a:moveTo>
                  <a:lnTo>
                    <a:pt x="8787892" y="0"/>
                  </a:lnTo>
                  <a:cubicBezTo>
                    <a:pt x="8793480" y="0"/>
                    <a:pt x="8798052" y="4572"/>
                    <a:pt x="8798052" y="10160"/>
                  </a:cubicBezTo>
                  <a:lnTo>
                    <a:pt x="8798052" y="431165"/>
                  </a:lnTo>
                  <a:cubicBezTo>
                    <a:pt x="8798052" y="436753"/>
                    <a:pt x="8793480" y="441325"/>
                    <a:pt x="8787892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8787892" y="421005"/>
                  </a:lnTo>
                  <a:lnTo>
                    <a:pt x="8787892" y="431165"/>
                  </a:lnTo>
                  <a:lnTo>
                    <a:pt x="8777732" y="431165"/>
                  </a:lnTo>
                  <a:lnTo>
                    <a:pt x="8777732" y="10160"/>
                  </a:lnTo>
                  <a:lnTo>
                    <a:pt x="8787892" y="10160"/>
                  </a:lnTo>
                  <a:lnTo>
                    <a:pt x="8787892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35198" y="8298323"/>
            <a:ext cx="6418612" cy="355439"/>
            <a:chOff x="0" y="0"/>
            <a:chExt cx="8558149" cy="47391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558154" cy="473916"/>
            </a:xfrm>
            <a:custGeom>
              <a:avLst/>
              <a:gdLst/>
              <a:ahLst/>
              <a:cxnLst/>
              <a:rect r="r" b="b" t="t" l="l"/>
              <a:pathLst>
                <a:path h="473916" w="8558154">
                  <a:moveTo>
                    <a:pt x="0" y="0"/>
                  </a:moveTo>
                  <a:lnTo>
                    <a:pt x="8558154" y="0"/>
                  </a:lnTo>
                  <a:lnTo>
                    <a:pt x="855815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2903" r="0" b="-28083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558149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zkVM cycle count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928553" y="8222056"/>
            <a:ext cx="4204649" cy="330965"/>
            <a:chOff x="0" y="0"/>
            <a:chExt cx="5606199" cy="44128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0160" y="10160"/>
              <a:ext cx="5585841" cy="421005"/>
            </a:xfrm>
            <a:custGeom>
              <a:avLst/>
              <a:gdLst/>
              <a:ahLst/>
              <a:cxnLst/>
              <a:rect r="r" b="b" t="t" l="l"/>
              <a:pathLst>
                <a:path h="421005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606161" cy="441325"/>
            </a:xfrm>
            <a:custGeom>
              <a:avLst/>
              <a:gdLst/>
              <a:ahLst/>
              <a:cxnLst/>
              <a:rect r="r" b="b" t="t" l="l"/>
              <a:pathLst>
                <a:path h="441325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31165"/>
                  </a:lnTo>
                  <a:cubicBezTo>
                    <a:pt x="5606161" y="436753"/>
                    <a:pt x="5601589" y="441325"/>
                    <a:pt x="5596001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5596001" y="421005"/>
                  </a:lnTo>
                  <a:lnTo>
                    <a:pt x="5596001" y="431165"/>
                  </a:lnTo>
                  <a:lnTo>
                    <a:pt x="5585841" y="431165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018536" y="8298323"/>
            <a:ext cx="4024674" cy="355439"/>
            <a:chOff x="0" y="0"/>
            <a:chExt cx="5366233" cy="4739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6234" cy="473916"/>
            </a:xfrm>
            <a:custGeom>
              <a:avLst/>
              <a:gdLst/>
              <a:ahLst/>
              <a:cxnLst/>
              <a:rect r="r" b="b" t="t" l="l"/>
              <a:pathLst>
                <a:path h="473916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67" r="0" b="-14959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1,842,500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117943" y="8222056"/>
            <a:ext cx="4204649" cy="330965"/>
            <a:chOff x="0" y="0"/>
            <a:chExt cx="5606199" cy="44128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0160" y="10160"/>
              <a:ext cx="5585841" cy="421005"/>
            </a:xfrm>
            <a:custGeom>
              <a:avLst/>
              <a:gdLst/>
              <a:ahLst/>
              <a:cxnLst/>
              <a:rect r="r" b="b" t="t" l="l"/>
              <a:pathLst>
                <a:path h="421005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06161" cy="441325"/>
            </a:xfrm>
            <a:custGeom>
              <a:avLst/>
              <a:gdLst/>
              <a:ahLst/>
              <a:cxnLst/>
              <a:rect r="r" b="b" t="t" l="l"/>
              <a:pathLst>
                <a:path h="441325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31165"/>
                  </a:lnTo>
                  <a:cubicBezTo>
                    <a:pt x="5606161" y="436753"/>
                    <a:pt x="5601589" y="441325"/>
                    <a:pt x="5596001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5596001" y="421005"/>
                  </a:lnTo>
                  <a:lnTo>
                    <a:pt x="5596001" y="431165"/>
                  </a:lnTo>
                  <a:lnTo>
                    <a:pt x="5585841" y="431165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207935" y="8298323"/>
            <a:ext cx="4024674" cy="355439"/>
            <a:chOff x="0" y="0"/>
            <a:chExt cx="5366233" cy="47391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366234" cy="473916"/>
            </a:xfrm>
            <a:custGeom>
              <a:avLst/>
              <a:gdLst/>
              <a:ahLst/>
              <a:cxnLst/>
              <a:rect r="r" b="b" t="t" l="l"/>
              <a:pathLst>
                <a:path h="473916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67" r="0" b="-14959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Measured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45216" y="8537772"/>
            <a:ext cx="6598587" cy="330965"/>
            <a:chOff x="0" y="0"/>
            <a:chExt cx="8798116" cy="441287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0160" y="10160"/>
              <a:ext cx="8777732" cy="421005"/>
            </a:xfrm>
            <a:custGeom>
              <a:avLst/>
              <a:gdLst/>
              <a:ahLst/>
              <a:cxnLst/>
              <a:rect r="r" b="b" t="t" l="l"/>
              <a:pathLst>
                <a:path h="421005" w="8777732">
                  <a:moveTo>
                    <a:pt x="0" y="0"/>
                  </a:moveTo>
                  <a:lnTo>
                    <a:pt x="8777732" y="0"/>
                  </a:lnTo>
                  <a:lnTo>
                    <a:pt x="8777732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798052" cy="441325"/>
            </a:xfrm>
            <a:custGeom>
              <a:avLst/>
              <a:gdLst/>
              <a:ahLst/>
              <a:cxnLst/>
              <a:rect r="r" b="b" t="t" l="l"/>
              <a:pathLst>
                <a:path h="441325" w="8798052">
                  <a:moveTo>
                    <a:pt x="10160" y="0"/>
                  </a:moveTo>
                  <a:lnTo>
                    <a:pt x="8787892" y="0"/>
                  </a:lnTo>
                  <a:cubicBezTo>
                    <a:pt x="8793480" y="0"/>
                    <a:pt x="8798052" y="4572"/>
                    <a:pt x="8798052" y="10160"/>
                  </a:cubicBezTo>
                  <a:lnTo>
                    <a:pt x="8798052" y="431165"/>
                  </a:lnTo>
                  <a:cubicBezTo>
                    <a:pt x="8798052" y="436753"/>
                    <a:pt x="8793480" y="441325"/>
                    <a:pt x="8787892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8787892" y="421005"/>
                  </a:lnTo>
                  <a:lnTo>
                    <a:pt x="8787892" y="431165"/>
                  </a:lnTo>
                  <a:lnTo>
                    <a:pt x="8777732" y="431165"/>
                  </a:lnTo>
                  <a:lnTo>
                    <a:pt x="8777732" y="10160"/>
                  </a:lnTo>
                  <a:lnTo>
                    <a:pt x="8787892" y="10160"/>
                  </a:lnTo>
                  <a:lnTo>
                    <a:pt x="8787892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435198" y="8614039"/>
            <a:ext cx="6418612" cy="355439"/>
            <a:chOff x="0" y="0"/>
            <a:chExt cx="8558149" cy="47391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558154" cy="473916"/>
            </a:xfrm>
            <a:custGeom>
              <a:avLst/>
              <a:gdLst/>
              <a:ahLst/>
              <a:cxnLst/>
              <a:rect r="r" b="b" t="t" l="l"/>
              <a:pathLst>
                <a:path h="473916" w="8558154">
                  <a:moveTo>
                    <a:pt x="0" y="0"/>
                  </a:moveTo>
                  <a:lnTo>
                    <a:pt x="8558154" y="0"/>
                  </a:lnTo>
                  <a:lnTo>
                    <a:pt x="855815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2903" r="0" b="-28083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8558149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Q-EVM verifier gas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928553" y="8537772"/>
            <a:ext cx="4204649" cy="330965"/>
            <a:chOff x="0" y="0"/>
            <a:chExt cx="5606199" cy="44128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0160" y="10160"/>
              <a:ext cx="5585841" cy="421005"/>
            </a:xfrm>
            <a:custGeom>
              <a:avLst/>
              <a:gdLst/>
              <a:ahLst/>
              <a:cxnLst/>
              <a:rect r="r" b="b" t="t" l="l"/>
              <a:pathLst>
                <a:path h="421005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606161" cy="441325"/>
            </a:xfrm>
            <a:custGeom>
              <a:avLst/>
              <a:gdLst/>
              <a:ahLst/>
              <a:cxnLst/>
              <a:rect r="r" b="b" t="t" l="l"/>
              <a:pathLst>
                <a:path h="441325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31165"/>
                  </a:lnTo>
                  <a:cubicBezTo>
                    <a:pt x="5606161" y="436753"/>
                    <a:pt x="5601589" y="441325"/>
                    <a:pt x="5596001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5596001" y="421005"/>
                  </a:lnTo>
                  <a:lnTo>
                    <a:pt x="5596001" y="431165"/>
                  </a:lnTo>
                  <a:lnTo>
                    <a:pt x="5585841" y="431165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8018536" y="8614039"/>
            <a:ext cx="4024674" cy="355439"/>
            <a:chOff x="0" y="0"/>
            <a:chExt cx="5366233" cy="47391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366234" cy="473916"/>
            </a:xfrm>
            <a:custGeom>
              <a:avLst/>
              <a:gdLst/>
              <a:ahLst/>
              <a:cxnLst/>
              <a:rect r="r" b="b" t="t" l="l"/>
              <a:pathLst>
                <a:path h="473916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67" r="0" b="-14959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242k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117943" y="8537772"/>
            <a:ext cx="4204649" cy="330965"/>
            <a:chOff x="0" y="0"/>
            <a:chExt cx="5606199" cy="44128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0160" y="10160"/>
              <a:ext cx="5585841" cy="421005"/>
            </a:xfrm>
            <a:custGeom>
              <a:avLst/>
              <a:gdLst/>
              <a:ahLst/>
              <a:cxnLst/>
              <a:rect r="r" b="b" t="t" l="l"/>
              <a:pathLst>
                <a:path h="421005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606161" cy="441325"/>
            </a:xfrm>
            <a:custGeom>
              <a:avLst/>
              <a:gdLst/>
              <a:ahLst/>
              <a:cxnLst/>
              <a:rect r="r" b="b" t="t" l="l"/>
              <a:pathLst>
                <a:path h="441325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31165"/>
                  </a:lnTo>
                  <a:cubicBezTo>
                    <a:pt x="5606161" y="436753"/>
                    <a:pt x="5601589" y="441325"/>
                    <a:pt x="5596001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5596001" y="421005"/>
                  </a:lnTo>
                  <a:lnTo>
                    <a:pt x="5596001" y="431165"/>
                  </a:lnTo>
                  <a:lnTo>
                    <a:pt x="5585841" y="431165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2207935" y="8614039"/>
            <a:ext cx="4024674" cy="355439"/>
            <a:chOff x="0" y="0"/>
            <a:chExt cx="5366233" cy="47391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366234" cy="473916"/>
            </a:xfrm>
            <a:custGeom>
              <a:avLst/>
              <a:gdLst/>
              <a:ahLst/>
              <a:cxnLst/>
              <a:rect r="r" b="b" t="t" l="l"/>
              <a:pathLst>
                <a:path h="473916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67" r="0" b="-149597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Projected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45216" y="8853487"/>
            <a:ext cx="6598587" cy="330965"/>
            <a:chOff x="0" y="0"/>
            <a:chExt cx="8798116" cy="44128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0160" y="10160"/>
              <a:ext cx="8777732" cy="421005"/>
            </a:xfrm>
            <a:custGeom>
              <a:avLst/>
              <a:gdLst/>
              <a:ahLst/>
              <a:cxnLst/>
              <a:rect r="r" b="b" t="t" l="l"/>
              <a:pathLst>
                <a:path h="421005" w="8777732">
                  <a:moveTo>
                    <a:pt x="0" y="0"/>
                  </a:moveTo>
                  <a:lnTo>
                    <a:pt x="8777732" y="0"/>
                  </a:lnTo>
                  <a:lnTo>
                    <a:pt x="8777732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798052" cy="441325"/>
            </a:xfrm>
            <a:custGeom>
              <a:avLst/>
              <a:gdLst/>
              <a:ahLst/>
              <a:cxnLst/>
              <a:rect r="r" b="b" t="t" l="l"/>
              <a:pathLst>
                <a:path h="441325" w="8798052">
                  <a:moveTo>
                    <a:pt x="10160" y="0"/>
                  </a:moveTo>
                  <a:lnTo>
                    <a:pt x="8787892" y="0"/>
                  </a:lnTo>
                  <a:cubicBezTo>
                    <a:pt x="8793480" y="0"/>
                    <a:pt x="8798052" y="4572"/>
                    <a:pt x="8798052" y="10160"/>
                  </a:cubicBezTo>
                  <a:lnTo>
                    <a:pt x="8798052" y="431165"/>
                  </a:lnTo>
                  <a:cubicBezTo>
                    <a:pt x="8798052" y="436753"/>
                    <a:pt x="8793480" y="441325"/>
                    <a:pt x="8787892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8787892" y="421005"/>
                  </a:lnTo>
                  <a:lnTo>
                    <a:pt x="8787892" y="431165"/>
                  </a:lnTo>
                  <a:lnTo>
                    <a:pt x="8777732" y="431165"/>
                  </a:lnTo>
                  <a:lnTo>
                    <a:pt x="8777732" y="10160"/>
                  </a:lnTo>
                  <a:lnTo>
                    <a:pt x="8787892" y="10160"/>
                  </a:lnTo>
                  <a:lnTo>
                    <a:pt x="8787892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435198" y="8929745"/>
            <a:ext cx="6418612" cy="355439"/>
            <a:chOff x="0" y="0"/>
            <a:chExt cx="8558149" cy="47391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558154" cy="473916"/>
            </a:xfrm>
            <a:custGeom>
              <a:avLst/>
              <a:gdLst/>
              <a:ahLst/>
              <a:cxnLst/>
              <a:rect r="r" b="b" t="t" l="l"/>
              <a:pathLst>
                <a:path h="473916" w="8558154">
                  <a:moveTo>
                    <a:pt x="0" y="0"/>
                  </a:moveTo>
                  <a:lnTo>
                    <a:pt x="8558154" y="0"/>
                  </a:lnTo>
                  <a:lnTo>
                    <a:pt x="855815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2903" r="0" b="-28083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8558149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Gas saving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928553" y="8853487"/>
            <a:ext cx="4204649" cy="330965"/>
            <a:chOff x="0" y="0"/>
            <a:chExt cx="5606199" cy="441287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0160" y="10160"/>
              <a:ext cx="5585841" cy="421005"/>
            </a:xfrm>
            <a:custGeom>
              <a:avLst/>
              <a:gdLst/>
              <a:ahLst/>
              <a:cxnLst/>
              <a:rect r="r" b="b" t="t" l="l"/>
              <a:pathLst>
                <a:path h="421005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606161" cy="441325"/>
            </a:xfrm>
            <a:custGeom>
              <a:avLst/>
              <a:gdLst/>
              <a:ahLst/>
              <a:cxnLst/>
              <a:rect r="r" b="b" t="t" l="l"/>
              <a:pathLst>
                <a:path h="441325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31165"/>
                  </a:lnTo>
                  <a:cubicBezTo>
                    <a:pt x="5606161" y="436753"/>
                    <a:pt x="5601589" y="441325"/>
                    <a:pt x="5596001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5596001" y="421005"/>
                  </a:lnTo>
                  <a:lnTo>
                    <a:pt x="5596001" y="431165"/>
                  </a:lnTo>
                  <a:lnTo>
                    <a:pt x="5585841" y="431165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8018536" y="8929745"/>
            <a:ext cx="4024674" cy="355439"/>
            <a:chOff x="0" y="0"/>
            <a:chExt cx="5366233" cy="47391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366234" cy="473916"/>
            </a:xfrm>
            <a:custGeom>
              <a:avLst/>
              <a:gdLst/>
              <a:ahLst/>
              <a:cxnLst/>
              <a:rect r="r" b="b" t="t" l="l"/>
              <a:pathLst>
                <a:path h="473916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67" r="0" b="-149597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91.4%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117943" y="8853487"/>
            <a:ext cx="4204649" cy="330965"/>
            <a:chOff x="0" y="0"/>
            <a:chExt cx="5606199" cy="44128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0160" y="10160"/>
              <a:ext cx="5585841" cy="421005"/>
            </a:xfrm>
            <a:custGeom>
              <a:avLst/>
              <a:gdLst/>
              <a:ahLst/>
              <a:cxnLst/>
              <a:rect r="r" b="b" t="t" l="l"/>
              <a:pathLst>
                <a:path h="421005" w="5585841">
                  <a:moveTo>
                    <a:pt x="0" y="0"/>
                  </a:moveTo>
                  <a:lnTo>
                    <a:pt x="5585841" y="0"/>
                  </a:lnTo>
                  <a:lnTo>
                    <a:pt x="5585841" y="421005"/>
                  </a:lnTo>
                  <a:lnTo>
                    <a:pt x="0" y="4210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606161" cy="441325"/>
            </a:xfrm>
            <a:custGeom>
              <a:avLst/>
              <a:gdLst/>
              <a:ahLst/>
              <a:cxnLst/>
              <a:rect r="r" b="b" t="t" l="l"/>
              <a:pathLst>
                <a:path h="441325" w="5606161">
                  <a:moveTo>
                    <a:pt x="10160" y="0"/>
                  </a:moveTo>
                  <a:lnTo>
                    <a:pt x="5596001" y="0"/>
                  </a:lnTo>
                  <a:cubicBezTo>
                    <a:pt x="5601589" y="0"/>
                    <a:pt x="5606161" y="4572"/>
                    <a:pt x="5606161" y="10160"/>
                  </a:cubicBezTo>
                  <a:lnTo>
                    <a:pt x="5606161" y="431165"/>
                  </a:lnTo>
                  <a:cubicBezTo>
                    <a:pt x="5606161" y="436753"/>
                    <a:pt x="5601589" y="441325"/>
                    <a:pt x="5596001" y="441325"/>
                  </a:cubicBezTo>
                  <a:lnTo>
                    <a:pt x="10160" y="441325"/>
                  </a:lnTo>
                  <a:cubicBezTo>
                    <a:pt x="4572" y="441325"/>
                    <a:pt x="0" y="436753"/>
                    <a:pt x="0" y="43116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31165"/>
                  </a:lnTo>
                  <a:lnTo>
                    <a:pt x="10160" y="431165"/>
                  </a:lnTo>
                  <a:lnTo>
                    <a:pt x="10160" y="421005"/>
                  </a:lnTo>
                  <a:lnTo>
                    <a:pt x="5596001" y="421005"/>
                  </a:lnTo>
                  <a:lnTo>
                    <a:pt x="5596001" y="431165"/>
                  </a:lnTo>
                  <a:lnTo>
                    <a:pt x="5585841" y="431165"/>
                  </a:lnTo>
                  <a:lnTo>
                    <a:pt x="5585841" y="10160"/>
                  </a:lnTo>
                  <a:lnTo>
                    <a:pt x="5596001" y="10160"/>
                  </a:lnTo>
                  <a:lnTo>
                    <a:pt x="559600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2207935" y="8929745"/>
            <a:ext cx="4114657" cy="363386"/>
            <a:chOff x="0" y="0"/>
            <a:chExt cx="5366233" cy="47391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366234" cy="473916"/>
            </a:xfrm>
            <a:custGeom>
              <a:avLst/>
              <a:gdLst/>
              <a:ahLst/>
              <a:cxnLst/>
              <a:rect r="r" b="b" t="t" l="l"/>
              <a:pathLst>
                <a:path h="473916" w="5366234">
                  <a:moveTo>
                    <a:pt x="0" y="0"/>
                  </a:moveTo>
                  <a:lnTo>
                    <a:pt x="5366234" y="0"/>
                  </a:lnTo>
                  <a:lnTo>
                    <a:pt x="5366234" y="473916"/>
                  </a:lnTo>
                  <a:lnTo>
                    <a:pt x="0" y="47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667" r="0" b="-14959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5366233" cy="5120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Derived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12093"/>
            <a:ext cx="14687598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CHALLENGES / LIMITATIONS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303296" y="9632514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1880" y="2120017"/>
            <a:ext cx="4081796" cy="632955"/>
            <a:chOff x="0" y="0"/>
            <a:chExt cx="5442394" cy="8439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160" y="10160"/>
              <a:ext cx="5422011" cy="823595"/>
            </a:xfrm>
            <a:custGeom>
              <a:avLst/>
              <a:gdLst/>
              <a:ahLst/>
              <a:cxnLst/>
              <a:rect r="r" b="b" t="t" l="l"/>
              <a:pathLst>
                <a:path h="823595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42331" cy="843915"/>
            </a:xfrm>
            <a:custGeom>
              <a:avLst/>
              <a:gdLst/>
              <a:ahLst/>
              <a:cxnLst/>
              <a:rect r="r" b="b" t="t" l="l"/>
              <a:pathLst>
                <a:path h="843915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833755"/>
                  </a:lnTo>
                  <a:cubicBezTo>
                    <a:pt x="5442331" y="839343"/>
                    <a:pt x="5437759" y="843915"/>
                    <a:pt x="5432171" y="843915"/>
                  </a:cubicBezTo>
                  <a:lnTo>
                    <a:pt x="10160" y="843915"/>
                  </a:lnTo>
                  <a:cubicBezTo>
                    <a:pt x="4572" y="843915"/>
                    <a:pt x="0" y="839343"/>
                    <a:pt x="0" y="83375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33755"/>
                  </a:lnTo>
                  <a:lnTo>
                    <a:pt x="10160" y="833755"/>
                  </a:lnTo>
                  <a:lnTo>
                    <a:pt x="10160" y="823595"/>
                  </a:lnTo>
                  <a:lnTo>
                    <a:pt x="5432171" y="823595"/>
                  </a:lnTo>
                  <a:lnTo>
                    <a:pt x="5432171" y="833755"/>
                  </a:lnTo>
                  <a:lnTo>
                    <a:pt x="5422011" y="833755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1863" y="2196274"/>
            <a:ext cx="3901821" cy="507889"/>
            <a:chOff x="0" y="0"/>
            <a:chExt cx="5202428" cy="67718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02429" cy="677181"/>
            </a:xfrm>
            <a:custGeom>
              <a:avLst/>
              <a:gdLst/>
              <a:ahLst/>
              <a:cxnLst/>
              <a:rect r="r" b="b" t="t" l="l"/>
              <a:pathLst>
                <a:path h="677181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677181"/>
                  </a:lnTo>
                  <a:lnTo>
                    <a:pt x="0" y="6771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692" r="0" b="-996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202428" cy="72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88417" y="2120017"/>
            <a:ext cx="5057765" cy="632955"/>
            <a:chOff x="0" y="0"/>
            <a:chExt cx="6743687" cy="843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0160" y="10160"/>
              <a:ext cx="6723380" cy="823595"/>
            </a:xfrm>
            <a:custGeom>
              <a:avLst/>
              <a:gdLst/>
              <a:ahLst/>
              <a:cxnLst/>
              <a:rect r="r" b="b" t="t" l="l"/>
              <a:pathLst>
                <a:path h="823595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43700" cy="843915"/>
            </a:xfrm>
            <a:custGeom>
              <a:avLst/>
              <a:gdLst/>
              <a:ahLst/>
              <a:cxnLst/>
              <a:rect r="r" b="b" t="t" l="l"/>
              <a:pathLst>
                <a:path h="843915" w="6743700">
                  <a:moveTo>
                    <a:pt x="10160" y="0"/>
                  </a:moveTo>
                  <a:lnTo>
                    <a:pt x="6733540" y="0"/>
                  </a:lnTo>
                  <a:cubicBezTo>
                    <a:pt x="6739128" y="0"/>
                    <a:pt x="6743700" y="4572"/>
                    <a:pt x="6743700" y="10160"/>
                  </a:cubicBezTo>
                  <a:lnTo>
                    <a:pt x="6743700" y="833755"/>
                  </a:lnTo>
                  <a:cubicBezTo>
                    <a:pt x="6743700" y="839343"/>
                    <a:pt x="6739128" y="843915"/>
                    <a:pt x="6733540" y="843915"/>
                  </a:cubicBezTo>
                  <a:lnTo>
                    <a:pt x="10160" y="843915"/>
                  </a:lnTo>
                  <a:cubicBezTo>
                    <a:pt x="4572" y="843915"/>
                    <a:pt x="0" y="839343"/>
                    <a:pt x="0" y="83375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33755"/>
                  </a:lnTo>
                  <a:lnTo>
                    <a:pt x="10160" y="833755"/>
                  </a:lnTo>
                  <a:lnTo>
                    <a:pt x="10160" y="823595"/>
                  </a:lnTo>
                  <a:lnTo>
                    <a:pt x="6733540" y="823595"/>
                  </a:lnTo>
                  <a:lnTo>
                    <a:pt x="6733540" y="833755"/>
                  </a:lnTo>
                  <a:lnTo>
                    <a:pt x="6723380" y="833755"/>
                  </a:lnTo>
                  <a:lnTo>
                    <a:pt x="6723380" y="10160"/>
                  </a:lnTo>
                  <a:lnTo>
                    <a:pt x="6733540" y="10160"/>
                  </a:lnTo>
                  <a:lnTo>
                    <a:pt x="67335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178409" y="2196274"/>
            <a:ext cx="4877791" cy="507889"/>
            <a:chOff x="0" y="0"/>
            <a:chExt cx="6503721" cy="6771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03721" cy="677181"/>
            </a:xfrm>
            <a:custGeom>
              <a:avLst/>
              <a:gdLst/>
              <a:ahLst/>
              <a:cxnLst/>
              <a:rect r="r" b="b" t="t" l="l"/>
              <a:pathLst>
                <a:path h="677181" w="6503721">
                  <a:moveTo>
                    <a:pt x="0" y="0"/>
                  </a:moveTo>
                  <a:lnTo>
                    <a:pt x="6503721" y="0"/>
                  </a:lnTo>
                  <a:lnTo>
                    <a:pt x="6503721" y="677181"/>
                  </a:lnTo>
                  <a:lnTo>
                    <a:pt x="0" y="6771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135" r="0" b="-1371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503721" cy="72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cause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30933" y="2120017"/>
            <a:ext cx="7172363" cy="632955"/>
            <a:chOff x="0" y="0"/>
            <a:chExt cx="9563151" cy="843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0160" y="10160"/>
              <a:ext cx="9542780" cy="823595"/>
            </a:xfrm>
            <a:custGeom>
              <a:avLst/>
              <a:gdLst/>
              <a:ahLst/>
              <a:cxnLst/>
              <a:rect r="r" b="b" t="t" l="l"/>
              <a:pathLst>
                <a:path h="823595" w="9542780">
                  <a:moveTo>
                    <a:pt x="0" y="0"/>
                  </a:moveTo>
                  <a:lnTo>
                    <a:pt x="9542780" y="0"/>
                  </a:lnTo>
                  <a:lnTo>
                    <a:pt x="9542780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1F2A44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63100" cy="843915"/>
            </a:xfrm>
            <a:custGeom>
              <a:avLst/>
              <a:gdLst/>
              <a:ahLst/>
              <a:cxnLst/>
              <a:rect r="r" b="b" t="t" l="l"/>
              <a:pathLst>
                <a:path h="843915" w="9563100">
                  <a:moveTo>
                    <a:pt x="10160" y="0"/>
                  </a:moveTo>
                  <a:lnTo>
                    <a:pt x="9552940" y="0"/>
                  </a:lnTo>
                  <a:cubicBezTo>
                    <a:pt x="9558528" y="0"/>
                    <a:pt x="9563100" y="4572"/>
                    <a:pt x="9563100" y="10160"/>
                  </a:cubicBezTo>
                  <a:lnTo>
                    <a:pt x="9563100" y="833755"/>
                  </a:lnTo>
                  <a:cubicBezTo>
                    <a:pt x="9563100" y="839343"/>
                    <a:pt x="9558528" y="843915"/>
                    <a:pt x="9552940" y="843915"/>
                  </a:cubicBezTo>
                  <a:lnTo>
                    <a:pt x="10160" y="843915"/>
                  </a:lnTo>
                  <a:cubicBezTo>
                    <a:pt x="4572" y="843915"/>
                    <a:pt x="0" y="839343"/>
                    <a:pt x="0" y="83375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833755"/>
                  </a:lnTo>
                  <a:lnTo>
                    <a:pt x="10160" y="833755"/>
                  </a:lnTo>
                  <a:lnTo>
                    <a:pt x="10160" y="823595"/>
                  </a:lnTo>
                  <a:lnTo>
                    <a:pt x="9552940" y="823595"/>
                  </a:lnTo>
                  <a:lnTo>
                    <a:pt x="9552940" y="833755"/>
                  </a:lnTo>
                  <a:lnTo>
                    <a:pt x="9542780" y="833755"/>
                  </a:lnTo>
                  <a:lnTo>
                    <a:pt x="9542780" y="10160"/>
                  </a:lnTo>
                  <a:lnTo>
                    <a:pt x="9552940" y="10160"/>
                  </a:lnTo>
                  <a:lnTo>
                    <a:pt x="95529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20916" y="2196274"/>
            <a:ext cx="6992398" cy="507889"/>
            <a:chOff x="0" y="0"/>
            <a:chExt cx="9323197" cy="6771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23191" cy="677181"/>
            </a:xfrm>
            <a:custGeom>
              <a:avLst/>
              <a:gdLst/>
              <a:ahLst/>
              <a:cxnLst/>
              <a:rect r="r" b="b" t="t" l="l"/>
              <a:pathLst>
                <a:path h="677181" w="9323191">
                  <a:moveTo>
                    <a:pt x="0" y="0"/>
                  </a:moveTo>
                  <a:lnTo>
                    <a:pt x="9323191" y="0"/>
                  </a:lnTo>
                  <a:lnTo>
                    <a:pt x="9323191" y="677181"/>
                  </a:lnTo>
                  <a:lnTo>
                    <a:pt x="0" y="67718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262" r="0" b="-2182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23197" cy="72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 / Future direction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1880" y="2737723"/>
            <a:ext cx="4081796" cy="866308"/>
            <a:chOff x="0" y="0"/>
            <a:chExt cx="5442394" cy="11550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0160" y="10160"/>
              <a:ext cx="5422011" cy="1134745"/>
            </a:xfrm>
            <a:custGeom>
              <a:avLst/>
              <a:gdLst/>
              <a:ahLst/>
              <a:cxnLst/>
              <a:rect r="r" b="b" t="t" l="l"/>
              <a:pathLst>
                <a:path h="1134745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42331" cy="1155065"/>
            </a:xfrm>
            <a:custGeom>
              <a:avLst/>
              <a:gdLst/>
              <a:ahLst/>
              <a:cxnLst/>
              <a:rect r="r" b="b" t="t" l="l"/>
              <a:pathLst>
                <a:path h="1155065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144905"/>
                  </a:lnTo>
                  <a:cubicBezTo>
                    <a:pt x="5442331" y="1150493"/>
                    <a:pt x="5437759" y="1155065"/>
                    <a:pt x="5432171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5432171" y="1134745"/>
                  </a:lnTo>
                  <a:lnTo>
                    <a:pt x="5432171" y="1144905"/>
                  </a:lnTo>
                  <a:lnTo>
                    <a:pt x="5422011" y="1144905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11863" y="2813980"/>
            <a:ext cx="3901821" cy="741243"/>
            <a:chOff x="0" y="0"/>
            <a:chExt cx="5202428" cy="9883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02429" cy="988322"/>
            </a:xfrm>
            <a:custGeom>
              <a:avLst/>
              <a:gdLst/>
              <a:ahLst/>
              <a:cxnLst/>
              <a:rect r="r" b="b" t="t" l="l"/>
              <a:pathLst>
                <a:path h="988322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567" r="0" b="-5256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202428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12.4s single proof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88417" y="2737723"/>
            <a:ext cx="5057765" cy="866308"/>
            <a:chOff x="0" y="0"/>
            <a:chExt cx="6743687" cy="11550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0160" y="10160"/>
              <a:ext cx="67233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437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6743700">
                  <a:moveTo>
                    <a:pt x="10160" y="0"/>
                  </a:moveTo>
                  <a:lnTo>
                    <a:pt x="6733540" y="0"/>
                  </a:lnTo>
                  <a:cubicBezTo>
                    <a:pt x="6739128" y="0"/>
                    <a:pt x="6743700" y="4572"/>
                    <a:pt x="6743700" y="10160"/>
                  </a:cubicBezTo>
                  <a:lnTo>
                    <a:pt x="6743700" y="1144905"/>
                  </a:lnTo>
                  <a:cubicBezTo>
                    <a:pt x="6743700" y="1150493"/>
                    <a:pt x="6739128" y="1155065"/>
                    <a:pt x="67335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6733540" y="1134745"/>
                  </a:lnTo>
                  <a:lnTo>
                    <a:pt x="6733540" y="1144905"/>
                  </a:lnTo>
                  <a:lnTo>
                    <a:pt x="6723380" y="1144905"/>
                  </a:lnTo>
                  <a:lnTo>
                    <a:pt x="6723380" y="10160"/>
                  </a:lnTo>
                  <a:lnTo>
                    <a:pt x="6733540" y="10160"/>
                  </a:lnTo>
                  <a:lnTo>
                    <a:pt x="67335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178409" y="2813980"/>
            <a:ext cx="4877791" cy="741243"/>
            <a:chOff x="0" y="0"/>
            <a:chExt cx="6503721" cy="9883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03721" cy="988322"/>
            </a:xfrm>
            <a:custGeom>
              <a:avLst/>
              <a:gdLst/>
              <a:ahLst/>
              <a:cxnLst/>
              <a:rect r="r" b="b" t="t" l="l"/>
              <a:pathLst>
                <a:path h="988322" w="6503721">
                  <a:moveTo>
                    <a:pt x="0" y="0"/>
                  </a:moveTo>
                  <a:lnTo>
                    <a:pt x="6503721" y="0"/>
                  </a:lnTo>
                  <a:lnTo>
                    <a:pt x="650372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22" r="0" b="-7822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503721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General-purpose zkVM overhead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130933" y="2737723"/>
            <a:ext cx="7172363" cy="866308"/>
            <a:chOff x="0" y="0"/>
            <a:chExt cx="9563151" cy="11550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0160" y="10160"/>
              <a:ext cx="95427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9542780">
                  <a:moveTo>
                    <a:pt x="0" y="0"/>
                  </a:moveTo>
                  <a:lnTo>
                    <a:pt x="9542780" y="0"/>
                  </a:lnTo>
                  <a:lnTo>
                    <a:pt x="95427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631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9563100">
                  <a:moveTo>
                    <a:pt x="10160" y="0"/>
                  </a:moveTo>
                  <a:lnTo>
                    <a:pt x="9552940" y="0"/>
                  </a:lnTo>
                  <a:cubicBezTo>
                    <a:pt x="9558528" y="0"/>
                    <a:pt x="9563100" y="4572"/>
                    <a:pt x="9563100" y="10160"/>
                  </a:cubicBezTo>
                  <a:lnTo>
                    <a:pt x="9563100" y="1144905"/>
                  </a:lnTo>
                  <a:cubicBezTo>
                    <a:pt x="9563100" y="1150493"/>
                    <a:pt x="9558528" y="1155065"/>
                    <a:pt x="95529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9552940" y="1134745"/>
                  </a:lnTo>
                  <a:lnTo>
                    <a:pt x="9552940" y="1144905"/>
                  </a:lnTo>
                  <a:lnTo>
                    <a:pt x="9542780" y="1144905"/>
                  </a:lnTo>
                  <a:lnTo>
                    <a:pt x="9542780" y="10160"/>
                  </a:lnTo>
                  <a:lnTo>
                    <a:pt x="9552940" y="10160"/>
                  </a:lnTo>
                  <a:lnTo>
                    <a:pt x="95529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20916" y="2813980"/>
            <a:ext cx="6992398" cy="741243"/>
            <a:chOff x="0" y="0"/>
            <a:chExt cx="9323197" cy="9883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23191" cy="988322"/>
            </a:xfrm>
            <a:custGeom>
              <a:avLst/>
              <a:gdLst/>
              <a:ahLst/>
              <a:cxnLst/>
              <a:rect r="r" b="b" t="t" l="l"/>
              <a:pathLst>
                <a:path h="988322" w="9323191">
                  <a:moveTo>
                    <a:pt x="0" y="0"/>
                  </a:moveTo>
                  <a:lnTo>
                    <a:pt x="9323191" y="0"/>
                  </a:lnTo>
                  <a:lnTo>
                    <a:pt x="932319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809" r="0" b="-13380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323197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Recursive proofs, GPU proving, custom circuits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21880" y="3588772"/>
            <a:ext cx="4081796" cy="866308"/>
            <a:chOff x="0" y="0"/>
            <a:chExt cx="5442394" cy="115507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0160" y="10160"/>
              <a:ext cx="5422011" cy="1134745"/>
            </a:xfrm>
            <a:custGeom>
              <a:avLst/>
              <a:gdLst/>
              <a:ahLst/>
              <a:cxnLst/>
              <a:rect r="r" b="b" t="t" l="l"/>
              <a:pathLst>
                <a:path h="1134745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42331" cy="1155065"/>
            </a:xfrm>
            <a:custGeom>
              <a:avLst/>
              <a:gdLst/>
              <a:ahLst/>
              <a:cxnLst/>
              <a:rect r="r" b="b" t="t" l="l"/>
              <a:pathLst>
                <a:path h="1155065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144905"/>
                  </a:lnTo>
                  <a:cubicBezTo>
                    <a:pt x="5442331" y="1150493"/>
                    <a:pt x="5437759" y="1155065"/>
                    <a:pt x="5432171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5432171" y="1134745"/>
                  </a:lnTo>
                  <a:lnTo>
                    <a:pt x="5432171" y="1144905"/>
                  </a:lnTo>
                  <a:lnTo>
                    <a:pt x="5422011" y="1144905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11863" y="3665039"/>
            <a:ext cx="3901821" cy="741243"/>
            <a:chOff x="0" y="0"/>
            <a:chExt cx="5202428" cy="9883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02429" cy="988322"/>
            </a:xfrm>
            <a:custGeom>
              <a:avLst/>
              <a:gdLst/>
              <a:ahLst/>
              <a:cxnLst/>
              <a:rect r="r" b="b" t="t" l="l"/>
              <a:pathLst>
                <a:path h="988322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567" r="0" b="-5256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202428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2420 byte signature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088417" y="3588772"/>
            <a:ext cx="5057765" cy="866308"/>
            <a:chOff x="0" y="0"/>
            <a:chExt cx="6743687" cy="115507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0160" y="10160"/>
              <a:ext cx="67233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437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6743700">
                  <a:moveTo>
                    <a:pt x="10160" y="0"/>
                  </a:moveTo>
                  <a:lnTo>
                    <a:pt x="6733540" y="0"/>
                  </a:lnTo>
                  <a:cubicBezTo>
                    <a:pt x="6739128" y="0"/>
                    <a:pt x="6743700" y="4572"/>
                    <a:pt x="6743700" y="10160"/>
                  </a:cubicBezTo>
                  <a:lnTo>
                    <a:pt x="6743700" y="1144905"/>
                  </a:lnTo>
                  <a:cubicBezTo>
                    <a:pt x="6743700" y="1150493"/>
                    <a:pt x="6739128" y="1155065"/>
                    <a:pt x="67335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6733540" y="1134745"/>
                  </a:lnTo>
                  <a:lnTo>
                    <a:pt x="6733540" y="1144905"/>
                  </a:lnTo>
                  <a:lnTo>
                    <a:pt x="6723380" y="1144905"/>
                  </a:lnTo>
                  <a:lnTo>
                    <a:pt x="6723380" y="10160"/>
                  </a:lnTo>
                  <a:lnTo>
                    <a:pt x="6733540" y="10160"/>
                  </a:lnTo>
                  <a:lnTo>
                    <a:pt x="67335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178409" y="3665039"/>
            <a:ext cx="4877791" cy="741243"/>
            <a:chOff x="0" y="0"/>
            <a:chExt cx="6503721" cy="9883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03721" cy="988322"/>
            </a:xfrm>
            <a:custGeom>
              <a:avLst/>
              <a:gdLst/>
              <a:ahLst/>
              <a:cxnLst/>
              <a:rect r="r" b="b" t="t" l="l"/>
              <a:pathLst>
                <a:path h="988322" w="6503721">
                  <a:moveTo>
                    <a:pt x="0" y="0"/>
                  </a:moveTo>
                  <a:lnTo>
                    <a:pt x="6503721" y="0"/>
                  </a:lnTo>
                  <a:lnTo>
                    <a:pt x="650372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22" r="0" b="-7822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503721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ML-DSA parameter size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130933" y="3588772"/>
            <a:ext cx="7172363" cy="866308"/>
            <a:chOff x="0" y="0"/>
            <a:chExt cx="9563151" cy="115507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0160" y="10160"/>
              <a:ext cx="95427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9542780">
                  <a:moveTo>
                    <a:pt x="0" y="0"/>
                  </a:moveTo>
                  <a:lnTo>
                    <a:pt x="9542780" y="0"/>
                  </a:lnTo>
                  <a:lnTo>
                    <a:pt x="95427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631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9563100">
                  <a:moveTo>
                    <a:pt x="10160" y="0"/>
                  </a:moveTo>
                  <a:lnTo>
                    <a:pt x="9552940" y="0"/>
                  </a:lnTo>
                  <a:cubicBezTo>
                    <a:pt x="9558528" y="0"/>
                    <a:pt x="9563100" y="4572"/>
                    <a:pt x="9563100" y="10160"/>
                  </a:cubicBezTo>
                  <a:lnTo>
                    <a:pt x="9563100" y="1144905"/>
                  </a:lnTo>
                  <a:cubicBezTo>
                    <a:pt x="9563100" y="1150493"/>
                    <a:pt x="9558528" y="1155065"/>
                    <a:pt x="95529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9552940" y="1134745"/>
                  </a:lnTo>
                  <a:lnTo>
                    <a:pt x="9552940" y="1144905"/>
                  </a:lnTo>
                  <a:lnTo>
                    <a:pt x="9542780" y="1144905"/>
                  </a:lnTo>
                  <a:lnTo>
                    <a:pt x="9542780" y="10160"/>
                  </a:lnTo>
                  <a:lnTo>
                    <a:pt x="9552940" y="10160"/>
                  </a:lnTo>
                  <a:lnTo>
                    <a:pt x="95529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220916" y="3665039"/>
            <a:ext cx="6992398" cy="741243"/>
            <a:chOff x="0" y="0"/>
            <a:chExt cx="9323197" cy="9883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23191" cy="988322"/>
            </a:xfrm>
            <a:custGeom>
              <a:avLst/>
              <a:gdLst/>
              <a:ahLst/>
              <a:cxnLst/>
              <a:rect r="r" b="b" t="t" l="l"/>
              <a:pathLst>
                <a:path h="988322" w="9323191">
                  <a:moveTo>
                    <a:pt x="0" y="0"/>
                  </a:moveTo>
                  <a:lnTo>
                    <a:pt x="9323191" y="0"/>
                  </a:lnTo>
                  <a:lnTo>
                    <a:pt x="932319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809" r="0" b="-13380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323197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Calldata compression and aggregation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21880" y="4439831"/>
            <a:ext cx="4081796" cy="866308"/>
            <a:chOff x="0" y="0"/>
            <a:chExt cx="5442394" cy="115507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0160" y="10160"/>
              <a:ext cx="5422011" cy="1134745"/>
            </a:xfrm>
            <a:custGeom>
              <a:avLst/>
              <a:gdLst/>
              <a:ahLst/>
              <a:cxnLst/>
              <a:rect r="r" b="b" t="t" l="l"/>
              <a:pathLst>
                <a:path h="1134745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42331" cy="1155065"/>
            </a:xfrm>
            <a:custGeom>
              <a:avLst/>
              <a:gdLst/>
              <a:ahLst/>
              <a:cxnLst/>
              <a:rect r="r" b="b" t="t" l="l"/>
              <a:pathLst>
                <a:path h="1155065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144905"/>
                  </a:lnTo>
                  <a:cubicBezTo>
                    <a:pt x="5442331" y="1150493"/>
                    <a:pt x="5437759" y="1155065"/>
                    <a:pt x="5432171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5432171" y="1134745"/>
                  </a:lnTo>
                  <a:lnTo>
                    <a:pt x="5432171" y="1144905"/>
                  </a:lnTo>
                  <a:lnTo>
                    <a:pt x="5422011" y="1144905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11863" y="4516088"/>
            <a:ext cx="3901821" cy="741243"/>
            <a:chOff x="0" y="0"/>
            <a:chExt cx="5202428" cy="98832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02429" cy="988322"/>
            </a:xfrm>
            <a:custGeom>
              <a:avLst/>
              <a:gdLst/>
              <a:ahLst/>
              <a:cxnLst/>
              <a:rect r="r" b="b" t="t" l="l"/>
              <a:pathLst>
                <a:path h="988322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567" r="0" b="-5256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202428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zkVM maturity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088417" y="4439831"/>
            <a:ext cx="5057765" cy="866308"/>
            <a:chOff x="0" y="0"/>
            <a:chExt cx="6743687" cy="115507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0160" y="10160"/>
              <a:ext cx="67233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7437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6743700">
                  <a:moveTo>
                    <a:pt x="10160" y="0"/>
                  </a:moveTo>
                  <a:lnTo>
                    <a:pt x="6733540" y="0"/>
                  </a:lnTo>
                  <a:cubicBezTo>
                    <a:pt x="6739128" y="0"/>
                    <a:pt x="6743700" y="4572"/>
                    <a:pt x="6743700" y="10160"/>
                  </a:cubicBezTo>
                  <a:lnTo>
                    <a:pt x="6743700" y="1144905"/>
                  </a:lnTo>
                  <a:cubicBezTo>
                    <a:pt x="6743700" y="1150493"/>
                    <a:pt x="6739128" y="1155065"/>
                    <a:pt x="67335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6733540" y="1134745"/>
                  </a:lnTo>
                  <a:lnTo>
                    <a:pt x="6733540" y="1144905"/>
                  </a:lnTo>
                  <a:lnTo>
                    <a:pt x="6723380" y="1144905"/>
                  </a:lnTo>
                  <a:lnTo>
                    <a:pt x="6723380" y="10160"/>
                  </a:lnTo>
                  <a:lnTo>
                    <a:pt x="6733540" y="10160"/>
                  </a:lnTo>
                  <a:lnTo>
                    <a:pt x="67335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178409" y="4516088"/>
            <a:ext cx="4877791" cy="741243"/>
            <a:chOff x="0" y="0"/>
            <a:chExt cx="6503721" cy="98832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03721" cy="988322"/>
            </a:xfrm>
            <a:custGeom>
              <a:avLst/>
              <a:gdLst/>
              <a:ahLst/>
              <a:cxnLst/>
              <a:rect r="r" b="b" t="t" l="l"/>
              <a:pathLst>
                <a:path h="988322" w="6503721">
                  <a:moveTo>
                    <a:pt x="0" y="0"/>
                  </a:moveTo>
                  <a:lnTo>
                    <a:pt x="6503721" y="0"/>
                  </a:lnTo>
                  <a:lnTo>
                    <a:pt x="650372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22" r="0" b="-7822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503721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Fast-evolving prover stack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130933" y="4439831"/>
            <a:ext cx="7172363" cy="866308"/>
            <a:chOff x="0" y="0"/>
            <a:chExt cx="9563151" cy="115507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0160" y="10160"/>
              <a:ext cx="95427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9542780">
                  <a:moveTo>
                    <a:pt x="0" y="0"/>
                  </a:moveTo>
                  <a:lnTo>
                    <a:pt x="9542780" y="0"/>
                  </a:lnTo>
                  <a:lnTo>
                    <a:pt x="95427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5631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9563100">
                  <a:moveTo>
                    <a:pt x="10160" y="0"/>
                  </a:moveTo>
                  <a:lnTo>
                    <a:pt x="9552940" y="0"/>
                  </a:lnTo>
                  <a:cubicBezTo>
                    <a:pt x="9558528" y="0"/>
                    <a:pt x="9563100" y="4572"/>
                    <a:pt x="9563100" y="10160"/>
                  </a:cubicBezTo>
                  <a:lnTo>
                    <a:pt x="9563100" y="1144905"/>
                  </a:lnTo>
                  <a:cubicBezTo>
                    <a:pt x="9563100" y="1150493"/>
                    <a:pt x="9558528" y="1155065"/>
                    <a:pt x="95529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9552940" y="1134745"/>
                  </a:lnTo>
                  <a:lnTo>
                    <a:pt x="9552940" y="1144905"/>
                  </a:lnTo>
                  <a:lnTo>
                    <a:pt x="9542780" y="1144905"/>
                  </a:lnTo>
                  <a:lnTo>
                    <a:pt x="9542780" y="10160"/>
                  </a:lnTo>
                  <a:lnTo>
                    <a:pt x="9552940" y="10160"/>
                  </a:lnTo>
                  <a:lnTo>
                    <a:pt x="95529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220916" y="4516088"/>
            <a:ext cx="6992398" cy="741243"/>
            <a:chOff x="0" y="0"/>
            <a:chExt cx="9323197" cy="98832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23191" cy="988322"/>
            </a:xfrm>
            <a:custGeom>
              <a:avLst/>
              <a:gdLst/>
              <a:ahLst/>
              <a:cxnLst/>
              <a:rect r="r" b="b" t="t" l="l"/>
              <a:pathLst>
                <a:path h="988322" w="9323191">
                  <a:moveTo>
                    <a:pt x="0" y="0"/>
                  </a:moveTo>
                  <a:lnTo>
                    <a:pt x="9323191" y="0"/>
                  </a:lnTo>
                  <a:lnTo>
                    <a:pt x="932319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809" r="0" b="-13380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9323197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Audits, verifier upgrades, fallback validation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21880" y="5290890"/>
            <a:ext cx="4081796" cy="866308"/>
            <a:chOff x="0" y="0"/>
            <a:chExt cx="5442394" cy="11550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0160" y="10160"/>
              <a:ext cx="5422011" cy="1134745"/>
            </a:xfrm>
            <a:custGeom>
              <a:avLst/>
              <a:gdLst/>
              <a:ahLst/>
              <a:cxnLst/>
              <a:rect r="r" b="b" t="t" l="l"/>
              <a:pathLst>
                <a:path h="1134745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42331" cy="1155065"/>
            </a:xfrm>
            <a:custGeom>
              <a:avLst/>
              <a:gdLst/>
              <a:ahLst/>
              <a:cxnLst/>
              <a:rect r="r" b="b" t="t" l="l"/>
              <a:pathLst>
                <a:path h="1155065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144905"/>
                  </a:lnTo>
                  <a:cubicBezTo>
                    <a:pt x="5442331" y="1150493"/>
                    <a:pt x="5437759" y="1155065"/>
                    <a:pt x="5432171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5432171" y="1134745"/>
                  </a:lnTo>
                  <a:lnTo>
                    <a:pt x="5432171" y="1144905"/>
                  </a:lnTo>
                  <a:lnTo>
                    <a:pt x="5422011" y="1144905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11863" y="5367147"/>
            <a:ext cx="3901821" cy="741243"/>
            <a:chOff x="0" y="0"/>
            <a:chExt cx="5202428" cy="9883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02429" cy="988322"/>
            </a:xfrm>
            <a:custGeom>
              <a:avLst/>
              <a:gdLst/>
              <a:ahLst/>
              <a:cxnLst/>
              <a:rect r="r" b="b" t="t" l="l"/>
              <a:pathLst>
                <a:path h="988322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567" r="0" b="-5256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5202428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Bundler liveness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088417" y="5290890"/>
            <a:ext cx="5057765" cy="866308"/>
            <a:chOff x="0" y="0"/>
            <a:chExt cx="6743687" cy="115507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0160" y="10160"/>
              <a:ext cx="67233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437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6743700">
                  <a:moveTo>
                    <a:pt x="10160" y="0"/>
                  </a:moveTo>
                  <a:lnTo>
                    <a:pt x="6733540" y="0"/>
                  </a:lnTo>
                  <a:cubicBezTo>
                    <a:pt x="6739128" y="0"/>
                    <a:pt x="6743700" y="4572"/>
                    <a:pt x="6743700" y="10160"/>
                  </a:cubicBezTo>
                  <a:lnTo>
                    <a:pt x="6743700" y="1144905"/>
                  </a:lnTo>
                  <a:cubicBezTo>
                    <a:pt x="6743700" y="1150493"/>
                    <a:pt x="6739128" y="1155065"/>
                    <a:pt x="67335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6733540" y="1134745"/>
                  </a:lnTo>
                  <a:lnTo>
                    <a:pt x="6733540" y="1144905"/>
                  </a:lnTo>
                  <a:lnTo>
                    <a:pt x="6723380" y="1144905"/>
                  </a:lnTo>
                  <a:lnTo>
                    <a:pt x="6723380" y="10160"/>
                  </a:lnTo>
                  <a:lnTo>
                    <a:pt x="6733540" y="10160"/>
                  </a:lnTo>
                  <a:lnTo>
                    <a:pt x="67335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178409" y="5367147"/>
            <a:ext cx="4877791" cy="741243"/>
            <a:chOff x="0" y="0"/>
            <a:chExt cx="6503721" cy="98832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503721" cy="988322"/>
            </a:xfrm>
            <a:custGeom>
              <a:avLst/>
              <a:gdLst/>
              <a:ahLst/>
              <a:cxnLst/>
              <a:rect r="r" b="b" t="t" l="l"/>
              <a:pathLst>
                <a:path h="988322" w="6503721">
                  <a:moveTo>
                    <a:pt x="0" y="0"/>
                  </a:moveTo>
                  <a:lnTo>
                    <a:pt x="6503721" y="0"/>
                  </a:lnTo>
                  <a:lnTo>
                    <a:pt x="650372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22" r="0" b="-7822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6503721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Off-chain proof delegation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130933" y="5290890"/>
            <a:ext cx="7172363" cy="866308"/>
            <a:chOff x="0" y="0"/>
            <a:chExt cx="9563151" cy="115507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0160" y="10160"/>
              <a:ext cx="95427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9542780">
                  <a:moveTo>
                    <a:pt x="0" y="0"/>
                  </a:moveTo>
                  <a:lnTo>
                    <a:pt x="9542780" y="0"/>
                  </a:lnTo>
                  <a:lnTo>
                    <a:pt x="95427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5631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9563100">
                  <a:moveTo>
                    <a:pt x="10160" y="0"/>
                  </a:moveTo>
                  <a:lnTo>
                    <a:pt x="9552940" y="0"/>
                  </a:lnTo>
                  <a:cubicBezTo>
                    <a:pt x="9558528" y="0"/>
                    <a:pt x="9563100" y="4572"/>
                    <a:pt x="9563100" y="10160"/>
                  </a:cubicBezTo>
                  <a:lnTo>
                    <a:pt x="9563100" y="1144905"/>
                  </a:lnTo>
                  <a:cubicBezTo>
                    <a:pt x="9563100" y="1150493"/>
                    <a:pt x="9558528" y="1155065"/>
                    <a:pt x="95529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9552940" y="1134745"/>
                  </a:lnTo>
                  <a:lnTo>
                    <a:pt x="9552940" y="1144905"/>
                  </a:lnTo>
                  <a:lnTo>
                    <a:pt x="9542780" y="1144905"/>
                  </a:lnTo>
                  <a:lnTo>
                    <a:pt x="9542780" y="10160"/>
                  </a:lnTo>
                  <a:lnTo>
                    <a:pt x="9552940" y="10160"/>
                  </a:lnTo>
                  <a:lnTo>
                    <a:pt x="95529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220916" y="5367147"/>
            <a:ext cx="6992398" cy="741243"/>
            <a:chOff x="0" y="0"/>
            <a:chExt cx="9323197" cy="9883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323191" cy="988322"/>
            </a:xfrm>
            <a:custGeom>
              <a:avLst/>
              <a:gdLst/>
              <a:ahLst/>
              <a:cxnLst/>
              <a:rect r="r" b="b" t="t" l="l"/>
              <a:pathLst>
                <a:path h="988322" w="9323191">
                  <a:moveTo>
                    <a:pt x="0" y="0"/>
                  </a:moveTo>
                  <a:lnTo>
                    <a:pt x="9323191" y="0"/>
                  </a:lnTo>
                  <a:lnTo>
                    <a:pt x="932319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809" r="0" b="-133809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323197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Decentralized proving market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21880" y="6141949"/>
            <a:ext cx="4081796" cy="866308"/>
            <a:chOff x="0" y="0"/>
            <a:chExt cx="5442394" cy="115507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0160" y="10160"/>
              <a:ext cx="5422011" cy="1134745"/>
            </a:xfrm>
            <a:custGeom>
              <a:avLst/>
              <a:gdLst/>
              <a:ahLst/>
              <a:cxnLst/>
              <a:rect r="r" b="b" t="t" l="l"/>
              <a:pathLst>
                <a:path h="1134745" w="5422011">
                  <a:moveTo>
                    <a:pt x="0" y="0"/>
                  </a:moveTo>
                  <a:lnTo>
                    <a:pt x="5422011" y="0"/>
                  </a:lnTo>
                  <a:lnTo>
                    <a:pt x="5422011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42331" cy="1155065"/>
            </a:xfrm>
            <a:custGeom>
              <a:avLst/>
              <a:gdLst/>
              <a:ahLst/>
              <a:cxnLst/>
              <a:rect r="r" b="b" t="t" l="l"/>
              <a:pathLst>
                <a:path h="1155065" w="5442331">
                  <a:moveTo>
                    <a:pt x="10160" y="0"/>
                  </a:moveTo>
                  <a:lnTo>
                    <a:pt x="5432171" y="0"/>
                  </a:lnTo>
                  <a:cubicBezTo>
                    <a:pt x="5437759" y="0"/>
                    <a:pt x="5442331" y="4572"/>
                    <a:pt x="5442331" y="10160"/>
                  </a:cubicBezTo>
                  <a:lnTo>
                    <a:pt x="5442331" y="1144905"/>
                  </a:lnTo>
                  <a:cubicBezTo>
                    <a:pt x="5442331" y="1150493"/>
                    <a:pt x="5437759" y="1155065"/>
                    <a:pt x="5432171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5432171" y="1134745"/>
                  </a:lnTo>
                  <a:lnTo>
                    <a:pt x="5432171" y="1144905"/>
                  </a:lnTo>
                  <a:lnTo>
                    <a:pt x="5422011" y="1144905"/>
                  </a:lnTo>
                  <a:lnTo>
                    <a:pt x="5422011" y="10160"/>
                  </a:lnTo>
                  <a:lnTo>
                    <a:pt x="5432171" y="10160"/>
                  </a:lnTo>
                  <a:lnTo>
                    <a:pt x="5432171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111863" y="6218206"/>
            <a:ext cx="3901821" cy="741243"/>
            <a:chOff x="0" y="0"/>
            <a:chExt cx="5202428" cy="9883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202429" cy="988322"/>
            </a:xfrm>
            <a:custGeom>
              <a:avLst/>
              <a:gdLst/>
              <a:ahLst/>
              <a:cxnLst/>
              <a:rect r="r" b="b" t="t" l="l"/>
              <a:pathLst>
                <a:path h="988322" w="5202429">
                  <a:moveTo>
                    <a:pt x="0" y="0"/>
                  </a:moveTo>
                  <a:lnTo>
                    <a:pt x="5202429" y="0"/>
                  </a:lnTo>
                  <a:lnTo>
                    <a:pt x="5202429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567" r="0" b="-5256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5202428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full on-chain txs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088417" y="6141949"/>
            <a:ext cx="5057765" cy="866308"/>
            <a:chOff x="0" y="0"/>
            <a:chExt cx="6743687" cy="115507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0160" y="10160"/>
              <a:ext cx="67233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6723380">
                  <a:moveTo>
                    <a:pt x="0" y="0"/>
                  </a:moveTo>
                  <a:lnTo>
                    <a:pt x="6723380" y="0"/>
                  </a:lnTo>
                  <a:lnTo>
                    <a:pt x="67233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7437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6743700">
                  <a:moveTo>
                    <a:pt x="10160" y="0"/>
                  </a:moveTo>
                  <a:lnTo>
                    <a:pt x="6733540" y="0"/>
                  </a:lnTo>
                  <a:cubicBezTo>
                    <a:pt x="6739128" y="0"/>
                    <a:pt x="6743700" y="4572"/>
                    <a:pt x="6743700" y="10160"/>
                  </a:cubicBezTo>
                  <a:lnTo>
                    <a:pt x="6743700" y="1144905"/>
                  </a:lnTo>
                  <a:cubicBezTo>
                    <a:pt x="6743700" y="1150493"/>
                    <a:pt x="6739128" y="1155065"/>
                    <a:pt x="67335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6733540" y="1134745"/>
                  </a:lnTo>
                  <a:lnTo>
                    <a:pt x="6733540" y="1144905"/>
                  </a:lnTo>
                  <a:lnTo>
                    <a:pt x="6723380" y="1144905"/>
                  </a:lnTo>
                  <a:lnTo>
                    <a:pt x="6723380" y="10160"/>
                  </a:lnTo>
                  <a:lnTo>
                    <a:pt x="6733540" y="10160"/>
                  </a:lnTo>
                  <a:lnTo>
                    <a:pt x="67335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5178409" y="6218206"/>
            <a:ext cx="4877791" cy="741243"/>
            <a:chOff x="0" y="0"/>
            <a:chExt cx="6503721" cy="98832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503721" cy="988322"/>
            </a:xfrm>
            <a:custGeom>
              <a:avLst/>
              <a:gdLst/>
              <a:ahLst/>
              <a:cxnLst/>
              <a:rect r="r" b="b" t="t" l="l"/>
              <a:pathLst>
                <a:path h="988322" w="6503721">
                  <a:moveTo>
                    <a:pt x="0" y="0"/>
                  </a:moveTo>
                  <a:lnTo>
                    <a:pt x="6503721" y="0"/>
                  </a:lnTo>
                  <a:lnTo>
                    <a:pt x="650372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22" r="0" b="-78222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6503721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Feasibility-study scope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130933" y="6141949"/>
            <a:ext cx="7172363" cy="866308"/>
            <a:chOff x="0" y="0"/>
            <a:chExt cx="9563151" cy="115507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0160" y="10160"/>
              <a:ext cx="9542780" cy="1134745"/>
            </a:xfrm>
            <a:custGeom>
              <a:avLst/>
              <a:gdLst/>
              <a:ahLst/>
              <a:cxnLst/>
              <a:rect r="r" b="b" t="t" l="l"/>
              <a:pathLst>
                <a:path h="1134745" w="9542780">
                  <a:moveTo>
                    <a:pt x="0" y="0"/>
                  </a:moveTo>
                  <a:lnTo>
                    <a:pt x="9542780" y="0"/>
                  </a:lnTo>
                  <a:lnTo>
                    <a:pt x="9542780" y="1134745"/>
                  </a:lnTo>
                  <a:lnTo>
                    <a:pt x="0" y="11347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563100" cy="1155065"/>
            </a:xfrm>
            <a:custGeom>
              <a:avLst/>
              <a:gdLst/>
              <a:ahLst/>
              <a:cxnLst/>
              <a:rect r="r" b="b" t="t" l="l"/>
              <a:pathLst>
                <a:path h="1155065" w="9563100">
                  <a:moveTo>
                    <a:pt x="10160" y="0"/>
                  </a:moveTo>
                  <a:lnTo>
                    <a:pt x="9552940" y="0"/>
                  </a:lnTo>
                  <a:cubicBezTo>
                    <a:pt x="9558528" y="0"/>
                    <a:pt x="9563100" y="4572"/>
                    <a:pt x="9563100" y="10160"/>
                  </a:cubicBezTo>
                  <a:lnTo>
                    <a:pt x="9563100" y="1144905"/>
                  </a:lnTo>
                  <a:cubicBezTo>
                    <a:pt x="9563100" y="1150493"/>
                    <a:pt x="9558528" y="1155065"/>
                    <a:pt x="9552940" y="1155065"/>
                  </a:cubicBezTo>
                  <a:lnTo>
                    <a:pt x="10160" y="1155065"/>
                  </a:lnTo>
                  <a:cubicBezTo>
                    <a:pt x="4572" y="1155065"/>
                    <a:pt x="0" y="1150493"/>
                    <a:pt x="0" y="1144905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1144905"/>
                  </a:lnTo>
                  <a:lnTo>
                    <a:pt x="10160" y="1144905"/>
                  </a:lnTo>
                  <a:lnTo>
                    <a:pt x="10160" y="1134745"/>
                  </a:lnTo>
                  <a:lnTo>
                    <a:pt x="9552940" y="1134745"/>
                  </a:lnTo>
                  <a:lnTo>
                    <a:pt x="9552940" y="1144905"/>
                  </a:lnTo>
                  <a:lnTo>
                    <a:pt x="9542780" y="1144905"/>
                  </a:lnTo>
                  <a:lnTo>
                    <a:pt x="9542780" y="10160"/>
                  </a:lnTo>
                  <a:lnTo>
                    <a:pt x="9552940" y="10160"/>
                  </a:lnTo>
                  <a:lnTo>
                    <a:pt x="955294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220916" y="6218206"/>
            <a:ext cx="6992398" cy="741243"/>
            <a:chOff x="0" y="0"/>
            <a:chExt cx="9323197" cy="98832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323191" cy="988322"/>
            </a:xfrm>
            <a:custGeom>
              <a:avLst/>
              <a:gdLst/>
              <a:ahLst/>
              <a:cxnLst/>
              <a:rect r="r" b="b" t="t" l="l"/>
              <a:pathLst>
                <a:path h="988322" w="9323191">
                  <a:moveTo>
                    <a:pt x="0" y="0"/>
                  </a:moveTo>
                  <a:lnTo>
                    <a:pt x="9323191" y="0"/>
                  </a:lnTo>
                  <a:lnTo>
                    <a:pt x="9323191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809" r="0" b="-13380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9323197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Sepolia/L2 prototype deployment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845478" y="7610704"/>
            <a:ext cx="2760593" cy="1058485"/>
            <a:chOff x="0" y="0"/>
            <a:chExt cx="3680790" cy="141131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0160" y="10160"/>
              <a:ext cx="3660521" cy="1390904"/>
            </a:xfrm>
            <a:custGeom>
              <a:avLst/>
              <a:gdLst/>
              <a:ahLst/>
              <a:cxnLst/>
              <a:rect r="r" b="b" t="t" l="l"/>
              <a:pathLst>
                <a:path h="1390904" w="3660521">
                  <a:moveTo>
                    <a:pt x="0" y="231902"/>
                  </a:moveTo>
                  <a:cubicBezTo>
                    <a:pt x="0" y="103759"/>
                    <a:pt x="104775" y="0"/>
                    <a:pt x="233934" y="0"/>
                  </a:cubicBezTo>
                  <a:lnTo>
                    <a:pt x="3426587" y="0"/>
                  </a:lnTo>
                  <a:cubicBezTo>
                    <a:pt x="3555746" y="0"/>
                    <a:pt x="3660521" y="103759"/>
                    <a:pt x="3660521" y="231775"/>
                  </a:cubicBezTo>
                  <a:lnTo>
                    <a:pt x="3660521" y="1159129"/>
                  </a:lnTo>
                  <a:cubicBezTo>
                    <a:pt x="3660521" y="1287145"/>
                    <a:pt x="3555746" y="1390904"/>
                    <a:pt x="3426587" y="1390904"/>
                  </a:cubicBezTo>
                  <a:lnTo>
                    <a:pt x="233934" y="1390904"/>
                  </a:lnTo>
                  <a:cubicBezTo>
                    <a:pt x="104775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680841" cy="1411351"/>
            </a:xfrm>
            <a:custGeom>
              <a:avLst/>
              <a:gdLst/>
              <a:ahLst/>
              <a:cxnLst/>
              <a:rect r="r" b="b" t="t" l="l"/>
              <a:pathLst>
                <a:path h="1411351" w="3680841">
                  <a:moveTo>
                    <a:pt x="0" y="242062"/>
                  </a:moveTo>
                  <a:cubicBezTo>
                    <a:pt x="0" y="108204"/>
                    <a:pt x="109347" y="0"/>
                    <a:pt x="244094" y="0"/>
                  </a:cubicBezTo>
                  <a:lnTo>
                    <a:pt x="3436747" y="0"/>
                  </a:lnTo>
                  <a:lnTo>
                    <a:pt x="3436747" y="10160"/>
                  </a:lnTo>
                  <a:lnTo>
                    <a:pt x="3436747" y="0"/>
                  </a:lnTo>
                  <a:cubicBezTo>
                    <a:pt x="3571494" y="0"/>
                    <a:pt x="3680841" y="108204"/>
                    <a:pt x="3680841" y="242062"/>
                  </a:cubicBezTo>
                  <a:lnTo>
                    <a:pt x="3670681" y="242062"/>
                  </a:lnTo>
                  <a:lnTo>
                    <a:pt x="3680841" y="242062"/>
                  </a:lnTo>
                  <a:lnTo>
                    <a:pt x="3680841" y="1169289"/>
                  </a:lnTo>
                  <a:lnTo>
                    <a:pt x="3670681" y="1169289"/>
                  </a:lnTo>
                  <a:lnTo>
                    <a:pt x="3680841" y="1169289"/>
                  </a:lnTo>
                  <a:cubicBezTo>
                    <a:pt x="3680841" y="1303020"/>
                    <a:pt x="3571494" y="1411351"/>
                    <a:pt x="3436747" y="1411351"/>
                  </a:cubicBezTo>
                  <a:lnTo>
                    <a:pt x="3436747" y="1401191"/>
                  </a:lnTo>
                  <a:lnTo>
                    <a:pt x="3436747" y="1411351"/>
                  </a:lnTo>
                  <a:lnTo>
                    <a:pt x="244094" y="1411351"/>
                  </a:lnTo>
                  <a:lnTo>
                    <a:pt x="244094" y="1401191"/>
                  </a:lnTo>
                  <a:lnTo>
                    <a:pt x="244094" y="1411351"/>
                  </a:lnTo>
                  <a:cubicBezTo>
                    <a:pt x="109347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4094" y="1390904"/>
                  </a:cubicBezTo>
                  <a:lnTo>
                    <a:pt x="3436747" y="1390904"/>
                  </a:lnTo>
                  <a:cubicBezTo>
                    <a:pt x="3560445" y="1390904"/>
                    <a:pt x="3660521" y="1291590"/>
                    <a:pt x="3660521" y="1169289"/>
                  </a:cubicBezTo>
                  <a:lnTo>
                    <a:pt x="3660521" y="242062"/>
                  </a:lnTo>
                  <a:cubicBezTo>
                    <a:pt x="3660521" y="119761"/>
                    <a:pt x="3560445" y="20447"/>
                    <a:pt x="3436747" y="20447"/>
                  </a:cubicBezTo>
                  <a:lnTo>
                    <a:pt x="244094" y="20447"/>
                  </a:lnTo>
                  <a:lnTo>
                    <a:pt x="244094" y="10160"/>
                  </a:lnTo>
                  <a:lnTo>
                    <a:pt x="244094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1990373" y="7670997"/>
            <a:ext cx="2470814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FFC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Latency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962922" y="8156753"/>
            <a:ext cx="25257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shifted off-chain</a:t>
            </a:r>
          </a:p>
        </p:txBody>
      </p:sp>
      <p:grpSp>
        <p:nvGrpSpPr>
          <p:cNvPr name="Group 123" id="123"/>
          <p:cNvGrpSpPr/>
          <p:nvPr/>
        </p:nvGrpSpPr>
        <p:grpSpPr>
          <a:xfrm rot="0">
            <a:off x="5620331" y="7610704"/>
            <a:ext cx="2760593" cy="1058485"/>
            <a:chOff x="0" y="0"/>
            <a:chExt cx="3680790" cy="141131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10160" y="10160"/>
              <a:ext cx="3660521" cy="1390904"/>
            </a:xfrm>
            <a:custGeom>
              <a:avLst/>
              <a:gdLst/>
              <a:ahLst/>
              <a:cxnLst/>
              <a:rect r="r" b="b" t="t" l="l"/>
              <a:pathLst>
                <a:path h="1390904" w="3660521">
                  <a:moveTo>
                    <a:pt x="0" y="231902"/>
                  </a:moveTo>
                  <a:cubicBezTo>
                    <a:pt x="0" y="103759"/>
                    <a:pt x="104775" y="0"/>
                    <a:pt x="233934" y="0"/>
                  </a:cubicBezTo>
                  <a:lnTo>
                    <a:pt x="3426587" y="0"/>
                  </a:lnTo>
                  <a:cubicBezTo>
                    <a:pt x="3555746" y="0"/>
                    <a:pt x="3660521" y="103759"/>
                    <a:pt x="3660521" y="231775"/>
                  </a:cubicBezTo>
                  <a:lnTo>
                    <a:pt x="3660521" y="1159129"/>
                  </a:lnTo>
                  <a:cubicBezTo>
                    <a:pt x="3660521" y="1287145"/>
                    <a:pt x="3555746" y="1390904"/>
                    <a:pt x="3426587" y="1390904"/>
                  </a:cubicBezTo>
                  <a:lnTo>
                    <a:pt x="233934" y="1390904"/>
                  </a:lnTo>
                  <a:cubicBezTo>
                    <a:pt x="104775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F2ECFA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680841" cy="1411351"/>
            </a:xfrm>
            <a:custGeom>
              <a:avLst/>
              <a:gdLst/>
              <a:ahLst/>
              <a:cxnLst/>
              <a:rect r="r" b="b" t="t" l="l"/>
              <a:pathLst>
                <a:path h="1411351" w="3680841">
                  <a:moveTo>
                    <a:pt x="0" y="242062"/>
                  </a:moveTo>
                  <a:cubicBezTo>
                    <a:pt x="0" y="108204"/>
                    <a:pt x="109347" y="0"/>
                    <a:pt x="244094" y="0"/>
                  </a:cubicBezTo>
                  <a:lnTo>
                    <a:pt x="3436747" y="0"/>
                  </a:lnTo>
                  <a:lnTo>
                    <a:pt x="3436747" y="10160"/>
                  </a:lnTo>
                  <a:lnTo>
                    <a:pt x="3436747" y="0"/>
                  </a:lnTo>
                  <a:cubicBezTo>
                    <a:pt x="3571494" y="0"/>
                    <a:pt x="3680841" y="108204"/>
                    <a:pt x="3680841" y="242062"/>
                  </a:cubicBezTo>
                  <a:lnTo>
                    <a:pt x="3670681" y="242062"/>
                  </a:lnTo>
                  <a:lnTo>
                    <a:pt x="3680841" y="242062"/>
                  </a:lnTo>
                  <a:lnTo>
                    <a:pt x="3680841" y="1169289"/>
                  </a:lnTo>
                  <a:lnTo>
                    <a:pt x="3670681" y="1169289"/>
                  </a:lnTo>
                  <a:lnTo>
                    <a:pt x="3680841" y="1169289"/>
                  </a:lnTo>
                  <a:cubicBezTo>
                    <a:pt x="3680841" y="1303020"/>
                    <a:pt x="3571494" y="1411351"/>
                    <a:pt x="3436747" y="1411351"/>
                  </a:cubicBezTo>
                  <a:lnTo>
                    <a:pt x="3436747" y="1401191"/>
                  </a:lnTo>
                  <a:lnTo>
                    <a:pt x="3436747" y="1411351"/>
                  </a:lnTo>
                  <a:lnTo>
                    <a:pt x="244094" y="1411351"/>
                  </a:lnTo>
                  <a:lnTo>
                    <a:pt x="244094" y="1401191"/>
                  </a:lnTo>
                  <a:lnTo>
                    <a:pt x="244094" y="1411351"/>
                  </a:lnTo>
                  <a:cubicBezTo>
                    <a:pt x="109347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4094" y="1390904"/>
                  </a:cubicBezTo>
                  <a:lnTo>
                    <a:pt x="3436747" y="1390904"/>
                  </a:lnTo>
                  <a:cubicBezTo>
                    <a:pt x="3560445" y="1390904"/>
                    <a:pt x="3660521" y="1291590"/>
                    <a:pt x="3660521" y="1169289"/>
                  </a:cubicBezTo>
                  <a:lnTo>
                    <a:pt x="3660521" y="242062"/>
                  </a:lnTo>
                  <a:cubicBezTo>
                    <a:pt x="3660521" y="119761"/>
                    <a:pt x="3560445" y="20447"/>
                    <a:pt x="3436747" y="20447"/>
                  </a:cubicBezTo>
                  <a:lnTo>
                    <a:pt x="244094" y="20447"/>
                  </a:lnTo>
                  <a:lnTo>
                    <a:pt x="244094" y="10160"/>
                  </a:lnTo>
                  <a:lnTo>
                    <a:pt x="244094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6F42C1"/>
            </a:solid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5765225" y="7670997"/>
            <a:ext cx="2470814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6F42C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Payload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737774" y="8156753"/>
            <a:ext cx="25257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2420 B ML-DSA sig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9395184" y="7610704"/>
            <a:ext cx="2760593" cy="1058485"/>
            <a:chOff x="0" y="0"/>
            <a:chExt cx="3680790" cy="141131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0160" y="10160"/>
              <a:ext cx="3660521" cy="1390904"/>
            </a:xfrm>
            <a:custGeom>
              <a:avLst/>
              <a:gdLst/>
              <a:ahLst/>
              <a:cxnLst/>
              <a:rect r="r" b="b" t="t" l="l"/>
              <a:pathLst>
                <a:path h="1390904" w="3660521">
                  <a:moveTo>
                    <a:pt x="0" y="231902"/>
                  </a:moveTo>
                  <a:cubicBezTo>
                    <a:pt x="0" y="103759"/>
                    <a:pt x="104775" y="0"/>
                    <a:pt x="233934" y="0"/>
                  </a:cubicBezTo>
                  <a:lnTo>
                    <a:pt x="3426587" y="0"/>
                  </a:lnTo>
                  <a:cubicBezTo>
                    <a:pt x="3555746" y="0"/>
                    <a:pt x="3660521" y="103759"/>
                    <a:pt x="3660521" y="231775"/>
                  </a:cubicBezTo>
                  <a:lnTo>
                    <a:pt x="3660521" y="1159129"/>
                  </a:lnTo>
                  <a:cubicBezTo>
                    <a:pt x="3660521" y="1287145"/>
                    <a:pt x="3555746" y="1390904"/>
                    <a:pt x="3426587" y="1390904"/>
                  </a:cubicBezTo>
                  <a:lnTo>
                    <a:pt x="233934" y="1390904"/>
                  </a:lnTo>
                  <a:cubicBezTo>
                    <a:pt x="104775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E8F9FC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80841" cy="1411351"/>
            </a:xfrm>
            <a:custGeom>
              <a:avLst/>
              <a:gdLst/>
              <a:ahLst/>
              <a:cxnLst/>
              <a:rect r="r" b="b" t="t" l="l"/>
              <a:pathLst>
                <a:path h="1411351" w="3680841">
                  <a:moveTo>
                    <a:pt x="0" y="242062"/>
                  </a:moveTo>
                  <a:cubicBezTo>
                    <a:pt x="0" y="108204"/>
                    <a:pt x="109347" y="0"/>
                    <a:pt x="244094" y="0"/>
                  </a:cubicBezTo>
                  <a:lnTo>
                    <a:pt x="3436747" y="0"/>
                  </a:lnTo>
                  <a:lnTo>
                    <a:pt x="3436747" y="10160"/>
                  </a:lnTo>
                  <a:lnTo>
                    <a:pt x="3436747" y="0"/>
                  </a:lnTo>
                  <a:cubicBezTo>
                    <a:pt x="3571494" y="0"/>
                    <a:pt x="3680841" y="108204"/>
                    <a:pt x="3680841" y="242062"/>
                  </a:cubicBezTo>
                  <a:lnTo>
                    <a:pt x="3670681" y="242062"/>
                  </a:lnTo>
                  <a:lnTo>
                    <a:pt x="3680841" y="242062"/>
                  </a:lnTo>
                  <a:lnTo>
                    <a:pt x="3680841" y="1169289"/>
                  </a:lnTo>
                  <a:lnTo>
                    <a:pt x="3670681" y="1169289"/>
                  </a:lnTo>
                  <a:lnTo>
                    <a:pt x="3680841" y="1169289"/>
                  </a:lnTo>
                  <a:cubicBezTo>
                    <a:pt x="3680841" y="1303020"/>
                    <a:pt x="3571494" y="1411351"/>
                    <a:pt x="3436747" y="1411351"/>
                  </a:cubicBezTo>
                  <a:lnTo>
                    <a:pt x="3436747" y="1401191"/>
                  </a:lnTo>
                  <a:lnTo>
                    <a:pt x="3436747" y="1411351"/>
                  </a:lnTo>
                  <a:lnTo>
                    <a:pt x="244094" y="1411351"/>
                  </a:lnTo>
                  <a:lnTo>
                    <a:pt x="244094" y="1401191"/>
                  </a:lnTo>
                  <a:lnTo>
                    <a:pt x="244094" y="1411351"/>
                  </a:lnTo>
                  <a:cubicBezTo>
                    <a:pt x="109347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4094" y="1390904"/>
                  </a:cubicBezTo>
                  <a:lnTo>
                    <a:pt x="3436747" y="1390904"/>
                  </a:lnTo>
                  <a:cubicBezTo>
                    <a:pt x="3560445" y="1390904"/>
                    <a:pt x="3660521" y="1291590"/>
                    <a:pt x="3660521" y="1169289"/>
                  </a:cubicBezTo>
                  <a:lnTo>
                    <a:pt x="3660521" y="242062"/>
                  </a:lnTo>
                  <a:cubicBezTo>
                    <a:pt x="3660521" y="119761"/>
                    <a:pt x="3560445" y="20447"/>
                    <a:pt x="3436747" y="20447"/>
                  </a:cubicBezTo>
                  <a:lnTo>
                    <a:pt x="244094" y="20447"/>
                  </a:lnTo>
                  <a:lnTo>
                    <a:pt x="244094" y="10160"/>
                  </a:lnTo>
                  <a:lnTo>
                    <a:pt x="244094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00B8D9"/>
            </a:solidFill>
          </p:spPr>
        </p:sp>
      </p:grpSp>
      <p:sp>
        <p:nvSpPr>
          <p:cNvPr name="TextBox 131" id="131"/>
          <p:cNvSpPr txBox="true"/>
          <p:nvPr/>
        </p:nvSpPr>
        <p:spPr>
          <a:xfrm rot="0">
            <a:off x="9540069" y="7670997"/>
            <a:ext cx="2470814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00B8D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Maturity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9512618" y="8156753"/>
            <a:ext cx="25257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needs audits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13170027" y="7610704"/>
            <a:ext cx="2760593" cy="1058485"/>
            <a:chOff x="0" y="0"/>
            <a:chExt cx="3680790" cy="141131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0160" y="10160"/>
              <a:ext cx="3660521" cy="1390904"/>
            </a:xfrm>
            <a:custGeom>
              <a:avLst/>
              <a:gdLst/>
              <a:ahLst/>
              <a:cxnLst/>
              <a:rect r="r" b="b" t="t" l="l"/>
              <a:pathLst>
                <a:path h="1390904" w="3660521">
                  <a:moveTo>
                    <a:pt x="0" y="231902"/>
                  </a:moveTo>
                  <a:cubicBezTo>
                    <a:pt x="0" y="103759"/>
                    <a:pt x="104775" y="0"/>
                    <a:pt x="233934" y="0"/>
                  </a:cubicBezTo>
                  <a:lnTo>
                    <a:pt x="3426587" y="0"/>
                  </a:lnTo>
                  <a:cubicBezTo>
                    <a:pt x="3555746" y="0"/>
                    <a:pt x="3660521" y="103759"/>
                    <a:pt x="3660521" y="231775"/>
                  </a:cubicBezTo>
                  <a:lnTo>
                    <a:pt x="3660521" y="1159129"/>
                  </a:lnTo>
                  <a:cubicBezTo>
                    <a:pt x="3660521" y="1287145"/>
                    <a:pt x="3555746" y="1390904"/>
                    <a:pt x="3426587" y="1390904"/>
                  </a:cubicBezTo>
                  <a:lnTo>
                    <a:pt x="233934" y="1390904"/>
                  </a:lnTo>
                  <a:cubicBezTo>
                    <a:pt x="104775" y="1391031"/>
                    <a:pt x="0" y="1287145"/>
                    <a:pt x="0" y="1159129"/>
                  </a:cubicBezTo>
                  <a:close/>
                </a:path>
              </a:pathLst>
            </a:custGeom>
            <a:solidFill>
              <a:srgbClr val="EEF3FA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680841" cy="1411351"/>
            </a:xfrm>
            <a:custGeom>
              <a:avLst/>
              <a:gdLst/>
              <a:ahLst/>
              <a:cxnLst/>
              <a:rect r="r" b="b" t="t" l="l"/>
              <a:pathLst>
                <a:path h="1411351" w="3680841">
                  <a:moveTo>
                    <a:pt x="0" y="242062"/>
                  </a:moveTo>
                  <a:cubicBezTo>
                    <a:pt x="0" y="108204"/>
                    <a:pt x="109347" y="0"/>
                    <a:pt x="244094" y="0"/>
                  </a:cubicBezTo>
                  <a:lnTo>
                    <a:pt x="3436747" y="0"/>
                  </a:lnTo>
                  <a:lnTo>
                    <a:pt x="3436747" y="10160"/>
                  </a:lnTo>
                  <a:lnTo>
                    <a:pt x="3436747" y="0"/>
                  </a:lnTo>
                  <a:cubicBezTo>
                    <a:pt x="3571494" y="0"/>
                    <a:pt x="3680841" y="108204"/>
                    <a:pt x="3680841" y="242062"/>
                  </a:cubicBezTo>
                  <a:lnTo>
                    <a:pt x="3670681" y="242062"/>
                  </a:lnTo>
                  <a:lnTo>
                    <a:pt x="3680841" y="242062"/>
                  </a:lnTo>
                  <a:lnTo>
                    <a:pt x="3680841" y="1169289"/>
                  </a:lnTo>
                  <a:lnTo>
                    <a:pt x="3670681" y="1169289"/>
                  </a:lnTo>
                  <a:lnTo>
                    <a:pt x="3680841" y="1169289"/>
                  </a:lnTo>
                  <a:cubicBezTo>
                    <a:pt x="3680841" y="1303020"/>
                    <a:pt x="3571494" y="1411351"/>
                    <a:pt x="3436747" y="1411351"/>
                  </a:cubicBezTo>
                  <a:lnTo>
                    <a:pt x="3436747" y="1401191"/>
                  </a:lnTo>
                  <a:lnTo>
                    <a:pt x="3436747" y="1411351"/>
                  </a:lnTo>
                  <a:lnTo>
                    <a:pt x="244094" y="1411351"/>
                  </a:lnTo>
                  <a:lnTo>
                    <a:pt x="244094" y="1401191"/>
                  </a:lnTo>
                  <a:lnTo>
                    <a:pt x="244094" y="1411351"/>
                  </a:lnTo>
                  <a:cubicBezTo>
                    <a:pt x="109347" y="1411351"/>
                    <a:pt x="0" y="1303020"/>
                    <a:pt x="0" y="1169289"/>
                  </a:cubicBezTo>
                  <a:lnTo>
                    <a:pt x="0" y="242062"/>
                  </a:lnTo>
                  <a:lnTo>
                    <a:pt x="10160" y="242062"/>
                  </a:lnTo>
                  <a:lnTo>
                    <a:pt x="0" y="242062"/>
                  </a:lnTo>
                  <a:moveTo>
                    <a:pt x="20320" y="242062"/>
                  </a:moveTo>
                  <a:lnTo>
                    <a:pt x="20320" y="1169289"/>
                  </a:lnTo>
                  <a:lnTo>
                    <a:pt x="10160" y="1169289"/>
                  </a:lnTo>
                  <a:lnTo>
                    <a:pt x="20320" y="1169289"/>
                  </a:lnTo>
                  <a:cubicBezTo>
                    <a:pt x="20320" y="1291590"/>
                    <a:pt x="120396" y="1390904"/>
                    <a:pt x="244094" y="1390904"/>
                  </a:cubicBezTo>
                  <a:lnTo>
                    <a:pt x="3436747" y="1390904"/>
                  </a:lnTo>
                  <a:cubicBezTo>
                    <a:pt x="3560445" y="1390904"/>
                    <a:pt x="3660521" y="1291590"/>
                    <a:pt x="3660521" y="1169289"/>
                  </a:cubicBezTo>
                  <a:lnTo>
                    <a:pt x="3660521" y="242062"/>
                  </a:lnTo>
                  <a:cubicBezTo>
                    <a:pt x="3660521" y="119761"/>
                    <a:pt x="3560445" y="20447"/>
                    <a:pt x="3436747" y="20447"/>
                  </a:cubicBezTo>
                  <a:lnTo>
                    <a:pt x="244094" y="20447"/>
                  </a:lnTo>
                  <a:lnTo>
                    <a:pt x="244094" y="10160"/>
                  </a:lnTo>
                  <a:lnTo>
                    <a:pt x="244094" y="20320"/>
                  </a:lnTo>
                  <a:cubicBezTo>
                    <a:pt x="120396" y="20320"/>
                    <a:pt x="20320" y="119634"/>
                    <a:pt x="20320" y="24206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136" id="136"/>
          <p:cNvSpPr txBox="true"/>
          <p:nvPr/>
        </p:nvSpPr>
        <p:spPr>
          <a:xfrm rot="0">
            <a:off x="13314921" y="7670997"/>
            <a:ext cx="2470814" cy="44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4472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Liveness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3287470" y="8156753"/>
            <a:ext cx="252571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prover availability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530529" y="9308664"/>
            <a:ext cx="1537393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i="true">
                <a:solidFill>
                  <a:srgbClr val="60708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Figure 9: Q-EVM trades on-chain gas for off-chain proving and bundler infrastructure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34804" y="150990"/>
            <a:ext cx="1139314" cy="1139314"/>
            <a:chOff x="0" y="0"/>
            <a:chExt cx="1519085" cy="1519085"/>
          </a:xfrm>
        </p:grpSpPr>
        <p:sp>
          <p:nvSpPr>
            <p:cNvPr name="Freeform 3" id="3" descr="/Users/dhairya/Documents/Codex/2026-05-13/files-mentioned-by-the-user-ppt/outputs/manual-qevm-pptx/presentations/q-evm-ug-project/template-inspect/assets/ppt/media/image1.png"/>
            <p:cNvSpPr/>
            <p:nvPr/>
          </p:nvSpPr>
          <p:spPr>
            <a:xfrm flipH="false" flipV="false" rot="0">
              <a:off x="0" y="0"/>
              <a:ext cx="1519047" cy="1519047"/>
            </a:xfrm>
            <a:custGeom>
              <a:avLst/>
              <a:gdLst/>
              <a:ahLst/>
              <a:cxnLst/>
              <a:rect r="r" b="b" t="t" l="l"/>
              <a:pathLst>
                <a:path h="1519047" w="1519047">
                  <a:moveTo>
                    <a:pt x="0" y="0"/>
                  </a:moveTo>
                  <a:lnTo>
                    <a:pt x="1519047" y="0"/>
                  </a:lnTo>
                  <a:lnTo>
                    <a:pt x="1519047" y="1519047"/>
                  </a:lnTo>
                  <a:lnTo>
                    <a:pt x="0" y="1519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" t="0" r="-323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2" y="512093"/>
            <a:ext cx="14687598" cy="64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F2A44"/>
                </a:solidFill>
                <a:latin typeface="Georgia Bold"/>
                <a:ea typeface="Georgia Bold"/>
                <a:cs typeface="Georgia Bold"/>
                <a:sym typeface="Georgia Bold"/>
              </a:rPr>
              <a:t>CONCLUSION &amp; FUTURE 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9535" y="1431769"/>
            <a:ext cx="18320909" cy="87697"/>
            <a:chOff x="0" y="0"/>
            <a:chExt cx="2442787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402414" cy="91567"/>
            </a:xfrm>
            <a:custGeom>
              <a:avLst/>
              <a:gdLst/>
              <a:ahLst/>
              <a:cxnLst/>
              <a:rect r="r" b="b" t="t" l="l"/>
              <a:pathLst>
                <a:path h="91567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91567"/>
                  </a:lnTo>
                  <a:lnTo>
                    <a:pt x="0" y="91567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535" y="10189426"/>
            <a:ext cx="18320909" cy="101422"/>
            <a:chOff x="0" y="0"/>
            <a:chExt cx="24427878" cy="135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24402414" cy="109855"/>
            </a:xfrm>
            <a:custGeom>
              <a:avLst/>
              <a:gdLst/>
              <a:ahLst/>
              <a:cxnLst/>
              <a:rect r="r" b="b" t="t" l="l"/>
              <a:pathLst>
                <a:path h="109855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474117" y="9606683"/>
            <a:ext cx="548049" cy="38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111111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916" y="1719424"/>
            <a:ext cx="1592198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Q-EVM demonstrates a realistic forkless path to post-quantum Ethereum wallets.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6410" y="2600449"/>
            <a:ext cx="6741347" cy="1868357"/>
            <a:chOff x="0" y="0"/>
            <a:chExt cx="8988463" cy="2491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0160" y="10160"/>
              <a:ext cx="8968105" cy="2470912"/>
            </a:xfrm>
            <a:custGeom>
              <a:avLst/>
              <a:gdLst/>
              <a:ahLst/>
              <a:cxnLst/>
              <a:rect r="r" b="b" t="t" l="l"/>
              <a:pathLst>
                <a:path h="2470912" w="8968105">
                  <a:moveTo>
                    <a:pt x="0" y="411861"/>
                  </a:moveTo>
                  <a:cubicBezTo>
                    <a:pt x="0" y="184404"/>
                    <a:pt x="185420" y="0"/>
                    <a:pt x="414274" y="0"/>
                  </a:cubicBezTo>
                  <a:lnTo>
                    <a:pt x="8553831" y="0"/>
                  </a:lnTo>
                  <a:cubicBezTo>
                    <a:pt x="8782558" y="0"/>
                    <a:pt x="8968105" y="184404"/>
                    <a:pt x="8968105" y="411861"/>
                  </a:cubicBezTo>
                  <a:lnTo>
                    <a:pt x="8968105" y="2059051"/>
                  </a:lnTo>
                  <a:cubicBezTo>
                    <a:pt x="8968105" y="2286508"/>
                    <a:pt x="8782685" y="2470912"/>
                    <a:pt x="8553831" y="2470912"/>
                  </a:cubicBezTo>
                  <a:lnTo>
                    <a:pt x="414274" y="2470912"/>
                  </a:lnTo>
                  <a:cubicBezTo>
                    <a:pt x="185420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FFF7D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88425" cy="2491232"/>
            </a:xfrm>
            <a:custGeom>
              <a:avLst/>
              <a:gdLst/>
              <a:ahLst/>
              <a:cxnLst/>
              <a:rect r="r" b="b" t="t" l="l"/>
              <a:pathLst>
                <a:path h="2491232" w="8988425">
                  <a:moveTo>
                    <a:pt x="0" y="422021"/>
                  </a:moveTo>
                  <a:cubicBezTo>
                    <a:pt x="0" y="188849"/>
                    <a:pt x="190119" y="0"/>
                    <a:pt x="424434" y="0"/>
                  </a:cubicBezTo>
                  <a:lnTo>
                    <a:pt x="8563991" y="0"/>
                  </a:lnTo>
                  <a:lnTo>
                    <a:pt x="8563991" y="10160"/>
                  </a:lnTo>
                  <a:lnTo>
                    <a:pt x="8563991" y="0"/>
                  </a:lnTo>
                  <a:cubicBezTo>
                    <a:pt x="8798306" y="0"/>
                    <a:pt x="8988425" y="188849"/>
                    <a:pt x="8988425" y="422021"/>
                  </a:cubicBezTo>
                  <a:lnTo>
                    <a:pt x="8978265" y="422021"/>
                  </a:lnTo>
                  <a:lnTo>
                    <a:pt x="8988425" y="422021"/>
                  </a:lnTo>
                  <a:lnTo>
                    <a:pt x="8988425" y="2069211"/>
                  </a:lnTo>
                  <a:lnTo>
                    <a:pt x="8978265" y="2069211"/>
                  </a:lnTo>
                  <a:lnTo>
                    <a:pt x="8988425" y="2069211"/>
                  </a:lnTo>
                  <a:cubicBezTo>
                    <a:pt x="8988425" y="2302383"/>
                    <a:pt x="8798306" y="2491232"/>
                    <a:pt x="8563991" y="2491232"/>
                  </a:cubicBezTo>
                  <a:lnTo>
                    <a:pt x="8563991" y="2481072"/>
                  </a:lnTo>
                  <a:lnTo>
                    <a:pt x="8563991" y="2491232"/>
                  </a:lnTo>
                  <a:lnTo>
                    <a:pt x="424434" y="2491232"/>
                  </a:lnTo>
                  <a:lnTo>
                    <a:pt x="424434" y="2481072"/>
                  </a:lnTo>
                  <a:lnTo>
                    <a:pt x="424434" y="2491232"/>
                  </a:lnTo>
                  <a:cubicBezTo>
                    <a:pt x="190119" y="2491105"/>
                    <a:pt x="0" y="2302256"/>
                    <a:pt x="0" y="2069211"/>
                  </a:cubicBezTo>
                  <a:lnTo>
                    <a:pt x="0" y="422021"/>
                  </a:lnTo>
                  <a:lnTo>
                    <a:pt x="10160" y="422021"/>
                  </a:lnTo>
                  <a:lnTo>
                    <a:pt x="0" y="422021"/>
                  </a:lnTo>
                  <a:moveTo>
                    <a:pt x="20320" y="422021"/>
                  </a:moveTo>
                  <a:lnTo>
                    <a:pt x="20320" y="2069211"/>
                  </a:lnTo>
                  <a:lnTo>
                    <a:pt x="10160" y="2069211"/>
                  </a:lnTo>
                  <a:lnTo>
                    <a:pt x="20320" y="2069211"/>
                  </a:lnTo>
                  <a:cubicBezTo>
                    <a:pt x="20320" y="2290953"/>
                    <a:pt x="201168" y="2470912"/>
                    <a:pt x="424434" y="2470912"/>
                  </a:cubicBezTo>
                  <a:lnTo>
                    <a:pt x="8563991" y="2470912"/>
                  </a:lnTo>
                  <a:cubicBezTo>
                    <a:pt x="8787257" y="2470912"/>
                    <a:pt x="8968105" y="2291080"/>
                    <a:pt x="8968105" y="2069211"/>
                  </a:cubicBezTo>
                  <a:lnTo>
                    <a:pt x="8968105" y="422021"/>
                  </a:lnTo>
                  <a:cubicBezTo>
                    <a:pt x="8968105" y="200279"/>
                    <a:pt x="8787257" y="20320"/>
                    <a:pt x="8563991" y="20320"/>
                  </a:cubicBezTo>
                  <a:lnTo>
                    <a:pt x="424434" y="20320"/>
                  </a:lnTo>
                  <a:lnTo>
                    <a:pt x="424434" y="10160"/>
                  </a:lnTo>
                  <a:lnTo>
                    <a:pt x="424434" y="20320"/>
                  </a:lnTo>
                  <a:cubicBezTo>
                    <a:pt x="201168" y="20320"/>
                    <a:pt x="20320" y="200152"/>
                    <a:pt x="20320" y="422021"/>
                  </a:cubicBez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78569" y="2817057"/>
            <a:ext cx="137267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755" y="3274238"/>
            <a:ext cx="597112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EVM directly verifies ML-DSA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approx. 2.8M gas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impractical for normal wallet validation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52152" y="3526241"/>
            <a:ext cx="1609077" cy="30509"/>
            <a:chOff x="0" y="0"/>
            <a:chExt cx="2145436" cy="406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0320" y="0"/>
              <a:ext cx="2104771" cy="40640"/>
            </a:xfrm>
            <a:custGeom>
              <a:avLst/>
              <a:gdLst/>
              <a:ahLst/>
              <a:cxnLst/>
              <a:rect r="r" b="b" t="t" l="l"/>
              <a:pathLst>
                <a:path h="40640" w="2104771">
                  <a:moveTo>
                    <a:pt x="0" y="0"/>
                  </a:moveTo>
                  <a:lnTo>
                    <a:pt x="2104771" y="0"/>
                  </a:lnTo>
                  <a:lnTo>
                    <a:pt x="2104771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F3702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44252" y="2600449"/>
            <a:ext cx="6741347" cy="1868357"/>
            <a:chOff x="0" y="0"/>
            <a:chExt cx="8988463" cy="24911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0160" y="10160"/>
              <a:ext cx="8968105" cy="2470912"/>
            </a:xfrm>
            <a:custGeom>
              <a:avLst/>
              <a:gdLst/>
              <a:ahLst/>
              <a:cxnLst/>
              <a:rect r="r" b="b" t="t" l="l"/>
              <a:pathLst>
                <a:path h="2470912" w="8968105">
                  <a:moveTo>
                    <a:pt x="0" y="411861"/>
                  </a:moveTo>
                  <a:cubicBezTo>
                    <a:pt x="0" y="184404"/>
                    <a:pt x="185420" y="0"/>
                    <a:pt x="414274" y="0"/>
                  </a:cubicBezTo>
                  <a:lnTo>
                    <a:pt x="8553831" y="0"/>
                  </a:lnTo>
                  <a:cubicBezTo>
                    <a:pt x="8782558" y="0"/>
                    <a:pt x="8968105" y="184404"/>
                    <a:pt x="8968105" y="411861"/>
                  </a:cubicBezTo>
                  <a:lnTo>
                    <a:pt x="8968105" y="2059051"/>
                  </a:lnTo>
                  <a:cubicBezTo>
                    <a:pt x="8968105" y="2286508"/>
                    <a:pt x="8782685" y="2470912"/>
                    <a:pt x="8553831" y="2470912"/>
                  </a:cubicBezTo>
                  <a:lnTo>
                    <a:pt x="414274" y="2470912"/>
                  </a:lnTo>
                  <a:cubicBezTo>
                    <a:pt x="185420" y="2470785"/>
                    <a:pt x="0" y="2286381"/>
                    <a:pt x="0" y="2059051"/>
                  </a:cubicBezTo>
                  <a:close/>
                </a:path>
              </a:pathLst>
            </a:custGeom>
            <a:solidFill>
              <a:srgbClr val="EAF7E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88425" cy="2491232"/>
            </a:xfrm>
            <a:custGeom>
              <a:avLst/>
              <a:gdLst/>
              <a:ahLst/>
              <a:cxnLst/>
              <a:rect r="r" b="b" t="t" l="l"/>
              <a:pathLst>
                <a:path h="2491232" w="8988425">
                  <a:moveTo>
                    <a:pt x="0" y="422021"/>
                  </a:moveTo>
                  <a:cubicBezTo>
                    <a:pt x="0" y="188849"/>
                    <a:pt x="190119" y="0"/>
                    <a:pt x="424434" y="0"/>
                  </a:cubicBezTo>
                  <a:lnTo>
                    <a:pt x="8563991" y="0"/>
                  </a:lnTo>
                  <a:lnTo>
                    <a:pt x="8563991" y="10160"/>
                  </a:lnTo>
                  <a:lnTo>
                    <a:pt x="8563991" y="0"/>
                  </a:lnTo>
                  <a:cubicBezTo>
                    <a:pt x="8798306" y="0"/>
                    <a:pt x="8988425" y="188849"/>
                    <a:pt x="8988425" y="422021"/>
                  </a:cubicBezTo>
                  <a:lnTo>
                    <a:pt x="8978265" y="422021"/>
                  </a:lnTo>
                  <a:lnTo>
                    <a:pt x="8988425" y="422021"/>
                  </a:lnTo>
                  <a:lnTo>
                    <a:pt x="8988425" y="2069211"/>
                  </a:lnTo>
                  <a:lnTo>
                    <a:pt x="8978265" y="2069211"/>
                  </a:lnTo>
                  <a:lnTo>
                    <a:pt x="8988425" y="2069211"/>
                  </a:lnTo>
                  <a:cubicBezTo>
                    <a:pt x="8988425" y="2302383"/>
                    <a:pt x="8798306" y="2491232"/>
                    <a:pt x="8563991" y="2491232"/>
                  </a:cubicBezTo>
                  <a:lnTo>
                    <a:pt x="8563991" y="2481072"/>
                  </a:lnTo>
                  <a:lnTo>
                    <a:pt x="8563991" y="2491232"/>
                  </a:lnTo>
                  <a:lnTo>
                    <a:pt x="424434" y="2491232"/>
                  </a:lnTo>
                  <a:lnTo>
                    <a:pt x="424434" y="2481072"/>
                  </a:lnTo>
                  <a:lnTo>
                    <a:pt x="424434" y="2491232"/>
                  </a:lnTo>
                  <a:cubicBezTo>
                    <a:pt x="190119" y="2491105"/>
                    <a:pt x="0" y="2302256"/>
                    <a:pt x="0" y="2069211"/>
                  </a:cubicBezTo>
                  <a:lnTo>
                    <a:pt x="0" y="422021"/>
                  </a:lnTo>
                  <a:lnTo>
                    <a:pt x="10160" y="422021"/>
                  </a:lnTo>
                  <a:lnTo>
                    <a:pt x="0" y="422021"/>
                  </a:lnTo>
                  <a:moveTo>
                    <a:pt x="20320" y="422021"/>
                  </a:moveTo>
                  <a:lnTo>
                    <a:pt x="20320" y="2069211"/>
                  </a:lnTo>
                  <a:lnTo>
                    <a:pt x="10160" y="2069211"/>
                  </a:lnTo>
                  <a:lnTo>
                    <a:pt x="20320" y="2069211"/>
                  </a:lnTo>
                  <a:cubicBezTo>
                    <a:pt x="20320" y="2290953"/>
                    <a:pt x="201168" y="2470912"/>
                    <a:pt x="424434" y="2470912"/>
                  </a:cubicBezTo>
                  <a:lnTo>
                    <a:pt x="8563991" y="2470912"/>
                  </a:lnTo>
                  <a:cubicBezTo>
                    <a:pt x="8787257" y="2470912"/>
                    <a:pt x="8968105" y="2291080"/>
                    <a:pt x="8968105" y="2069211"/>
                  </a:cubicBezTo>
                  <a:lnTo>
                    <a:pt x="8968105" y="422021"/>
                  </a:lnTo>
                  <a:cubicBezTo>
                    <a:pt x="8968105" y="200279"/>
                    <a:pt x="8787257" y="20320"/>
                    <a:pt x="8563991" y="20320"/>
                  </a:cubicBezTo>
                  <a:lnTo>
                    <a:pt x="424434" y="20320"/>
                  </a:lnTo>
                  <a:lnTo>
                    <a:pt x="424434" y="10160"/>
                  </a:lnTo>
                  <a:lnTo>
                    <a:pt x="424434" y="20320"/>
                  </a:lnTo>
                  <a:cubicBezTo>
                    <a:pt x="201168" y="20320"/>
                    <a:pt x="20320" y="200152"/>
                    <a:pt x="20320" y="422021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26411" y="2817057"/>
            <a:ext cx="219627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AD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Q-EVM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67588" y="3274238"/>
            <a:ext cx="5971127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zkVM proves ML-DSA verification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smart wallet verifies zkReceipt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approx. 242k gas, no hard fork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4039" y="5246684"/>
            <a:ext cx="411801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 roadmap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902676" y="6363862"/>
            <a:ext cx="13764854" cy="38129"/>
            <a:chOff x="0" y="0"/>
            <a:chExt cx="18353138" cy="50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0"/>
              <a:ext cx="18302351" cy="50800"/>
            </a:xfrm>
            <a:custGeom>
              <a:avLst/>
              <a:gdLst/>
              <a:ahLst/>
              <a:cxnLst/>
              <a:rect r="r" b="b" t="t" l="l"/>
              <a:pathLst>
                <a:path h="50800" w="18302351">
                  <a:moveTo>
                    <a:pt x="0" y="0"/>
                  </a:moveTo>
                  <a:lnTo>
                    <a:pt x="18302351" y="0"/>
                  </a:lnTo>
                  <a:lnTo>
                    <a:pt x="1830235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7DE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00407" y="6057681"/>
            <a:ext cx="650491" cy="650491"/>
            <a:chOff x="0" y="0"/>
            <a:chExt cx="867321" cy="8673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2EAD5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758029" y="6198032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4971" y="6852714"/>
            <a:ext cx="21276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4971" y="7250792"/>
            <a:ext cx="212764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Rust + Solidity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flow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767367" y="6057681"/>
            <a:ext cx="650491" cy="650491"/>
            <a:chOff x="0" y="0"/>
            <a:chExt cx="867321" cy="8673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024990" y="6198032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21931" y="6852714"/>
            <a:ext cx="21276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Testnet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21931" y="7250792"/>
            <a:ext cx="212764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Sepolia/L2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wallet demo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034328" y="6057681"/>
            <a:ext cx="650491" cy="650491"/>
            <a:chOff x="0" y="0"/>
            <a:chExt cx="867321" cy="8673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291951" y="6198032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288892" y="6852714"/>
            <a:ext cx="21276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Recursive proofs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88892" y="7250792"/>
            <a:ext cx="212764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lower batch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verification cost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1301289" y="6057681"/>
            <a:ext cx="650491" cy="650491"/>
            <a:chOff x="0" y="0"/>
            <a:chExt cx="867321" cy="86732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2700" y="1270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1558911" y="6198032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555853" y="6852714"/>
            <a:ext cx="21276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Prover market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555853" y="7250792"/>
            <a:ext cx="212764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liveness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and decentralization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568249" y="6057681"/>
            <a:ext cx="650491" cy="650491"/>
            <a:chOff x="0" y="0"/>
            <a:chExt cx="867321" cy="86732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421005"/>
                  </a:moveTo>
                  <a:cubicBezTo>
                    <a:pt x="0" y="188468"/>
                    <a:pt x="188468" y="0"/>
                    <a:pt x="421005" y="0"/>
                  </a:cubicBezTo>
                  <a:cubicBezTo>
                    <a:pt x="653542" y="0"/>
                    <a:pt x="841883" y="188468"/>
                    <a:pt x="841883" y="421005"/>
                  </a:cubicBezTo>
                  <a:cubicBezTo>
                    <a:pt x="841883" y="653542"/>
                    <a:pt x="653415" y="841883"/>
                    <a:pt x="421005" y="841883"/>
                  </a:cubicBezTo>
                  <a:cubicBezTo>
                    <a:pt x="188595" y="841883"/>
                    <a:pt x="0" y="653415"/>
                    <a:pt x="0" y="421005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825872" y="6198032"/>
            <a:ext cx="1352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22813" y="6852714"/>
            <a:ext cx="21276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Wallet SDK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822813" y="7250792"/>
            <a:ext cx="212764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developer-ready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0708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95937" y="8213922"/>
            <a:ext cx="16996234" cy="850652"/>
            <a:chOff x="0" y="0"/>
            <a:chExt cx="20518907" cy="1026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0160" y="10160"/>
              <a:ext cx="20498562" cy="1006602"/>
            </a:xfrm>
            <a:custGeom>
              <a:avLst/>
              <a:gdLst/>
              <a:ahLst/>
              <a:cxnLst/>
              <a:rect r="r" b="b" t="t" l="l"/>
              <a:pathLst>
                <a:path h="1006602" w="20498562">
                  <a:moveTo>
                    <a:pt x="0" y="167767"/>
                  </a:moveTo>
                  <a:cubicBezTo>
                    <a:pt x="0" y="75184"/>
                    <a:pt x="76581" y="0"/>
                    <a:pt x="170942" y="0"/>
                  </a:cubicBezTo>
                  <a:lnTo>
                    <a:pt x="20327620" y="0"/>
                  </a:lnTo>
                  <a:cubicBezTo>
                    <a:pt x="20422109" y="0"/>
                    <a:pt x="20498562" y="75057"/>
                    <a:pt x="20498562" y="167767"/>
                  </a:cubicBezTo>
                  <a:lnTo>
                    <a:pt x="20498562" y="838835"/>
                  </a:lnTo>
                  <a:cubicBezTo>
                    <a:pt x="20498562" y="931545"/>
                    <a:pt x="20421982" y="1006602"/>
                    <a:pt x="20327620" y="1006602"/>
                  </a:cubicBezTo>
                  <a:lnTo>
                    <a:pt x="170942" y="1006602"/>
                  </a:lnTo>
                  <a:cubicBezTo>
                    <a:pt x="76581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EF3FA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518882" cy="1026922"/>
            </a:xfrm>
            <a:custGeom>
              <a:avLst/>
              <a:gdLst/>
              <a:ahLst/>
              <a:cxnLst/>
              <a:rect r="r" b="b" t="t" l="l"/>
              <a:pathLst>
                <a:path h="1026922" w="20518882">
                  <a:moveTo>
                    <a:pt x="0" y="177927"/>
                  </a:moveTo>
                  <a:cubicBezTo>
                    <a:pt x="0" y="79502"/>
                    <a:pt x="81280" y="0"/>
                    <a:pt x="181102" y="0"/>
                  </a:cubicBezTo>
                  <a:lnTo>
                    <a:pt x="20337780" y="0"/>
                  </a:lnTo>
                  <a:lnTo>
                    <a:pt x="20337780" y="10160"/>
                  </a:lnTo>
                  <a:lnTo>
                    <a:pt x="20337780" y="0"/>
                  </a:lnTo>
                  <a:cubicBezTo>
                    <a:pt x="20437602" y="0"/>
                    <a:pt x="20518882" y="79502"/>
                    <a:pt x="20518882" y="177927"/>
                  </a:cubicBezTo>
                  <a:lnTo>
                    <a:pt x="20508722" y="177927"/>
                  </a:lnTo>
                  <a:lnTo>
                    <a:pt x="20518882" y="177927"/>
                  </a:lnTo>
                  <a:lnTo>
                    <a:pt x="20518882" y="848995"/>
                  </a:lnTo>
                  <a:lnTo>
                    <a:pt x="20508722" y="848995"/>
                  </a:lnTo>
                  <a:lnTo>
                    <a:pt x="20518882" y="848995"/>
                  </a:lnTo>
                  <a:cubicBezTo>
                    <a:pt x="20518882" y="947420"/>
                    <a:pt x="20437602" y="1026922"/>
                    <a:pt x="20337780" y="1026922"/>
                  </a:cubicBezTo>
                  <a:lnTo>
                    <a:pt x="20337780" y="1016762"/>
                  </a:lnTo>
                  <a:lnTo>
                    <a:pt x="20337780" y="1026922"/>
                  </a:lnTo>
                  <a:lnTo>
                    <a:pt x="181102" y="1026922"/>
                  </a:lnTo>
                  <a:lnTo>
                    <a:pt x="181102" y="1016762"/>
                  </a:lnTo>
                  <a:lnTo>
                    <a:pt x="181102" y="1026922"/>
                  </a:lnTo>
                  <a:cubicBezTo>
                    <a:pt x="81280" y="1026922"/>
                    <a:pt x="0" y="947420"/>
                    <a:pt x="0" y="848995"/>
                  </a:cubicBezTo>
                  <a:lnTo>
                    <a:pt x="0" y="177927"/>
                  </a:lnTo>
                  <a:lnTo>
                    <a:pt x="10160" y="177927"/>
                  </a:lnTo>
                  <a:lnTo>
                    <a:pt x="0" y="177927"/>
                  </a:lnTo>
                  <a:moveTo>
                    <a:pt x="20320" y="177927"/>
                  </a:moveTo>
                  <a:lnTo>
                    <a:pt x="20320" y="848995"/>
                  </a:lnTo>
                  <a:lnTo>
                    <a:pt x="10160" y="848995"/>
                  </a:lnTo>
                  <a:lnTo>
                    <a:pt x="20320" y="848995"/>
                  </a:lnTo>
                  <a:cubicBezTo>
                    <a:pt x="20320" y="935863"/>
                    <a:pt x="92202" y="1006602"/>
                    <a:pt x="181102" y="1006602"/>
                  </a:cubicBezTo>
                  <a:lnTo>
                    <a:pt x="20337780" y="1006602"/>
                  </a:lnTo>
                  <a:cubicBezTo>
                    <a:pt x="20426807" y="1006602"/>
                    <a:pt x="20498563" y="935863"/>
                    <a:pt x="20498563" y="848995"/>
                  </a:cubicBezTo>
                  <a:lnTo>
                    <a:pt x="20498563" y="177927"/>
                  </a:lnTo>
                  <a:cubicBezTo>
                    <a:pt x="20498563" y="91059"/>
                    <a:pt x="20426680" y="20320"/>
                    <a:pt x="20337780" y="20320"/>
                  </a:cubicBezTo>
                  <a:lnTo>
                    <a:pt x="181102" y="20320"/>
                  </a:lnTo>
                  <a:lnTo>
                    <a:pt x="181102" y="10160"/>
                  </a:lnTo>
                  <a:lnTo>
                    <a:pt x="181102" y="20320"/>
                  </a:lnTo>
                  <a:cubicBezTo>
                    <a:pt x="92202" y="20320"/>
                    <a:pt x="20320" y="91059"/>
                    <a:pt x="20320" y="177927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764970" y="8458743"/>
            <a:ext cx="1658933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conclusion: Q-EVM converts post-quantum verification from an EVM gas bottleneck into a proof-verification workflow for high-value and batched Ethereum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DAHJkmUvSs8</dc:identifier>
  <dcterms:modified xsi:type="dcterms:W3CDTF">2011-08-01T06:04:30Z</dcterms:modified>
  <cp:revision>1</cp:revision>
  <dc:title>csd 302 .pptx</dc:title>
</cp:coreProperties>
</file>